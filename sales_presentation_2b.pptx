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1214" y="4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04756F-B4C2-48FB-947B-034FA4F82B0F}"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1E0DE7-A838-44D3-9086-16401B62A323}" type="slidenum">
              <a:rPr lang="en-US" smtClean="0"/>
              <a:t>‹#›</a:t>
            </a:fld>
            <a:endParaRPr lang="en-US"/>
          </a:p>
        </p:txBody>
      </p:sp>
    </p:spTree>
    <p:extLst>
      <p:ext uri="{BB962C8B-B14F-4D97-AF65-F5344CB8AC3E}">
        <p14:creationId xmlns:p14="http://schemas.microsoft.com/office/powerpoint/2010/main" val="3461989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a:t>مساء الخير جميعاً. نعرض اليوم خطة التوسع الميدانية الشاملة لقطاع الجيزة الكبرى لعام 2027، وكيف سنصل بالمبيعات من 2.2 مليون إلى 3.7 مليون ج.م شهرياً بمعدل سنوي واقعي يصل إلى 36.8 مليون جنيه، مع تطبيق الأسلحة الميدانية السبعة للسيطرة على السوق.</a:t>
            </a:r>
            <a:endParaRPr lang="en-US"/>
          </a:p>
        </p:txBody>
      </p:sp>
      <p:sp>
        <p:nvSpPr>
          <p:cNvPr id="4" name="Slide Number Placeholder 3"/>
          <p:cNvSpPr>
            <a:spLocks noGrp="1"/>
          </p:cNvSpPr>
          <p:nvPr>
            <p:ph type="sldNum" sz="quarter" idx="5"/>
          </p:nvPr>
        </p:nvSpPr>
        <p:spPr/>
        <p:txBody>
          <a:bodyPr/>
          <a:lstStyle/>
          <a:p>
            <a:fld id="{BF1E0DE7-A838-44D3-9086-16401B62A323}" type="slidenum">
              <a:rPr lang="en-US" smtClean="0"/>
              <a:t>1</a:t>
            </a:fld>
            <a:endParaRPr lang="en-US"/>
          </a:p>
        </p:txBody>
      </p:sp>
    </p:spTree>
    <p:extLst>
      <p:ext uri="{BB962C8B-B14F-4D97-AF65-F5344CB8AC3E}">
        <p14:creationId xmlns:p14="http://schemas.microsoft.com/office/powerpoint/2010/main" val="511145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a:t>هذه الأرقام تعكس واقع السوق الفعلي: نمو متوازن في المبيعات الشهرية لتصل إلى 3.7 مليون، مع تحقيق 36.8 مليون في 2027 وحماية كاملة لسيولة الشركة.</a:t>
            </a:r>
            <a:endParaRPr lang="en-US"/>
          </a:p>
        </p:txBody>
      </p:sp>
      <p:sp>
        <p:nvSpPr>
          <p:cNvPr id="4" name="Slide Number Placeholder 3"/>
          <p:cNvSpPr>
            <a:spLocks noGrp="1"/>
          </p:cNvSpPr>
          <p:nvPr>
            <p:ph type="sldNum" sz="quarter" idx="5"/>
          </p:nvPr>
        </p:nvSpPr>
        <p:spPr/>
        <p:txBody>
          <a:bodyPr/>
          <a:lstStyle/>
          <a:p>
            <a:fld id="{BF1E0DE7-A838-44D3-9086-16401B62A323}" type="slidenum">
              <a:rPr lang="en-US" smtClean="0"/>
              <a:t>2</a:t>
            </a:fld>
            <a:endParaRPr lang="en-US"/>
          </a:p>
        </p:txBody>
      </p:sp>
    </p:spTree>
    <p:extLst>
      <p:ext uri="{BB962C8B-B14F-4D97-AF65-F5344CB8AC3E}">
        <p14:creationId xmlns:p14="http://schemas.microsoft.com/office/powerpoint/2010/main" val="10858321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a:t>التوزيع يراعي القدرة الاستيعابية لمحلات التجزئة، ويجعل كبار الموزعين والجملة الكتلة الحجمية الأكبر بإشراف الاريا مانجر.</a:t>
            </a:r>
            <a:endParaRPr lang="en-US"/>
          </a:p>
        </p:txBody>
      </p:sp>
      <p:sp>
        <p:nvSpPr>
          <p:cNvPr id="4" name="Slide Number Placeholder 3"/>
          <p:cNvSpPr>
            <a:spLocks noGrp="1"/>
          </p:cNvSpPr>
          <p:nvPr>
            <p:ph type="sldNum" sz="quarter" idx="5"/>
          </p:nvPr>
        </p:nvSpPr>
        <p:spPr/>
        <p:txBody>
          <a:bodyPr/>
          <a:lstStyle/>
          <a:p>
            <a:fld id="{BF1E0DE7-A838-44D3-9086-16401B62A323}" type="slidenum">
              <a:rPr lang="en-US" smtClean="0"/>
              <a:t>3</a:t>
            </a:fld>
            <a:endParaRPr lang="en-US"/>
          </a:p>
        </p:txBody>
      </p:sp>
    </p:spTree>
    <p:extLst>
      <p:ext uri="{BB962C8B-B14F-4D97-AF65-F5344CB8AC3E}">
        <p14:creationId xmlns:p14="http://schemas.microsoft.com/office/powerpoint/2010/main" val="2024237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a:t>الزيادة التوسعية مبنية على 4 محركات واقعية قابلة للقياس والتحقيق الفعلي في السوق.</a:t>
            </a:r>
            <a:endParaRPr lang="en-US"/>
          </a:p>
        </p:txBody>
      </p:sp>
      <p:sp>
        <p:nvSpPr>
          <p:cNvPr id="4" name="Slide Number Placeholder 3"/>
          <p:cNvSpPr>
            <a:spLocks noGrp="1"/>
          </p:cNvSpPr>
          <p:nvPr>
            <p:ph type="sldNum" sz="quarter" idx="5"/>
          </p:nvPr>
        </p:nvSpPr>
        <p:spPr/>
        <p:txBody>
          <a:bodyPr/>
          <a:lstStyle/>
          <a:p>
            <a:fld id="{BF1E0DE7-A838-44D3-9086-16401B62A323}" type="slidenum">
              <a:rPr lang="en-US" smtClean="0"/>
              <a:t>4</a:t>
            </a:fld>
            <a:endParaRPr lang="en-US"/>
          </a:p>
        </p:txBody>
      </p:sp>
    </p:spTree>
    <p:extLst>
      <p:ext uri="{BB962C8B-B14F-4D97-AF65-F5344CB8AC3E}">
        <p14:creationId xmlns:p14="http://schemas.microsoft.com/office/powerpoint/2010/main" val="3579890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a:t>الخطة تضمن تدرجاً تشغيلياً يحمي المندوبين الجدد ويبني علاقات ثقة مستقرة مع تجار التجزئة.</a:t>
            </a:r>
            <a:endParaRPr lang="en-US"/>
          </a:p>
        </p:txBody>
      </p:sp>
      <p:sp>
        <p:nvSpPr>
          <p:cNvPr id="4" name="Slide Number Placeholder 3"/>
          <p:cNvSpPr>
            <a:spLocks noGrp="1"/>
          </p:cNvSpPr>
          <p:nvPr>
            <p:ph type="sldNum" sz="quarter" idx="5"/>
          </p:nvPr>
        </p:nvSpPr>
        <p:spPr/>
        <p:txBody>
          <a:bodyPr/>
          <a:lstStyle/>
          <a:p>
            <a:fld id="{BF1E0DE7-A838-44D3-9086-16401B62A323}" type="slidenum">
              <a:rPr lang="en-US" smtClean="0"/>
              <a:t>5</a:t>
            </a:fld>
            <a:endParaRPr lang="en-US"/>
          </a:p>
        </p:txBody>
      </p:sp>
    </p:spTree>
    <p:extLst>
      <p:ext uri="{BB962C8B-B14F-4D97-AF65-F5344CB8AC3E}">
        <p14:creationId xmlns:p14="http://schemas.microsoft.com/office/powerpoint/2010/main" val="1224728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a:t>الخطة السنوية توزع الـ 36.8 مليوناً على الفصول الأربعة وفقاً لمواسم الشراء الفعلية في مصر.</a:t>
            </a:r>
            <a:endParaRPr lang="en-US"/>
          </a:p>
        </p:txBody>
      </p:sp>
      <p:sp>
        <p:nvSpPr>
          <p:cNvPr id="4" name="Slide Number Placeholder 3"/>
          <p:cNvSpPr>
            <a:spLocks noGrp="1"/>
          </p:cNvSpPr>
          <p:nvPr>
            <p:ph type="sldNum" sz="quarter" idx="5"/>
          </p:nvPr>
        </p:nvSpPr>
        <p:spPr/>
        <p:txBody>
          <a:bodyPr/>
          <a:lstStyle/>
          <a:p>
            <a:fld id="{BF1E0DE7-A838-44D3-9086-16401B62A323}" type="slidenum">
              <a:rPr lang="en-US" smtClean="0"/>
              <a:t>6</a:t>
            </a:fld>
            <a:endParaRPr lang="en-US"/>
          </a:p>
        </p:txBody>
      </p:sp>
    </p:spTree>
    <p:extLst>
      <p:ext uri="{BB962C8B-B14F-4D97-AF65-F5344CB8AC3E}">
        <p14:creationId xmlns:p14="http://schemas.microsoft.com/office/powerpoint/2010/main" val="3434409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a:t>التكامل بين إكسسوارات الموبايل وإكسسوارات اللابتوب يضمن تدفقات يومية وأرباحاً متنامية.</a:t>
            </a:r>
            <a:endParaRPr lang="en-US"/>
          </a:p>
        </p:txBody>
      </p:sp>
      <p:sp>
        <p:nvSpPr>
          <p:cNvPr id="4" name="Slide Number Placeholder 3"/>
          <p:cNvSpPr>
            <a:spLocks noGrp="1"/>
          </p:cNvSpPr>
          <p:nvPr>
            <p:ph type="sldNum" sz="quarter" idx="5"/>
          </p:nvPr>
        </p:nvSpPr>
        <p:spPr/>
        <p:txBody>
          <a:bodyPr/>
          <a:lstStyle/>
          <a:p>
            <a:fld id="{BF1E0DE7-A838-44D3-9086-16401B62A323}" type="slidenum">
              <a:rPr lang="en-US" smtClean="0"/>
              <a:t>7</a:t>
            </a:fld>
            <a:endParaRPr lang="en-US"/>
          </a:p>
        </p:txBody>
      </p:sp>
    </p:spTree>
    <p:extLst>
      <p:ext uri="{BB962C8B-B14F-4D97-AF65-F5344CB8AC3E}">
        <p14:creationId xmlns:p14="http://schemas.microsoft.com/office/powerpoint/2010/main" val="31426710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a:t>حماية أموال الشركة تسبق زيادة المبيعات؛ الالتزام بالائتمان هو معيار تقييم المندوب والمدير.</a:t>
            </a:r>
            <a:endParaRPr lang="en-US"/>
          </a:p>
        </p:txBody>
      </p:sp>
      <p:sp>
        <p:nvSpPr>
          <p:cNvPr id="4" name="Slide Number Placeholder 3"/>
          <p:cNvSpPr>
            <a:spLocks noGrp="1"/>
          </p:cNvSpPr>
          <p:nvPr>
            <p:ph type="sldNum" sz="quarter" idx="5"/>
          </p:nvPr>
        </p:nvSpPr>
        <p:spPr/>
        <p:txBody>
          <a:bodyPr/>
          <a:lstStyle/>
          <a:p>
            <a:fld id="{BF1E0DE7-A838-44D3-9086-16401B62A323}" type="slidenum">
              <a:rPr lang="en-US" smtClean="0"/>
              <a:t>8</a:t>
            </a:fld>
            <a:endParaRPr lang="en-US"/>
          </a:p>
        </p:txBody>
      </p:sp>
    </p:spTree>
    <p:extLst>
      <p:ext uri="{BB962C8B-B14F-4D97-AF65-F5344CB8AC3E}">
        <p14:creationId xmlns:p14="http://schemas.microsoft.com/office/powerpoint/2010/main" val="1701548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a:t>كسر أقوى اعتراض لدى تجار الجيزة وبناء ولاء تجاري طويل المدى.</a:t>
            </a:r>
            <a:endParaRPr lang="en-US"/>
          </a:p>
        </p:txBody>
      </p:sp>
      <p:sp>
        <p:nvSpPr>
          <p:cNvPr id="4" name="Slide Number Placeholder 3"/>
          <p:cNvSpPr>
            <a:spLocks noGrp="1"/>
          </p:cNvSpPr>
          <p:nvPr>
            <p:ph type="sldNum" sz="quarter" idx="5"/>
          </p:nvPr>
        </p:nvSpPr>
        <p:spPr/>
        <p:txBody>
          <a:bodyPr/>
          <a:lstStyle/>
          <a:p>
            <a:fld id="{BF1E0DE7-A838-44D3-9086-16401B62A323}" type="slidenum">
              <a:rPr lang="en-US" smtClean="0"/>
              <a:t>9</a:t>
            </a:fld>
            <a:endParaRPr lang="en-US"/>
          </a:p>
        </p:txBody>
      </p:sp>
    </p:spTree>
    <p:extLst>
      <p:ext uri="{BB962C8B-B14F-4D97-AF65-F5344CB8AC3E}">
        <p14:creationId xmlns:p14="http://schemas.microsoft.com/office/powerpoint/2010/main" val="29950170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a:t>أدوات هجومية لتحفيز الفريق الميداني والاستحواذ على أرفف محلات فيصل والهرم.</a:t>
            </a:r>
            <a:endParaRPr lang="en-US"/>
          </a:p>
        </p:txBody>
      </p:sp>
      <p:sp>
        <p:nvSpPr>
          <p:cNvPr id="4" name="Slide Number Placeholder 3"/>
          <p:cNvSpPr>
            <a:spLocks noGrp="1"/>
          </p:cNvSpPr>
          <p:nvPr>
            <p:ph type="sldNum" sz="quarter" idx="5"/>
          </p:nvPr>
        </p:nvSpPr>
        <p:spPr/>
        <p:txBody>
          <a:bodyPr/>
          <a:lstStyle/>
          <a:p>
            <a:fld id="{BF1E0DE7-A838-44D3-9086-16401B62A323}" type="slidenum">
              <a:rPr lang="en-US" smtClean="0"/>
              <a:t>10</a:t>
            </a:fld>
            <a:endParaRPr lang="en-US"/>
          </a:p>
        </p:txBody>
      </p:sp>
    </p:spTree>
    <p:extLst>
      <p:ext uri="{BB962C8B-B14F-4D97-AF65-F5344CB8AC3E}">
        <p14:creationId xmlns:p14="http://schemas.microsoft.com/office/powerpoint/2010/main" val="38259729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a:t>الانضباط التشغيلي اليومي واقتحام أكبر كتلة طلابية وتقنية في مصر.</a:t>
            </a:r>
            <a:endParaRPr lang="en-US"/>
          </a:p>
        </p:txBody>
      </p:sp>
      <p:sp>
        <p:nvSpPr>
          <p:cNvPr id="4" name="Slide Number Placeholder 3"/>
          <p:cNvSpPr>
            <a:spLocks noGrp="1"/>
          </p:cNvSpPr>
          <p:nvPr>
            <p:ph type="sldNum" sz="quarter" idx="5"/>
          </p:nvPr>
        </p:nvSpPr>
        <p:spPr/>
        <p:txBody>
          <a:bodyPr/>
          <a:lstStyle/>
          <a:p>
            <a:fld id="{BF1E0DE7-A838-44D3-9086-16401B62A323}" type="slidenum">
              <a:rPr lang="en-US" smtClean="0"/>
              <a:t>11</a:t>
            </a:fld>
            <a:endParaRPr lang="en-US"/>
          </a:p>
        </p:txBody>
      </p:sp>
    </p:spTree>
    <p:extLst>
      <p:ext uri="{BB962C8B-B14F-4D97-AF65-F5344CB8AC3E}">
        <p14:creationId xmlns:p14="http://schemas.microsoft.com/office/powerpoint/2010/main" val="25033702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a:t>الالتزام بتحقيق المستهدفات وحماية أموال الشركة وبناء فريق بيعي قوي لعلامة 2</a:t>
            </a:r>
            <a:r>
              <a:rPr lang="en-US"/>
              <a:t>B.</a:t>
            </a:r>
          </a:p>
        </p:txBody>
      </p:sp>
      <p:sp>
        <p:nvSpPr>
          <p:cNvPr id="4" name="Slide Number Placeholder 3"/>
          <p:cNvSpPr>
            <a:spLocks noGrp="1"/>
          </p:cNvSpPr>
          <p:nvPr>
            <p:ph type="sldNum" sz="quarter" idx="5"/>
          </p:nvPr>
        </p:nvSpPr>
        <p:spPr/>
        <p:txBody>
          <a:bodyPr/>
          <a:lstStyle/>
          <a:p>
            <a:fld id="{BF1E0DE7-A838-44D3-9086-16401B62A323}" type="slidenum">
              <a:rPr lang="en-US" smtClean="0"/>
              <a:t>12</a:t>
            </a:fld>
            <a:endParaRPr lang="en-US"/>
          </a:p>
        </p:txBody>
      </p:sp>
    </p:spTree>
    <p:extLst>
      <p:ext uri="{BB962C8B-B14F-4D97-AF65-F5344CB8AC3E}">
        <p14:creationId xmlns:p14="http://schemas.microsoft.com/office/powerpoint/2010/main" val="1870320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BE11-5333-6A28-AD91-C8716EE15C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E151F4-DFA8-B476-B835-3C39235EBB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14ADA1-B023-E7CB-0CAC-A8AFB39A63C3}"/>
              </a:ext>
            </a:extLst>
          </p:cNvPr>
          <p:cNvSpPr>
            <a:spLocks noGrp="1"/>
          </p:cNvSpPr>
          <p:nvPr>
            <p:ph type="dt" sz="half" idx="10"/>
          </p:nvPr>
        </p:nvSpPr>
        <p:spPr/>
        <p:txBody>
          <a:bodyPr/>
          <a:lstStyle/>
          <a:p>
            <a:fld id="{40FDD52B-EF56-4BB9-AE32-CBE6B0F3120F}" type="datetimeFigureOut">
              <a:rPr lang="en-US" smtClean="0"/>
              <a:t>10/1/2026</a:t>
            </a:fld>
            <a:endParaRPr lang="en-US"/>
          </a:p>
        </p:txBody>
      </p:sp>
      <p:sp>
        <p:nvSpPr>
          <p:cNvPr id="5" name="Footer Placeholder 4">
            <a:extLst>
              <a:ext uri="{FF2B5EF4-FFF2-40B4-BE49-F238E27FC236}">
                <a16:creationId xmlns:a16="http://schemas.microsoft.com/office/drawing/2014/main" id="{9A6A72B8-7117-9FB3-FAD0-C45155AF95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021203-5591-90A6-2C67-266B5CAC03FA}"/>
              </a:ext>
            </a:extLst>
          </p:cNvPr>
          <p:cNvSpPr>
            <a:spLocks noGrp="1"/>
          </p:cNvSpPr>
          <p:nvPr>
            <p:ph type="sldNum" sz="quarter" idx="12"/>
          </p:nvPr>
        </p:nvSpPr>
        <p:spPr/>
        <p:txBody>
          <a:bodyPr/>
          <a:lstStyle/>
          <a:p>
            <a:fld id="{071C626E-CE99-4A38-B122-F832429FE450}" type="slidenum">
              <a:rPr lang="en-US" smtClean="0"/>
              <a:t>‹#›</a:t>
            </a:fld>
            <a:endParaRPr lang="en-US"/>
          </a:p>
        </p:txBody>
      </p:sp>
    </p:spTree>
    <p:extLst>
      <p:ext uri="{BB962C8B-B14F-4D97-AF65-F5344CB8AC3E}">
        <p14:creationId xmlns:p14="http://schemas.microsoft.com/office/powerpoint/2010/main" val="2095824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EBBD8-FE28-C24F-CFC4-5D66D9E031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0389D2-7F18-B6F1-6352-7995FB4EB5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77E4F6-28B5-BED7-3B05-1726CF353E1F}"/>
              </a:ext>
            </a:extLst>
          </p:cNvPr>
          <p:cNvSpPr>
            <a:spLocks noGrp="1"/>
          </p:cNvSpPr>
          <p:nvPr>
            <p:ph type="dt" sz="half" idx="10"/>
          </p:nvPr>
        </p:nvSpPr>
        <p:spPr/>
        <p:txBody>
          <a:bodyPr/>
          <a:lstStyle/>
          <a:p>
            <a:fld id="{40FDD52B-EF56-4BB9-AE32-CBE6B0F3120F}" type="datetimeFigureOut">
              <a:rPr lang="en-US" smtClean="0"/>
              <a:t>10/1/2026</a:t>
            </a:fld>
            <a:endParaRPr lang="en-US"/>
          </a:p>
        </p:txBody>
      </p:sp>
      <p:sp>
        <p:nvSpPr>
          <p:cNvPr id="5" name="Footer Placeholder 4">
            <a:extLst>
              <a:ext uri="{FF2B5EF4-FFF2-40B4-BE49-F238E27FC236}">
                <a16:creationId xmlns:a16="http://schemas.microsoft.com/office/drawing/2014/main" id="{606EABF6-97DA-E26B-0D48-A22E0F1B2A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83059E-478F-035F-465D-FAAB920EA95E}"/>
              </a:ext>
            </a:extLst>
          </p:cNvPr>
          <p:cNvSpPr>
            <a:spLocks noGrp="1"/>
          </p:cNvSpPr>
          <p:nvPr>
            <p:ph type="sldNum" sz="quarter" idx="12"/>
          </p:nvPr>
        </p:nvSpPr>
        <p:spPr/>
        <p:txBody>
          <a:bodyPr/>
          <a:lstStyle/>
          <a:p>
            <a:fld id="{071C626E-CE99-4A38-B122-F832429FE450}" type="slidenum">
              <a:rPr lang="en-US" smtClean="0"/>
              <a:t>‹#›</a:t>
            </a:fld>
            <a:endParaRPr lang="en-US"/>
          </a:p>
        </p:txBody>
      </p:sp>
    </p:spTree>
    <p:extLst>
      <p:ext uri="{BB962C8B-B14F-4D97-AF65-F5344CB8AC3E}">
        <p14:creationId xmlns:p14="http://schemas.microsoft.com/office/powerpoint/2010/main" val="1845346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DF2C2-79D2-FFFD-57D8-297C47EC797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304D6C0-72F6-6CAC-2D91-61E5625E6A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9F7243-B3CE-B514-8F36-E27421F758B7}"/>
              </a:ext>
            </a:extLst>
          </p:cNvPr>
          <p:cNvSpPr>
            <a:spLocks noGrp="1"/>
          </p:cNvSpPr>
          <p:nvPr>
            <p:ph type="dt" sz="half" idx="10"/>
          </p:nvPr>
        </p:nvSpPr>
        <p:spPr/>
        <p:txBody>
          <a:bodyPr/>
          <a:lstStyle/>
          <a:p>
            <a:fld id="{40FDD52B-EF56-4BB9-AE32-CBE6B0F3120F}" type="datetimeFigureOut">
              <a:rPr lang="en-US" smtClean="0"/>
              <a:t>10/1/2026</a:t>
            </a:fld>
            <a:endParaRPr lang="en-US"/>
          </a:p>
        </p:txBody>
      </p:sp>
      <p:sp>
        <p:nvSpPr>
          <p:cNvPr id="5" name="Footer Placeholder 4">
            <a:extLst>
              <a:ext uri="{FF2B5EF4-FFF2-40B4-BE49-F238E27FC236}">
                <a16:creationId xmlns:a16="http://schemas.microsoft.com/office/drawing/2014/main" id="{9BBCA5F1-1831-676B-E979-943CE4E401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980157-505F-69ED-ACFB-A3BBA45BB8DB}"/>
              </a:ext>
            </a:extLst>
          </p:cNvPr>
          <p:cNvSpPr>
            <a:spLocks noGrp="1"/>
          </p:cNvSpPr>
          <p:nvPr>
            <p:ph type="sldNum" sz="quarter" idx="12"/>
          </p:nvPr>
        </p:nvSpPr>
        <p:spPr/>
        <p:txBody>
          <a:bodyPr/>
          <a:lstStyle/>
          <a:p>
            <a:fld id="{071C626E-CE99-4A38-B122-F832429FE450}" type="slidenum">
              <a:rPr lang="en-US" smtClean="0"/>
              <a:t>‹#›</a:t>
            </a:fld>
            <a:endParaRPr lang="en-US"/>
          </a:p>
        </p:txBody>
      </p:sp>
    </p:spTree>
    <p:extLst>
      <p:ext uri="{BB962C8B-B14F-4D97-AF65-F5344CB8AC3E}">
        <p14:creationId xmlns:p14="http://schemas.microsoft.com/office/powerpoint/2010/main" val="126104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D10F8-5D47-8837-8171-CEB65098D2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C51958-C840-6212-2B40-74240F7D69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C8CDFC7-DBE5-DC4D-C71C-624F69FB38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18780F-6557-1903-ED3D-A2FB66E1B4E1}"/>
              </a:ext>
            </a:extLst>
          </p:cNvPr>
          <p:cNvSpPr>
            <a:spLocks noGrp="1"/>
          </p:cNvSpPr>
          <p:nvPr>
            <p:ph type="dt" sz="half" idx="10"/>
          </p:nvPr>
        </p:nvSpPr>
        <p:spPr/>
        <p:txBody>
          <a:bodyPr/>
          <a:lstStyle/>
          <a:p>
            <a:fld id="{40FDD52B-EF56-4BB9-AE32-CBE6B0F3120F}" type="datetimeFigureOut">
              <a:rPr lang="en-US" smtClean="0"/>
              <a:t>10/1/2026</a:t>
            </a:fld>
            <a:endParaRPr lang="en-US"/>
          </a:p>
        </p:txBody>
      </p:sp>
      <p:sp>
        <p:nvSpPr>
          <p:cNvPr id="6" name="Footer Placeholder 5">
            <a:extLst>
              <a:ext uri="{FF2B5EF4-FFF2-40B4-BE49-F238E27FC236}">
                <a16:creationId xmlns:a16="http://schemas.microsoft.com/office/drawing/2014/main" id="{A67F5FF6-99C0-804C-7520-654129E3F3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007C6-4F13-52E3-7A8A-C1CF736E2733}"/>
              </a:ext>
            </a:extLst>
          </p:cNvPr>
          <p:cNvSpPr>
            <a:spLocks noGrp="1"/>
          </p:cNvSpPr>
          <p:nvPr>
            <p:ph type="sldNum" sz="quarter" idx="12"/>
          </p:nvPr>
        </p:nvSpPr>
        <p:spPr/>
        <p:txBody>
          <a:bodyPr/>
          <a:lstStyle/>
          <a:p>
            <a:fld id="{071C626E-CE99-4A38-B122-F832429FE450}" type="slidenum">
              <a:rPr lang="en-US" smtClean="0"/>
              <a:t>‹#›</a:t>
            </a:fld>
            <a:endParaRPr lang="en-US"/>
          </a:p>
        </p:txBody>
      </p:sp>
    </p:spTree>
    <p:extLst>
      <p:ext uri="{BB962C8B-B14F-4D97-AF65-F5344CB8AC3E}">
        <p14:creationId xmlns:p14="http://schemas.microsoft.com/office/powerpoint/2010/main" val="1578383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B34B0-1818-9D9C-F34C-17CC3B8AD5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04CDDBF-F7AD-A8BC-F535-D084697F37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657225-CDFE-2B42-E4F8-06DDE2EB18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12C40E5-BAA9-C5DA-EF29-B063D9080C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9E515A-6B96-8591-7545-E1D0C13E87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19AC98-2301-7576-A04B-98CD5AAE2EC5}"/>
              </a:ext>
            </a:extLst>
          </p:cNvPr>
          <p:cNvSpPr>
            <a:spLocks noGrp="1"/>
          </p:cNvSpPr>
          <p:nvPr>
            <p:ph type="dt" sz="half" idx="10"/>
          </p:nvPr>
        </p:nvSpPr>
        <p:spPr/>
        <p:txBody>
          <a:bodyPr/>
          <a:lstStyle/>
          <a:p>
            <a:fld id="{40FDD52B-EF56-4BB9-AE32-CBE6B0F3120F}" type="datetimeFigureOut">
              <a:rPr lang="en-US" smtClean="0"/>
              <a:t>10/1/2026</a:t>
            </a:fld>
            <a:endParaRPr lang="en-US"/>
          </a:p>
        </p:txBody>
      </p:sp>
      <p:sp>
        <p:nvSpPr>
          <p:cNvPr id="8" name="Footer Placeholder 7">
            <a:extLst>
              <a:ext uri="{FF2B5EF4-FFF2-40B4-BE49-F238E27FC236}">
                <a16:creationId xmlns:a16="http://schemas.microsoft.com/office/drawing/2014/main" id="{B5966B85-B403-03B6-B519-917F62BFC8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BE8C983-69A3-3D65-7956-E50D1A8D3943}"/>
              </a:ext>
            </a:extLst>
          </p:cNvPr>
          <p:cNvSpPr>
            <a:spLocks noGrp="1"/>
          </p:cNvSpPr>
          <p:nvPr>
            <p:ph type="sldNum" sz="quarter" idx="12"/>
          </p:nvPr>
        </p:nvSpPr>
        <p:spPr/>
        <p:txBody>
          <a:bodyPr/>
          <a:lstStyle/>
          <a:p>
            <a:fld id="{071C626E-CE99-4A38-B122-F832429FE450}" type="slidenum">
              <a:rPr lang="en-US" smtClean="0"/>
              <a:t>‹#›</a:t>
            </a:fld>
            <a:endParaRPr lang="en-US"/>
          </a:p>
        </p:txBody>
      </p:sp>
    </p:spTree>
    <p:extLst>
      <p:ext uri="{BB962C8B-B14F-4D97-AF65-F5344CB8AC3E}">
        <p14:creationId xmlns:p14="http://schemas.microsoft.com/office/powerpoint/2010/main" val="316794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B25FB-BDBA-9B32-EC3D-4A9E5B6D38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7E1AC7-DCBF-93F9-1ECE-883AA441AF69}"/>
              </a:ext>
            </a:extLst>
          </p:cNvPr>
          <p:cNvSpPr>
            <a:spLocks noGrp="1"/>
          </p:cNvSpPr>
          <p:nvPr>
            <p:ph type="dt" sz="half" idx="10"/>
          </p:nvPr>
        </p:nvSpPr>
        <p:spPr/>
        <p:txBody>
          <a:bodyPr/>
          <a:lstStyle/>
          <a:p>
            <a:fld id="{40FDD52B-EF56-4BB9-AE32-CBE6B0F3120F}" type="datetimeFigureOut">
              <a:rPr lang="en-US" smtClean="0"/>
              <a:t>10/1/2026</a:t>
            </a:fld>
            <a:endParaRPr lang="en-US"/>
          </a:p>
        </p:txBody>
      </p:sp>
      <p:sp>
        <p:nvSpPr>
          <p:cNvPr id="4" name="Footer Placeholder 3">
            <a:extLst>
              <a:ext uri="{FF2B5EF4-FFF2-40B4-BE49-F238E27FC236}">
                <a16:creationId xmlns:a16="http://schemas.microsoft.com/office/drawing/2014/main" id="{C112E9B1-42E8-5D05-4BA0-8BF380DAE3A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41597A-1062-298F-3B52-CD8F24000228}"/>
              </a:ext>
            </a:extLst>
          </p:cNvPr>
          <p:cNvSpPr>
            <a:spLocks noGrp="1"/>
          </p:cNvSpPr>
          <p:nvPr>
            <p:ph type="sldNum" sz="quarter" idx="12"/>
          </p:nvPr>
        </p:nvSpPr>
        <p:spPr/>
        <p:txBody>
          <a:bodyPr/>
          <a:lstStyle/>
          <a:p>
            <a:fld id="{071C626E-CE99-4A38-B122-F832429FE450}" type="slidenum">
              <a:rPr lang="en-US" smtClean="0"/>
              <a:t>‹#›</a:t>
            </a:fld>
            <a:endParaRPr lang="en-US"/>
          </a:p>
        </p:txBody>
      </p:sp>
    </p:spTree>
    <p:extLst>
      <p:ext uri="{BB962C8B-B14F-4D97-AF65-F5344CB8AC3E}">
        <p14:creationId xmlns:p14="http://schemas.microsoft.com/office/powerpoint/2010/main" val="2091304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6E8F79-823E-E26B-EBD4-552EC2EB588E}"/>
              </a:ext>
            </a:extLst>
          </p:cNvPr>
          <p:cNvSpPr>
            <a:spLocks noGrp="1"/>
          </p:cNvSpPr>
          <p:nvPr>
            <p:ph type="dt" sz="half" idx="10"/>
          </p:nvPr>
        </p:nvSpPr>
        <p:spPr/>
        <p:txBody>
          <a:bodyPr/>
          <a:lstStyle/>
          <a:p>
            <a:fld id="{40FDD52B-EF56-4BB9-AE32-CBE6B0F3120F}" type="datetimeFigureOut">
              <a:rPr lang="en-US" smtClean="0"/>
              <a:t>10/1/2026</a:t>
            </a:fld>
            <a:endParaRPr lang="en-US"/>
          </a:p>
        </p:txBody>
      </p:sp>
      <p:sp>
        <p:nvSpPr>
          <p:cNvPr id="3" name="Footer Placeholder 2">
            <a:extLst>
              <a:ext uri="{FF2B5EF4-FFF2-40B4-BE49-F238E27FC236}">
                <a16:creationId xmlns:a16="http://schemas.microsoft.com/office/drawing/2014/main" id="{AB4829A9-334D-586A-CF5E-8827B3C4CC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9335FA4-9BC7-8A76-5973-1FAC5826EC10}"/>
              </a:ext>
            </a:extLst>
          </p:cNvPr>
          <p:cNvSpPr>
            <a:spLocks noGrp="1"/>
          </p:cNvSpPr>
          <p:nvPr>
            <p:ph type="sldNum" sz="quarter" idx="12"/>
          </p:nvPr>
        </p:nvSpPr>
        <p:spPr/>
        <p:txBody>
          <a:bodyPr/>
          <a:lstStyle/>
          <a:p>
            <a:fld id="{071C626E-CE99-4A38-B122-F832429FE450}" type="slidenum">
              <a:rPr lang="en-US" smtClean="0"/>
              <a:t>‹#›</a:t>
            </a:fld>
            <a:endParaRPr lang="en-US"/>
          </a:p>
        </p:txBody>
      </p:sp>
    </p:spTree>
    <p:extLst>
      <p:ext uri="{BB962C8B-B14F-4D97-AF65-F5344CB8AC3E}">
        <p14:creationId xmlns:p14="http://schemas.microsoft.com/office/powerpoint/2010/main" val="1158616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3FD00-4636-9536-B2EC-D0A5AA0D11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B1DA060-3AA9-8009-606D-92C2EBB9C0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378030-12C9-E018-5A89-E2995160D7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0C94AD-9BF8-E5C5-F5E3-20C5701BF1EA}"/>
              </a:ext>
            </a:extLst>
          </p:cNvPr>
          <p:cNvSpPr>
            <a:spLocks noGrp="1"/>
          </p:cNvSpPr>
          <p:nvPr>
            <p:ph type="dt" sz="half" idx="10"/>
          </p:nvPr>
        </p:nvSpPr>
        <p:spPr/>
        <p:txBody>
          <a:bodyPr/>
          <a:lstStyle/>
          <a:p>
            <a:fld id="{40FDD52B-EF56-4BB9-AE32-CBE6B0F3120F}" type="datetimeFigureOut">
              <a:rPr lang="en-US" smtClean="0"/>
              <a:t>10/1/2026</a:t>
            </a:fld>
            <a:endParaRPr lang="en-US"/>
          </a:p>
        </p:txBody>
      </p:sp>
      <p:sp>
        <p:nvSpPr>
          <p:cNvPr id="6" name="Footer Placeholder 5">
            <a:extLst>
              <a:ext uri="{FF2B5EF4-FFF2-40B4-BE49-F238E27FC236}">
                <a16:creationId xmlns:a16="http://schemas.microsoft.com/office/drawing/2014/main" id="{C57C24F1-68FA-3AFB-36DC-65953C588E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D8DD79-A460-7C8E-AE52-C1AC3FC1DEAE}"/>
              </a:ext>
            </a:extLst>
          </p:cNvPr>
          <p:cNvSpPr>
            <a:spLocks noGrp="1"/>
          </p:cNvSpPr>
          <p:nvPr>
            <p:ph type="sldNum" sz="quarter" idx="12"/>
          </p:nvPr>
        </p:nvSpPr>
        <p:spPr/>
        <p:txBody>
          <a:bodyPr/>
          <a:lstStyle/>
          <a:p>
            <a:fld id="{071C626E-CE99-4A38-B122-F832429FE450}" type="slidenum">
              <a:rPr lang="en-US" smtClean="0"/>
              <a:t>‹#›</a:t>
            </a:fld>
            <a:endParaRPr lang="en-US"/>
          </a:p>
        </p:txBody>
      </p:sp>
    </p:spTree>
    <p:extLst>
      <p:ext uri="{BB962C8B-B14F-4D97-AF65-F5344CB8AC3E}">
        <p14:creationId xmlns:p14="http://schemas.microsoft.com/office/powerpoint/2010/main" val="1463744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4B45A-0C98-5A3D-F3A5-6EBB28308C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FC84CC-B153-30F3-3E0D-5AC57F367D01}"/>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14C229A-5F28-9E19-6213-47E08E5E00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B31EEE-C29E-DCEE-50C7-E6A899265DC4}"/>
              </a:ext>
            </a:extLst>
          </p:cNvPr>
          <p:cNvSpPr>
            <a:spLocks noGrp="1"/>
          </p:cNvSpPr>
          <p:nvPr>
            <p:ph type="dt" sz="half" idx="10"/>
          </p:nvPr>
        </p:nvSpPr>
        <p:spPr/>
        <p:txBody>
          <a:bodyPr/>
          <a:lstStyle/>
          <a:p>
            <a:fld id="{40FDD52B-EF56-4BB9-AE32-CBE6B0F3120F}" type="datetimeFigureOut">
              <a:rPr lang="en-US" smtClean="0"/>
              <a:t>10/1/2026</a:t>
            </a:fld>
            <a:endParaRPr lang="en-US"/>
          </a:p>
        </p:txBody>
      </p:sp>
      <p:sp>
        <p:nvSpPr>
          <p:cNvPr id="6" name="Footer Placeholder 5">
            <a:extLst>
              <a:ext uri="{FF2B5EF4-FFF2-40B4-BE49-F238E27FC236}">
                <a16:creationId xmlns:a16="http://schemas.microsoft.com/office/drawing/2014/main" id="{9B095FD4-6BE0-8194-1178-D760D26DAF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1EF188-050E-BD91-24F4-80B95A670990}"/>
              </a:ext>
            </a:extLst>
          </p:cNvPr>
          <p:cNvSpPr>
            <a:spLocks noGrp="1"/>
          </p:cNvSpPr>
          <p:nvPr>
            <p:ph type="sldNum" sz="quarter" idx="12"/>
          </p:nvPr>
        </p:nvSpPr>
        <p:spPr/>
        <p:txBody>
          <a:bodyPr/>
          <a:lstStyle/>
          <a:p>
            <a:fld id="{071C626E-CE99-4A38-B122-F832429FE450}" type="slidenum">
              <a:rPr lang="en-US" smtClean="0"/>
              <a:t>‹#›</a:t>
            </a:fld>
            <a:endParaRPr lang="en-US"/>
          </a:p>
        </p:txBody>
      </p:sp>
    </p:spTree>
    <p:extLst>
      <p:ext uri="{BB962C8B-B14F-4D97-AF65-F5344CB8AC3E}">
        <p14:creationId xmlns:p14="http://schemas.microsoft.com/office/powerpoint/2010/main" val="4085787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B0E1-6FB4-BE9D-2C1D-7807F974145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5F4F66-B9F9-6432-2B66-509F9AB2BA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1CCF44-6470-4E74-FF7E-969D76E434C3}"/>
              </a:ext>
            </a:extLst>
          </p:cNvPr>
          <p:cNvSpPr>
            <a:spLocks noGrp="1"/>
          </p:cNvSpPr>
          <p:nvPr>
            <p:ph type="dt" sz="half" idx="10"/>
          </p:nvPr>
        </p:nvSpPr>
        <p:spPr/>
        <p:txBody>
          <a:bodyPr/>
          <a:lstStyle/>
          <a:p>
            <a:fld id="{40FDD52B-EF56-4BB9-AE32-CBE6B0F3120F}" type="datetimeFigureOut">
              <a:rPr lang="en-US" smtClean="0"/>
              <a:t>10/1/2026</a:t>
            </a:fld>
            <a:endParaRPr lang="en-US"/>
          </a:p>
        </p:txBody>
      </p:sp>
      <p:sp>
        <p:nvSpPr>
          <p:cNvPr id="5" name="Footer Placeholder 4">
            <a:extLst>
              <a:ext uri="{FF2B5EF4-FFF2-40B4-BE49-F238E27FC236}">
                <a16:creationId xmlns:a16="http://schemas.microsoft.com/office/drawing/2014/main" id="{7C1CB355-B6E9-1AC3-B33D-B44DAF87D8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98C8B7-E311-E405-51D6-8498EE758AA4}"/>
              </a:ext>
            </a:extLst>
          </p:cNvPr>
          <p:cNvSpPr>
            <a:spLocks noGrp="1"/>
          </p:cNvSpPr>
          <p:nvPr>
            <p:ph type="sldNum" sz="quarter" idx="12"/>
          </p:nvPr>
        </p:nvSpPr>
        <p:spPr/>
        <p:txBody>
          <a:bodyPr/>
          <a:lstStyle/>
          <a:p>
            <a:fld id="{071C626E-CE99-4A38-B122-F832429FE450}" type="slidenum">
              <a:rPr lang="en-US" smtClean="0"/>
              <a:t>‹#›</a:t>
            </a:fld>
            <a:endParaRPr lang="en-US"/>
          </a:p>
        </p:txBody>
      </p:sp>
    </p:spTree>
    <p:extLst>
      <p:ext uri="{BB962C8B-B14F-4D97-AF65-F5344CB8AC3E}">
        <p14:creationId xmlns:p14="http://schemas.microsoft.com/office/powerpoint/2010/main" val="3899036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CB5595-407E-C79B-BBF0-E7E881B6E51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031424-3A85-B43E-B674-3137F2DF52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C118-0149-B59D-3B5E-A6ED87EA80D0}"/>
              </a:ext>
            </a:extLst>
          </p:cNvPr>
          <p:cNvSpPr>
            <a:spLocks noGrp="1"/>
          </p:cNvSpPr>
          <p:nvPr>
            <p:ph type="dt" sz="half" idx="10"/>
          </p:nvPr>
        </p:nvSpPr>
        <p:spPr/>
        <p:txBody>
          <a:bodyPr/>
          <a:lstStyle/>
          <a:p>
            <a:fld id="{40FDD52B-EF56-4BB9-AE32-CBE6B0F3120F}" type="datetimeFigureOut">
              <a:rPr lang="en-US" smtClean="0"/>
              <a:t>10/1/2026</a:t>
            </a:fld>
            <a:endParaRPr lang="en-US"/>
          </a:p>
        </p:txBody>
      </p:sp>
      <p:sp>
        <p:nvSpPr>
          <p:cNvPr id="5" name="Footer Placeholder 4">
            <a:extLst>
              <a:ext uri="{FF2B5EF4-FFF2-40B4-BE49-F238E27FC236}">
                <a16:creationId xmlns:a16="http://schemas.microsoft.com/office/drawing/2014/main" id="{FD405318-EC81-FF28-9948-AAEB4D1391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A2A13E-1506-DD19-4AC3-7AF16FF2ADDE}"/>
              </a:ext>
            </a:extLst>
          </p:cNvPr>
          <p:cNvSpPr>
            <a:spLocks noGrp="1"/>
          </p:cNvSpPr>
          <p:nvPr>
            <p:ph type="sldNum" sz="quarter" idx="12"/>
          </p:nvPr>
        </p:nvSpPr>
        <p:spPr/>
        <p:txBody>
          <a:bodyPr/>
          <a:lstStyle/>
          <a:p>
            <a:fld id="{071C626E-CE99-4A38-B122-F832429FE450}" type="slidenum">
              <a:rPr lang="en-US" smtClean="0"/>
              <a:t>‹#›</a:t>
            </a:fld>
            <a:endParaRPr lang="en-US"/>
          </a:p>
        </p:txBody>
      </p:sp>
    </p:spTree>
    <p:extLst>
      <p:ext uri="{BB962C8B-B14F-4D97-AF65-F5344CB8AC3E}">
        <p14:creationId xmlns:p14="http://schemas.microsoft.com/office/powerpoint/2010/main" val="2407644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7B5455-94E0-61A4-CD52-228A8DA3CD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F14C237-B534-8552-5592-2DA2614AD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43DDEF-9B98-5310-3D3C-1B18B9E7CD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FDD52B-EF56-4BB9-AE32-CBE6B0F3120F}" type="datetimeFigureOut">
              <a:rPr lang="en-US" smtClean="0"/>
              <a:t>10/1/2026</a:t>
            </a:fld>
            <a:endParaRPr lang="en-US"/>
          </a:p>
        </p:txBody>
      </p:sp>
      <p:sp>
        <p:nvSpPr>
          <p:cNvPr id="5" name="Footer Placeholder 4">
            <a:extLst>
              <a:ext uri="{FF2B5EF4-FFF2-40B4-BE49-F238E27FC236}">
                <a16:creationId xmlns:a16="http://schemas.microsoft.com/office/drawing/2014/main" id="{97A88907-99B9-4EC5-B906-AA657037F0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CA262E-6FA5-E039-185B-532A29A63D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1C626E-CE99-4A38-B122-F832429FE450}" type="slidenum">
              <a:rPr lang="en-US" smtClean="0"/>
              <a:t>‹#›</a:t>
            </a:fld>
            <a:endParaRPr lang="en-US"/>
          </a:p>
        </p:txBody>
      </p:sp>
    </p:spTree>
    <p:extLst>
      <p:ext uri="{BB962C8B-B14F-4D97-AF65-F5344CB8AC3E}">
        <p14:creationId xmlns:p14="http://schemas.microsoft.com/office/powerpoint/2010/main" val="17382046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9AD4373-A7FD-8A9E-1359-6907F793B6B7}"/>
              </a:ext>
            </a:extLst>
          </p:cNvPr>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AE390E4-4560-D1F1-2612-7AC9B8492908}"/>
              </a:ext>
            </a:extLst>
          </p:cNvPr>
          <p:cNvSpPr/>
          <p:nvPr/>
        </p:nvSpPr>
        <p:spPr>
          <a:xfrm>
            <a:off x="0" y="0"/>
            <a:ext cx="254000" cy="6858000"/>
          </a:xfrm>
          <a:prstGeom prst="rect">
            <a:avLst/>
          </a:prstGeom>
          <a:solidFill>
            <a:srgbClr val="EA580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332B4BB-18BF-B2B7-082C-A92B17008C4B}"/>
              </a:ext>
            </a:extLst>
          </p:cNvPr>
          <p:cNvSpPr txBox="1"/>
          <p:nvPr/>
        </p:nvSpPr>
        <p:spPr>
          <a:xfrm>
            <a:off x="1016000" y="1651000"/>
            <a:ext cx="10160000" cy="1077218"/>
          </a:xfrm>
          <a:prstGeom prst="rect">
            <a:avLst/>
          </a:prstGeom>
          <a:noFill/>
        </p:spPr>
        <p:txBody>
          <a:bodyPr vert="horz" rtlCol="0">
            <a:spAutoFit/>
          </a:bodyPr>
          <a:lstStyle/>
          <a:p>
            <a:pPr algn="r"/>
            <a:r>
              <a:rPr lang="ar-SA" sz="3200" b="1">
                <a:solidFill>
                  <a:srgbClr val="FFFFFF"/>
                </a:solidFill>
                <a:latin typeface="Segoe UI" panose="020B0502040204020203" pitchFamily="34" charset="0"/>
              </a:rPr>
              <a:t>استراتيجية مبيعات 2027 الكبرى
وخطة قفزة الإيرادات لمنطقة الجيزة (3.7</a:t>
            </a:r>
            <a:r>
              <a:rPr lang="en-US" sz="3200" b="1">
                <a:solidFill>
                  <a:srgbClr val="FFFFFF"/>
                </a:solidFill>
                <a:latin typeface="Segoe UI" panose="020B0502040204020203" pitchFamily="34" charset="0"/>
              </a:rPr>
              <a:t>M)</a:t>
            </a:r>
          </a:p>
        </p:txBody>
      </p:sp>
      <p:sp>
        <p:nvSpPr>
          <p:cNvPr id="5" name="TextBox 4">
            <a:extLst>
              <a:ext uri="{FF2B5EF4-FFF2-40B4-BE49-F238E27FC236}">
                <a16:creationId xmlns:a16="http://schemas.microsoft.com/office/drawing/2014/main" id="{D2572A4C-1FF8-C508-88DA-1EA29162DD76}"/>
              </a:ext>
            </a:extLst>
          </p:cNvPr>
          <p:cNvSpPr txBox="1"/>
          <p:nvPr/>
        </p:nvSpPr>
        <p:spPr>
          <a:xfrm>
            <a:off x="1016000" y="3302000"/>
            <a:ext cx="10160000" cy="369332"/>
          </a:xfrm>
          <a:prstGeom prst="rect">
            <a:avLst/>
          </a:prstGeom>
          <a:noFill/>
        </p:spPr>
        <p:txBody>
          <a:bodyPr vert="horz" rtlCol="0">
            <a:spAutoFit/>
          </a:bodyPr>
          <a:lstStyle/>
          <a:p>
            <a:pPr algn="r"/>
            <a:r>
              <a:rPr lang="ar-SA" b="1">
                <a:solidFill>
                  <a:srgbClr val="EA580C"/>
                </a:solidFill>
                <a:latin typeface="Segoe UI" panose="020B0502040204020203" pitchFamily="34" charset="0"/>
              </a:rPr>
              <a:t>شركة توبي (2</a:t>
            </a:r>
            <a:r>
              <a:rPr lang="en-US" b="1">
                <a:solidFill>
                  <a:srgbClr val="EA580C"/>
                </a:solidFill>
                <a:latin typeface="Segoe UI" panose="020B0502040204020203" pitchFamily="34" charset="0"/>
              </a:rPr>
              <a:t>B) — </a:t>
            </a:r>
            <a:r>
              <a:rPr lang="ar-SA" b="1">
                <a:solidFill>
                  <a:srgbClr val="EA580C"/>
                </a:solidFill>
                <a:latin typeface="Segoe UI" panose="020B0502040204020203" pitchFamily="34" charset="0"/>
              </a:rPr>
              <a:t>قطاع إكسسوارات الموبايل واللابتوب</a:t>
            </a:r>
            <a:endParaRPr lang="en-US" b="1">
              <a:solidFill>
                <a:srgbClr val="EA580C"/>
              </a:solidFill>
              <a:latin typeface="Segoe UI" panose="020B0502040204020203" pitchFamily="34" charset="0"/>
            </a:endParaRPr>
          </a:p>
        </p:txBody>
      </p:sp>
      <p:sp>
        <p:nvSpPr>
          <p:cNvPr id="6" name="TextBox 5">
            <a:extLst>
              <a:ext uri="{FF2B5EF4-FFF2-40B4-BE49-F238E27FC236}">
                <a16:creationId xmlns:a16="http://schemas.microsoft.com/office/drawing/2014/main" id="{A8257E9B-2887-C0BA-B88B-B9C861EB037F}"/>
              </a:ext>
            </a:extLst>
          </p:cNvPr>
          <p:cNvSpPr txBox="1"/>
          <p:nvPr/>
        </p:nvSpPr>
        <p:spPr>
          <a:xfrm>
            <a:off x="1016000" y="4572000"/>
            <a:ext cx="10160000" cy="523220"/>
          </a:xfrm>
          <a:prstGeom prst="rect">
            <a:avLst/>
          </a:prstGeom>
          <a:noFill/>
        </p:spPr>
        <p:txBody>
          <a:bodyPr vert="horz" rtlCol="0">
            <a:spAutoFit/>
          </a:bodyPr>
          <a:lstStyle/>
          <a:p>
            <a:pPr algn="r"/>
            <a:r>
              <a:rPr lang="ar-SA" sz="1400">
                <a:solidFill>
                  <a:srgbClr val="38BDF8"/>
                </a:solidFill>
                <a:latin typeface="Segoe UI" panose="020B0502040204020203" pitchFamily="34" charset="0"/>
              </a:rPr>
              <a:t>من 2.2</a:t>
            </a:r>
            <a:r>
              <a:rPr lang="en-US" sz="1400">
                <a:solidFill>
                  <a:srgbClr val="38BDF8"/>
                </a:solidFill>
                <a:latin typeface="Segoe UI" panose="020B0502040204020203" pitchFamily="34" charset="0"/>
              </a:rPr>
              <a:t>M </a:t>
            </a:r>
            <a:r>
              <a:rPr lang="ar-SA" sz="1400">
                <a:solidFill>
                  <a:srgbClr val="38BDF8"/>
                </a:solidFill>
                <a:latin typeface="Segoe UI" panose="020B0502040204020203" pitchFamily="34" charset="0"/>
              </a:rPr>
              <a:t>إلى 3.7</a:t>
            </a:r>
            <a:r>
              <a:rPr lang="en-US" sz="1400">
                <a:solidFill>
                  <a:srgbClr val="38BDF8"/>
                </a:solidFill>
                <a:latin typeface="Segoe UI" panose="020B0502040204020203" pitchFamily="34" charset="0"/>
              </a:rPr>
              <a:t>M </a:t>
            </a:r>
            <a:r>
              <a:rPr lang="ar-SA" sz="1400">
                <a:solidFill>
                  <a:srgbClr val="38BDF8"/>
                </a:solidFill>
                <a:latin typeface="Segoe UI" panose="020B0502040204020203" pitchFamily="34" charset="0"/>
              </a:rPr>
              <a:t>شهرياً (36.8 مليون ج.م سنوياً لعام 2027)
إعداد: عبدالله أحمد إبراهيم — مدير المنطقة البيعية (</a:t>
            </a:r>
            <a:r>
              <a:rPr lang="en-US" sz="1400">
                <a:solidFill>
                  <a:srgbClr val="38BDF8"/>
                </a:solidFill>
                <a:latin typeface="Segoe UI" panose="020B0502040204020203" pitchFamily="34" charset="0"/>
              </a:rPr>
              <a:t>Area Sales Manager)</a:t>
            </a:r>
          </a:p>
        </p:txBody>
      </p:sp>
    </p:spTree>
    <p:extLst>
      <p:ext uri="{BB962C8B-B14F-4D97-AF65-F5344CB8AC3E}">
        <p14:creationId xmlns:p14="http://schemas.microsoft.com/office/powerpoint/2010/main" val="3732550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D7DFD5-54CC-0888-C08B-DA098CF921A6}"/>
              </a:ext>
            </a:extLst>
          </p:cNvPr>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2ECFD47-593D-6667-6B74-A03685E1C14D}"/>
              </a:ext>
            </a:extLst>
          </p:cNvPr>
          <p:cNvSpPr/>
          <p:nvPr/>
        </p:nvSpPr>
        <p:spPr>
          <a:xfrm>
            <a:off x="0" y="0"/>
            <a:ext cx="12192000" cy="76200"/>
          </a:xfrm>
          <a:prstGeom prst="rect">
            <a:avLst/>
          </a:prstGeom>
          <a:solidFill>
            <a:srgbClr val="EA580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B2E2791-27C0-55D2-23E5-88F5B75C9261}"/>
              </a:ext>
            </a:extLst>
          </p:cNvPr>
          <p:cNvSpPr txBox="1"/>
          <p:nvPr/>
        </p:nvSpPr>
        <p:spPr>
          <a:xfrm>
            <a:off x="635000" y="228600"/>
            <a:ext cx="10922000" cy="261610"/>
          </a:xfrm>
          <a:prstGeom prst="rect">
            <a:avLst/>
          </a:prstGeom>
          <a:noFill/>
        </p:spPr>
        <p:txBody>
          <a:bodyPr vert="horz" rtlCol="0">
            <a:spAutoFit/>
          </a:bodyPr>
          <a:lstStyle/>
          <a:p>
            <a:pPr algn="r"/>
            <a:r>
              <a:rPr lang="ar-SA" sz="1100" b="1">
                <a:solidFill>
                  <a:srgbClr val="EA580C"/>
                </a:solidFill>
                <a:latin typeface="Segoe UI" panose="020B0502040204020203" pitchFamily="34" charset="0"/>
              </a:rPr>
              <a:t>شركة 2</a:t>
            </a:r>
            <a:r>
              <a:rPr lang="en-US" sz="1100" b="1">
                <a:solidFill>
                  <a:srgbClr val="EA580C"/>
                </a:solidFill>
                <a:latin typeface="Segoe UI" panose="020B0502040204020203" pitchFamily="34" charset="0"/>
              </a:rPr>
              <a:t>B — </a:t>
            </a:r>
            <a:r>
              <a:rPr lang="ar-SA" sz="1100" b="1">
                <a:solidFill>
                  <a:srgbClr val="EA580C"/>
                </a:solidFill>
                <a:latin typeface="Segoe UI" panose="020B0502040204020203" pitchFamily="34" charset="0"/>
              </a:rPr>
              <a:t>قطاع إكسسوارات الموبايل واللابتوب | </a:t>
            </a:r>
            <a:r>
              <a:rPr lang="en-US" sz="1100" b="1">
                <a:solidFill>
                  <a:srgbClr val="EA580C"/>
                </a:solidFill>
                <a:latin typeface="Segoe UI" panose="020B0502040204020203" pitchFamily="34" charset="0"/>
              </a:rPr>
              <a:t>Master Commercial Strategy 2027</a:t>
            </a:r>
          </a:p>
        </p:txBody>
      </p:sp>
      <p:sp>
        <p:nvSpPr>
          <p:cNvPr id="5" name="TextBox 4">
            <a:extLst>
              <a:ext uri="{FF2B5EF4-FFF2-40B4-BE49-F238E27FC236}">
                <a16:creationId xmlns:a16="http://schemas.microsoft.com/office/drawing/2014/main" id="{A805EC48-85C2-DE30-1868-F90E9391021E}"/>
              </a:ext>
            </a:extLst>
          </p:cNvPr>
          <p:cNvSpPr txBox="1"/>
          <p:nvPr/>
        </p:nvSpPr>
        <p:spPr>
          <a:xfrm>
            <a:off x="635000" y="533400"/>
            <a:ext cx="10922000" cy="430887"/>
          </a:xfrm>
          <a:prstGeom prst="rect">
            <a:avLst/>
          </a:prstGeom>
          <a:noFill/>
        </p:spPr>
        <p:txBody>
          <a:bodyPr vert="horz" rtlCol="0">
            <a:spAutoFit/>
          </a:bodyPr>
          <a:lstStyle/>
          <a:p>
            <a:pPr algn="r"/>
            <a:r>
              <a:rPr lang="ar-SA" sz="2200" b="1">
                <a:solidFill>
                  <a:srgbClr val="FFFFFF"/>
                </a:solidFill>
                <a:latin typeface="Segoe UI" panose="020B0502040204020203" pitchFamily="34" charset="0"/>
              </a:rPr>
              <a:t>المؤشرات الرقمية الكبرى لاستراتيجية الجيزة 2027</a:t>
            </a:r>
            <a:endParaRPr lang="en-US" sz="2200" b="1">
              <a:solidFill>
                <a:srgbClr val="FFFFFF"/>
              </a:solidFill>
              <a:latin typeface="Segoe UI" panose="020B0502040204020203" pitchFamily="34" charset="0"/>
            </a:endParaRPr>
          </a:p>
        </p:txBody>
      </p:sp>
      <p:sp>
        <p:nvSpPr>
          <p:cNvPr id="6" name="TextBox 5">
            <a:extLst>
              <a:ext uri="{FF2B5EF4-FFF2-40B4-BE49-F238E27FC236}">
                <a16:creationId xmlns:a16="http://schemas.microsoft.com/office/drawing/2014/main" id="{90D650FA-ECD1-DA91-924A-7C1166D0FC33}"/>
              </a:ext>
            </a:extLst>
          </p:cNvPr>
          <p:cNvSpPr txBox="1"/>
          <p:nvPr/>
        </p:nvSpPr>
        <p:spPr>
          <a:xfrm>
            <a:off x="635000" y="6413500"/>
            <a:ext cx="10922000" cy="246221"/>
          </a:xfrm>
          <a:prstGeom prst="rect">
            <a:avLst/>
          </a:prstGeom>
          <a:noFill/>
        </p:spPr>
        <p:txBody>
          <a:bodyPr vert="horz" rtlCol="0">
            <a:spAutoFit/>
          </a:bodyPr>
          <a:lstStyle/>
          <a:p>
            <a:r>
              <a:rPr lang="en-US" sz="1000">
                <a:solidFill>
                  <a:srgbClr val="94A3B8"/>
                </a:solidFill>
                <a:latin typeface="Segoe UI" panose="020B0502040204020203" pitchFamily="34" charset="0"/>
              </a:rPr>
              <a:t>2B Territory Strategy | Giza &amp; Upper Egypt</a:t>
            </a:r>
          </a:p>
        </p:txBody>
      </p:sp>
      <p:sp>
        <p:nvSpPr>
          <p:cNvPr id="7" name="Rectangle: Rounded Corners 6">
            <a:extLst>
              <a:ext uri="{FF2B5EF4-FFF2-40B4-BE49-F238E27FC236}">
                <a16:creationId xmlns:a16="http://schemas.microsoft.com/office/drawing/2014/main" id="{DAC0259C-0476-2AF4-2FD2-753C3AFC9812}"/>
              </a:ext>
            </a:extLst>
          </p:cNvPr>
          <p:cNvSpPr/>
          <p:nvPr/>
        </p:nvSpPr>
        <p:spPr>
          <a:xfrm>
            <a:off x="635000" y="1333500"/>
            <a:ext cx="2540000" cy="4699000"/>
          </a:xfrm>
          <a:prstGeom prst="roundRect">
            <a:avLst/>
          </a:prstGeom>
          <a:solidFill>
            <a:srgbClr val="1E293B"/>
          </a:solidFill>
          <a:ln w="19050">
            <a:solidFill>
              <a:srgbClr val="EA58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0322D4A-E734-8306-782E-EB0DCC8CA955}"/>
              </a:ext>
            </a:extLst>
          </p:cNvPr>
          <p:cNvSpPr txBox="1"/>
          <p:nvPr/>
        </p:nvSpPr>
        <p:spPr>
          <a:xfrm>
            <a:off x="787400" y="1485900"/>
            <a:ext cx="2235200" cy="323165"/>
          </a:xfrm>
          <a:prstGeom prst="rect">
            <a:avLst/>
          </a:prstGeom>
          <a:noFill/>
        </p:spPr>
        <p:txBody>
          <a:bodyPr vert="horz" rtlCol="0">
            <a:spAutoFit/>
          </a:bodyPr>
          <a:lstStyle/>
          <a:p>
            <a:pPr algn="r"/>
            <a:r>
              <a:rPr lang="ar-SA" sz="1500" b="1">
                <a:solidFill>
                  <a:srgbClr val="EA580C"/>
                </a:solidFill>
                <a:latin typeface="Segoe UI" panose="020B0502040204020203" pitchFamily="34" charset="0"/>
              </a:rPr>
              <a:t>3,700,000 ج.م</a:t>
            </a:r>
            <a:endParaRPr lang="en-US" sz="1500" b="1">
              <a:solidFill>
                <a:srgbClr val="EA580C"/>
              </a:solidFill>
              <a:latin typeface="Segoe UI" panose="020B0502040204020203" pitchFamily="34" charset="0"/>
            </a:endParaRPr>
          </a:p>
        </p:txBody>
      </p:sp>
      <p:sp>
        <p:nvSpPr>
          <p:cNvPr id="9" name="TextBox 8">
            <a:extLst>
              <a:ext uri="{FF2B5EF4-FFF2-40B4-BE49-F238E27FC236}">
                <a16:creationId xmlns:a16="http://schemas.microsoft.com/office/drawing/2014/main" id="{EAA39776-D15F-E104-7C9C-99FD4C7C56E4}"/>
              </a:ext>
            </a:extLst>
          </p:cNvPr>
          <p:cNvSpPr txBox="1"/>
          <p:nvPr/>
        </p:nvSpPr>
        <p:spPr>
          <a:xfrm>
            <a:off x="787400" y="1993900"/>
            <a:ext cx="2235200" cy="923714"/>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المستهدف الشهري الإجمالي للأريا.
• 2.2</a:t>
            </a:r>
            <a:r>
              <a:rPr lang="en-US" sz="1200">
                <a:solidFill>
                  <a:srgbClr val="FFFFFF"/>
                </a:solidFill>
                <a:latin typeface="Segoe UI" panose="020B0502040204020203" pitchFamily="34" charset="0"/>
              </a:rPr>
              <a:t>M </a:t>
            </a:r>
            <a:r>
              <a:rPr lang="ar-SA" sz="1200">
                <a:solidFill>
                  <a:srgbClr val="FFFFFF"/>
                </a:solidFill>
                <a:latin typeface="Segoe UI" panose="020B0502040204020203" pitchFamily="34" charset="0"/>
              </a:rPr>
              <a:t>الأساس التاريخي + 1.5</a:t>
            </a:r>
            <a:r>
              <a:rPr lang="en-US" sz="1200">
                <a:solidFill>
                  <a:srgbClr val="FFFFFF"/>
                </a:solidFill>
                <a:latin typeface="Segoe UI" panose="020B0502040204020203" pitchFamily="34" charset="0"/>
              </a:rPr>
              <a:t>M </a:t>
            </a:r>
            <a:r>
              <a:rPr lang="ar-SA" sz="1200">
                <a:solidFill>
                  <a:srgbClr val="FFFFFF"/>
                </a:solidFill>
                <a:latin typeface="Segoe UI" panose="020B0502040204020203" pitchFamily="34" charset="0"/>
              </a:rPr>
              <a:t>التوسع.
• مزيج متوازن بين الجملة والتجزئة.</a:t>
            </a:r>
            <a:endParaRPr lang="en-US" sz="1200">
              <a:solidFill>
                <a:srgbClr val="FFFFFF"/>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D7D6DB29-E0B2-1F42-51E2-03215825E3C0}"/>
              </a:ext>
            </a:extLst>
          </p:cNvPr>
          <p:cNvSpPr/>
          <p:nvPr/>
        </p:nvSpPr>
        <p:spPr>
          <a:xfrm>
            <a:off x="3429000" y="1333500"/>
            <a:ext cx="2540000" cy="4699000"/>
          </a:xfrm>
          <a:prstGeom prst="roundRect">
            <a:avLst/>
          </a:prstGeom>
          <a:solidFill>
            <a:srgbClr val="1E293B"/>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22F0A57-44EB-2D49-15A4-B8A55B42B5FC}"/>
              </a:ext>
            </a:extLst>
          </p:cNvPr>
          <p:cNvSpPr txBox="1"/>
          <p:nvPr/>
        </p:nvSpPr>
        <p:spPr>
          <a:xfrm>
            <a:off x="3581400" y="1485900"/>
            <a:ext cx="2235200" cy="323165"/>
          </a:xfrm>
          <a:prstGeom prst="rect">
            <a:avLst/>
          </a:prstGeom>
          <a:noFill/>
        </p:spPr>
        <p:txBody>
          <a:bodyPr vert="horz" rtlCol="0">
            <a:spAutoFit/>
          </a:bodyPr>
          <a:lstStyle/>
          <a:p>
            <a:pPr algn="r"/>
            <a:r>
              <a:rPr lang="ar-SA" sz="1500" b="1">
                <a:solidFill>
                  <a:srgbClr val="22C55E"/>
                </a:solidFill>
                <a:latin typeface="Segoe UI" panose="020B0502040204020203" pitchFamily="34" charset="0"/>
              </a:rPr>
              <a:t>36,800,000 ج.م</a:t>
            </a:r>
            <a:endParaRPr lang="en-US" sz="1500" b="1">
              <a:solidFill>
                <a:srgbClr val="22C55E"/>
              </a:solidFill>
              <a:latin typeface="Segoe UI" panose="020B0502040204020203" pitchFamily="34" charset="0"/>
            </a:endParaRPr>
          </a:p>
        </p:txBody>
      </p:sp>
      <p:sp>
        <p:nvSpPr>
          <p:cNvPr id="12" name="TextBox 11">
            <a:extLst>
              <a:ext uri="{FF2B5EF4-FFF2-40B4-BE49-F238E27FC236}">
                <a16:creationId xmlns:a16="http://schemas.microsoft.com/office/drawing/2014/main" id="{1472361F-6BC5-E71C-91C2-2AC36533D03E}"/>
              </a:ext>
            </a:extLst>
          </p:cNvPr>
          <p:cNvSpPr txBox="1"/>
          <p:nvPr/>
        </p:nvSpPr>
        <p:spPr>
          <a:xfrm>
            <a:off x="3581400" y="1993900"/>
            <a:ext cx="2235200" cy="1136080"/>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المستهدف السنوي الواقعي لعام 2027.
• نمو مدروس بنسبة +28% فوق الأساس.
• موزعة بدقة وفق مواسم السوق والجامعات.</a:t>
            </a:r>
            <a:endParaRPr lang="en-US" sz="1200">
              <a:solidFill>
                <a:srgbClr val="FFFFFF"/>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F6180D0E-D9B5-5CE9-F526-D54A9F9216CD}"/>
              </a:ext>
            </a:extLst>
          </p:cNvPr>
          <p:cNvSpPr/>
          <p:nvPr/>
        </p:nvSpPr>
        <p:spPr>
          <a:xfrm>
            <a:off x="6223000" y="1333500"/>
            <a:ext cx="2540000" cy="4699000"/>
          </a:xfrm>
          <a:prstGeom prst="roundRect">
            <a:avLst/>
          </a:prstGeom>
          <a:solidFill>
            <a:srgbClr val="1E293B"/>
          </a:solidFill>
          <a:ln w="1905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91A1DBD-ACF5-67D3-5D25-AA09D0A2EF39}"/>
              </a:ext>
            </a:extLst>
          </p:cNvPr>
          <p:cNvSpPr txBox="1"/>
          <p:nvPr/>
        </p:nvSpPr>
        <p:spPr>
          <a:xfrm>
            <a:off x="6375400" y="1485900"/>
            <a:ext cx="2235200" cy="323165"/>
          </a:xfrm>
          <a:prstGeom prst="rect">
            <a:avLst/>
          </a:prstGeom>
          <a:noFill/>
        </p:spPr>
        <p:txBody>
          <a:bodyPr vert="horz" rtlCol="0">
            <a:spAutoFit/>
          </a:bodyPr>
          <a:lstStyle/>
          <a:p>
            <a:pPr algn="r"/>
            <a:r>
              <a:rPr lang="ar-SA" sz="1500" b="1">
                <a:solidFill>
                  <a:srgbClr val="38BDF8"/>
                </a:solidFill>
                <a:latin typeface="Segoe UI" panose="020B0502040204020203" pitchFamily="34" charset="0"/>
              </a:rPr>
              <a:t>1,850,000 ج.م</a:t>
            </a:r>
            <a:endParaRPr lang="en-US" sz="1500" b="1">
              <a:solidFill>
                <a:srgbClr val="38BDF8"/>
              </a:solidFill>
              <a:latin typeface="Segoe UI" panose="020B0502040204020203" pitchFamily="34" charset="0"/>
            </a:endParaRPr>
          </a:p>
        </p:txBody>
      </p:sp>
      <p:sp>
        <p:nvSpPr>
          <p:cNvPr id="15" name="TextBox 14">
            <a:extLst>
              <a:ext uri="{FF2B5EF4-FFF2-40B4-BE49-F238E27FC236}">
                <a16:creationId xmlns:a16="http://schemas.microsoft.com/office/drawing/2014/main" id="{F4DEF545-2537-9882-E72B-C08A3749C600}"/>
              </a:ext>
            </a:extLst>
          </p:cNvPr>
          <p:cNvSpPr txBox="1"/>
          <p:nvPr/>
        </p:nvSpPr>
        <p:spPr>
          <a:xfrm>
            <a:off x="6375400" y="1993900"/>
            <a:ext cx="2235200" cy="1136080"/>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مبيعات الكاش الفوري شهرياً (50%+).
• خصم تعجيل دفع 2%-3% للتاجر الملتزم.
• متوسط فترة تحصيل الديون </a:t>
            </a:r>
            <a:r>
              <a:rPr lang="en-US" sz="1200">
                <a:solidFill>
                  <a:srgbClr val="FFFFFF"/>
                </a:solidFill>
                <a:latin typeface="Segoe UI" panose="020B0502040204020203" pitchFamily="34" charset="0"/>
              </a:rPr>
              <a:t>DSO </a:t>
            </a:r>
            <a:r>
              <a:rPr lang="ar-SA" sz="1200">
                <a:solidFill>
                  <a:srgbClr val="FFFFFF"/>
                </a:solidFill>
                <a:latin typeface="Segoe UI" panose="020B0502040204020203" pitchFamily="34" charset="0"/>
              </a:rPr>
              <a:t>لا تتجاوز 20 يوماً.</a:t>
            </a:r>
            <a:endParaRPr lang="en-US" sz="1200">
              <a:solidFill>
                <a:srgbClr val="FFFFFF"/>
              </a:solidFill>
              <a:latin typeface="Segoe UI" panose="020B0502040204020203" pitchFamily="34" charset="0"/>
            </a:endParaRPr>
          </a:p>
        </p:txBody>
      </p:sp>
      <p:sp>
        <p:nvSpPr>
          <p:cNvPr id="16" name="Rectangle: Rounded Corners 15">
            <a:extLst>
              <a:ext uri="{FF2B5EF4-FFF2-40B4-BE49-F238E27FC236}">
                <a16:creationId xmlns:a16="http://schemas.microsoft.com/office/drawing/2014/main" id="{4DF8C98A-AA93-051C-81FB-97548605B45A}"/>
              </a:ext>
            </a:extLst>
          </p:cNvPr>
          <p:cNvSpPr/>
          <p:nvPr/>
        </p:nvSpPr>
        <p:spPr>
          <a:xfrm>
            <a:off x="9017000" y="1333500"/>
            <a:ext cx="2540000" cy="4699000"/>
          </a:xfrm>
          <a:prstGeom prst="roundRect">
            <a:avLst/>
          </a:prstGeom>
          <a:solidFill>
            <a:srgbClr val="1E293B"/>
          </a:solidFill>
          <a:ln w="19050">
            <a:solidFill>
              <a:srgbClr val="EA58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8873DC9-CA3F-20F2-AE88-C22AFC1FF969}"/>
              </a:ext>
            </a:extLst>
          </p:cNvPr>
          <p:cNvSpPr txBox="1"/>
          <p:nvPr/>
        </p:nvSpPr>
        <p:spPr>
          <a:xfrm>
            <a:off x="9169400" y="1485900"/>
            <a:ext cx="2235200" cy="323165"/>
          </a:xfrm>
          <a:prstGeom prst="rect">
            <a:avLst/>
          </a:prstGeom>
          <a:noFill/>
        </p:spPr>
        <p:txBody>
          <a:bodyPr vert="horz" rtlCol="0">
            <a:spAutoFit/>
          </a:bodyPr>
          <a:lstStyle/>
          <a:p>
            <a:pPr algn="r"/>
            <a:r>
              <a:rPr lang="en-US" sz="1500" b="1">
                <a:solidFill>
                  <a:srgbClr val="EA580C"/>
                </a:solidFill>
                <a:latin typeface="Segoe UI" panose="020B0502040204020203" pitchFamily="34" charset="0"/>
              </a:rPr>
              <a:t>350K - 600K</a:t>
            </a:r>
          </a:p>
        </p:txBody>
      </p:sp>
      <p:sp>
        <p:nvSpPr>
          <p:cNvPr id="18" name="TextBox 17">
            <a:extLst>
              <a:ext uri="{FF2B5EF4-FFF2-40B4-BE49-F238E27FC236}">
                <a16:creationId xmlns:a16="http://schemas.microsoft.com/office/drawing/2014/main" id="{8EECDDE0-E7C7-4DC6-5A3E-B6163FF1BF3D}"/>
              </a:ext>
            </a:extLst>
          </p:cNvPr>
          <p:cNvSpPr txBox="1"/>
          <p:nvPr/>
        </p:nvSpPr>
        <p:spPr>
          <a:xfrm>
            <a:off x="9169400" y="1993900"/>
            <a:ext cx="2235200" cy="1136080"/>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تدرج المندوب الجديد (معقول وميداني).
• يبدأ بـ 350 ألف ويتدرج حتى 600 ألف.
• حماية المندوبين من الإحباط وضمان استقرارهم.</a:t>
            </a:r>
            <a:endParaRPr lang="en-US" sz="1200">
              <a:solidFill>
                <a:srgbClr val="FFFFFF"/>
              </a:solidFill>
              <a:latin typeface="Segoe UI" panose="020B0502040204020203" pitchFamily="34" charset="0"/>
            </a:endParaRPr>
          </a:p>
        </p:txBody>
      </p:sp>
    </p:spTree>
    <p:extLst>
      <p:ext uri="{BB962C8B-B14F-4D97-AF65-F5344CB8AC3E}">
        <p14:creationId xmlns:p14="http://schemas.microsoft.com/office/powerpoint/2010/main" val="624431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0C57B8E-B1F1-7990-EFDA-BE06F35C8B2A}"/>
              </a:ext>
            </a:extLst>
          </p:cNvPr>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C656F08-F9D5-CD7E-1434-74FC77026CB6}"/>
              </a:ext>
            </a:extLst>
          </p:cNvPr>
          <p:cNvSpPr/>
          <p:nvPr/>
        </p:nvSpPr>
        <p:spPr>
          <a:xfrm>
            <a:off x="0" y="0"/>
            <a:ext cx="12192000" cy="76200"/>
          </a:xfrm>
          <a:prstGeom prst="rect">
            <a:avLst/>
          </a:prstGeom>
          <a:solidFill>
            <a:srgbClr val="EA580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E522827-74EB-73ED-66D8-7B006AA7364F}"/>
              </a:ext>
            </a:extLst>
          </p:cNvPr>
          <p:cNvSpPr txBox="1"/>
          <p:nvPr/>
        </p:nvSpPr>
        <p:spPr>
          <a:xfrm>
            <a:off x="635000" y="228600"/>
            <a:ext cx="10922000" cy="261610"/>
          </a:xfrm>
          <a:prstGeom prst="rect">
            <a:avLst/>
          </a:prstGeom>
          <a:noFill/>
        </p:spPr>
        <p:txBody>
          <a:bodyPr vert="horz" rtlCol="0">
            <a:spAutoFit/>
          </a:bodyPr>
          <a:lstStyle/>
          <a:p>
            <a:pPr algn="r"/>
            <a:r>
              <a:rPr lang="ar-SA" sz="1100" b="1">
                <a:solidFill>
                  <a:srgbClr val="EA580C"/>
                </a:solidFill>
                <a:latin typeface="Segoe UI" panose="020B0502040204020203" pitchFamily="34" charset="0"/>
              </a:rPr>
              <a:t>شركة 2</a:t>
            </a:r>
            <a:r>
              <a:rPr lang="en-US" sz="1100" b="1">
                <a:solidFill>
                  <a:srgbClr val="EA580C"/>
                </a:solidFill>
                <a:latin typeface="Segoe UI" panose="020B0502040204020203" pitchFamily="34" charset="0"/>
              </a:rPr>
              <a:t>B — </a:t>
            </a:r>
            <a:r>
              <a:rPr lang="ar-SA" sz="1100" b="1">
                <a:solidFill>
                  <a:srgbClr val="EA580C"/>
                </a:solidFill>
                <a:latin typeface="Segoe UI" panose="020B0502040204020203" pitchFamily="34" charset="0"/>
              </a:rPr>
              <a:t>قطاع إكسسوارات الموبايل واللابتوب | </a:t>
            </a:r>
            <a:r>
              <a:rPr lang="en-US" sz="1100" b="1">
                <a:solidFill>
                  <a:srgbClr val="EA580C"/>
                </a:solidFill>
                <a:latin typeface="Segoe UI" panose="020B0502040204020203" pitchFamily="34" charset="0"/>
              </a:rPr>
              <a:t>Master Commercial Strategy 2027</a:t>
            </a:r>
          </a:p>
        </p:txBody>
      </p:sp>
      <p:sp>
        <p:nvSpPr>
          <p:cNvPr id="5" name="TextBox 4">
            <a:extLst>
              <a:ext uri="{FF2B5EF4-FFF2-40B4-BE49-F238E27FC236}">
                <a16:creationId xmlns:a16="http://schemas.microsoft.com/office/drawing/2014/main" id="{3B574171-3619-12AD-98C2-DFE7B7CFCB4E}"/>
              </a:ext>
            </a:extLst>
          </p:cNvPr>
          <p:cNvSpPr txBox="1"/>
          <p:nvPr/>
        </p:nvSpPr>
        <p:spPr>
          <a:xfrm>
            <a:off x="635000" y="533400"/>
            <a:ext cx="10922000" cy="430887"/>
          </a:xfrm>
          <a:prstGeom prst="rect">
            <a:avLst/>
          </a:prstGeom>
          <a:noFill/>
        </p:spPr>
        <p:txBody>
          <a:bodyPr vert="horz" rtlCol="0">
            <a:spAutoFit/>
          </a:bodyPr>
          <a:lstStyle/>
          <a:p>
            <a:pPr algn="r"/>
            <a:r>
              <a:rPr lang="ar-SA" sz="2200" b="1">
                <a:solidFill>
                  <a:srgbClr val="FFFFFF"/>
                </a:solidFill>
                <a:latin typeface="Segoe UI" panose="020B0502040204020203" pitchFamily="34" charset="0"/>
              </a:rPr>
              <a:t>توزيع التارجت الشهري الجديد (3.7</a:t>
            </a:r>
            <a:r>
              <a:rPr lang="en-US" sz="2200" b="1">
                <a:solidFill>
                  <a:srgbClr val="FFFFFF"/>
                </a:solidFill>
                <a:latin typeface="Segoe UI" panose="020B0502040204020203" pitchFamily="34" charset="0"/>
              </a:rPr>
              <a:t>M) </a:t>
            </a:r>
            <a:r>
              <a:rPr lang="ar-SA" sz="2200" b="1">
                <a:solidFill>
                  <a:srgbClr val="FFFFFF"/>
                </a:solidFill>
                <a:latin typeface="Segoe UI" panose="020B0502040204020203" pitchFamily="34" charset="0"/>
              </a:rPr>
              <a:t>بين القنوات والفريق</a:t>
            </a:r>
            <a:endParaRPr lang="en-US" sz="2200" b="1">
              <a:solidFill>
                <a:srgbClr val="FFFFFF"/>
              </a:solidFill>
              <a:latin typeface="Segoe UI" panose="020B0502040204020203" pitchFamily="34" charset="0"/>
            </a:endParaRPr>
          </a:p>
        </p:txBody>
      </p:sp>
      <p:sp>
        <p:nvSpPr>
          <p:cNvPr id="6" name="TextBox 5">
            <a:extLst>
              <a:ext uri="{FF2B5EF4-FFF2-40B4-BE49-F238E27FC236}">
                <a16:creationId xmlns:a16="http://schemas.microsoft.com/office/drawing/2014/main" id="{C5BF1C44-788E-59F4-379C-889C490A4C73}"/>
              </a:ext>
            </a:extLst>
          </p:cNvPr>
          <p:cNvSpPr txBox="1"/>
          <p:nvPr/>
        </p:nvSpPr>
        <p:spPr>
          <a:xfrm>
            <a:off x="635000" y="6413500"/>
            <a:ext cx="10922000" cy="246221"/>
          </a:xfrm>
          <a:prstGeom prst="rect">
            <a:avLst/>
          </a:prstGeom>
          <a:noFill/>
        </p:spPr>
        <p:txBody>
          <a:bodyPr vert="horz" rtlCol="0">
            <a:spAutoFit/>
          </a:bodyPr>
          <a:lstStyle/>
          <a:p>
            <a:r>
              <a:rPr lang="en-US" sz="1000">
                <a:solidFill>
                  <a:srgbClr val="94A3B8"/>
                </a:solidFill>
                <a:latin typeface="Segoe UI" panose="020B0502040204020203" pitchFamily="34" charset="0"/>
              </a:rPr>
              <a:t>2B Territory Strategy | Giza &amp; Upper Egypt</a:t>
            </a:r>
          </a:p>
        </p:txBody>
      </p:sp>
      <p:sp>
        <p:nvSpPr>
          <p:cNvPr id="7" name="Rectangle: Rounded Corners 6">
            <a:extLst>
              <a:ext uri="{FF2B5EF4-FFF2-40B4-BE49-F238E27FC236}">
                <a16:creationId xmlns:a16="http://schemas.microsoft.com/office/drawing/2014/main" id="{B8FB6365-3E66-BB20-58EA-D30BA7BC41BC}"/>
              </a:ext>
            </a:extLst>
          </p:cNvPr>
          <p:cNvSpPr/>
          <p:nvPr/>
        </p:nvSpPr>
        <p:spPr>
          <a:xfrm>
            <a:off x="635000" y="1333500"/>
            <a:ext cx="3429000" cy="4699000"/>
          </a:xfrm>
          <a:prstGeom prst="roundRect">
            <a:avLst/>
          </a:prstGeom>
          <a:solidFill>
            <a:srgbClr val="1E293B"/>
          </a:solidFill>
          <a:ln w="19050">
            <a:solidFill>
              <a:srgbClr val="EA58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48BA100-0B9E-5180-501C-18FABF63FA9F}"/>
              </a:ext>
            </a:extLst>
          </p:cNvPr>
          <p:cNvSpPr txBox="1"/>
          <p:nvPr/>
        </p:nvSpPr>
        <p:spPr>
          <a:xfrm>
            <a:off x="787400" y="1485900"/>
            <a:ext cx="3124200" cy="323165"/>
          </a:xfrm>
          <a:prstGeom prst="rect">
            <a:avLst/>
          </a:prstGeom>
          <a:noFill/>
        </p:spPr>
        <p:txBody>
          <a:bodyPr vert="horz" rtlCol="0">
            <a:spAutoFit/>
          </a:bodyPr>
          <a:lstStyle/>
          <a:p>
            <a:pPr algn="r"/>
            <a:r>
              <a:rPr lang="ar-SA" sz="1500" b="1">
                <a:solidFill>
                  <a:srgbClr val="EA580C"/>
                </a:solidFill>
                <a:latin typeface="Segoe UI" panose="020B0502040204020203" pitchFamily="34" charset="0"/>
              </a:rPr>
              <a:t>كبار الموزعين والجملة (2,500,000 ج.م)</a:t>
            </a:r>
            <a:endParaRPr lang="en-US" sz="1500" b="1">
              <a:solidFill>
                <a:srgbClr val="EA580C"/>
              </a:solidFill>
              <a:latin typeface="Segoe UI" panose="020B0502040204020203" pitchFamily="34" charset="0"/>
            </a:endParaRPr>
          </a:p>
        </p:txBody>
      </p:sp>
      <p:sp>
        <p:nvSpPr>
          <p:cNvPr id="9" name="TextBox 8">
            <a:extLst>
              <a:ext uri="{FF2B5EF4-FFF2-40B4-BE49-F238E27FC236}">
                <a16:creationId xmlns:a16="http://schemas.microsoft.com/office/drawing/2014/main" id="{9328ADDB-BECE-C3F6-48EA-E72332F114EB}"/>
              </a:ext>
            </a:extLst>
          </p:cNvPr>
          <p:cNvSpPr txBox="1"/>
          <p:nvPr/>
        </p:nvSpPr>
        <p:spPr>
          <a:xfrm>
            <a:off x="787400" y="1993900"/>
            <a:ext cx="3124200" cy="923714"/>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إشراف مباشر من الاريا مانجر (</a:t>
            </a:r>
            <a:r>
              <a:rPr lang="en-US" sz="1200">
                <a:solidFill>
                  <a:srgbClr val="FFFFFF"/>
                </a:solidFill>
                <a:latin typeface="Segoe UI" panose="020B0502040204020203" pitchFamily="34" charset="0"/>
              </a:rPr>
              <a:t>ASM).
• 67.5% </a:t>
            </a:r>
            <a:r>
              <a:rPr lang="ar-SA" sz="1200">
                <a:solidFill>
                  <a:srgbClr val="FFFFFF"/>
                </a:solidFill>
                <a:latin typeface="Segoe UI" panose="020B0502040204020203" pitchFamily="34" charset="0"/>
              </a:rPr>
              <a:t>من إجمالي مبيعات المنطقة.
• كبار تجار الجملة بالجيزة وفيصل وإمبابة وأكتوبر.
• صفقات التوريد المؤسسي للجامعات والشركات (</a:t>
            </a:r>
            <a:r>
              <a:rPr lang="en-US" sz="1200">
                <a:solidFill>
                  <a:srgbClr val="FFFFFF"/>
                </a:solidFill>
                <a:latin typeface="Segoe UI" panose="020B0502040204020203" pitchFamily="34" charset="0"/>
              </a:rPr>
              <a:t>B2B).</a:t>
            </a:r>
          </a:p>
        </p:txBody>
      </p:sp>
      <p:sp>
        <p:nvSpPr>
          <p:cNvPr id="10" name="Rectangle: Rounded Corners 9">
            <a:extLst>
              <a:ext uri="{FF2B5EF4-FFF2-40B4-BE49-F238E27FC236}">
                <a16:creationId xmlns:a16="http://schemas.microsoft.com/office/drawing/2014/main" id="{D73FD644-6C80-1A4E-9B01-B4596A43D043}"/>
              </a:ext>
            </a:extLst>
          </p:cNvPr>
          <p:cNvSpPr/>
          <p:nvPr/>
        </p:nvSpPr>
        <p:spPr>
          <a:xfrm>
            <a:off x="4381500" y="1333500"/>
            <a:ext cx="3429000" cy="4699000"/>
          </a:xfrm>
          <a:prstGeom prst="roundRect">
            <a:avLst/>
          </a:prstGeom>
          <a:solidFill>
            <a:srgbClr val="1E293B"/>
          </a:solidFill>
          <a:ln w="1905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34E8AA9-B251-EAF2-2AAA-A2472719F5B2}"/>
              </a:ext>
            </a:extLst>
          </p:cNvPr>
          <p:cNvSpPr txBox="1"/>
          <p:nvPr/>
        </p:nvSpPr>
        <p:spPr>
          <a:xfrm>
            <a:off x="4533900" y="1485900"/>
            <a:ext cx="3124200" cy="323165"/>
          </a:xfrm>
          <a:prstGeom prst="rect">
            <a:avLst/>
          </a:prstGeom>
          <a:noFill/>
        </p:spPr>
        <p:txBody>
          <a:bodyPr vert="horz" rtlCol="0">
            <a:spAutoFit/>
          </a:bodyPr>
          <a:lstStyle/>
          <a:p>
            <a:pPr algn="r"/>
            <a:r>
              <a:rPr lang="ar-SA" sz="1500" b="1">
                <a:solidFill>
                  <a:srgbClr val="38BDF8"/>
                </a:solidFill>
                <a:latin typeface="Segoe UI" panose="020B0502040204020203" pitchFamily="34" charset="0"/>
              </a:rPr>
              <a:t>مندوب 1: </a:t>
            </a:r>
            <a:r>
              <a:rPr lang="en-US" sz="1500" b="1">
                <a:solidFill>
                  <a:srgbClr val="38BDF8"/>
                </a:solidFill>
                <a:latin typeface="Segoe UI" panose="020B0502040204020203" pitchFamily="34" charset="0"/>
              </a:rPr>
              <a:t>Zone 1 (600,000 </a:t>
            </a:r>
            <a:r>
              <a:rPr lang="ar-SA" sz="1500" b="1">
                <a:solidFill>
                  <a:srgbClr val="38BDF8"/>
                </a:solidFill>
                <a:latin typeface="Segoe UI" panose="020B0502040204020203" pitchFamily="34" charset="0"/>
              </a:rPr>
              <a:t>ج.م)</a:t>
            </a:r>
            <a:endParaRPr lang="en-US" sz="1500" b="1">
              <a:solidFill>
                <a:srgbClr val="38BDF8"/>
              </a:solidFill>
              <a:latin typeface="Segoe UI" panose="020B0502040204020203" pitchFamily="34" charset="0"/>
            </a:endParaRPr>
          </a:p>
        </p:txBody>
      </p:sp>
      <p:sp>
        <p:nvSpPr>
          <p:cNvPr id="12" name="TextBox 11">
            <a:extLst>
              <a:ext uri="{FF2B5EF4-FFF2-40B4-BE49-F238E27FC236}">
                <a16:creationId xmlns:a16="http://schemas.microsoft.com/office/drawing/2014/main" id="{C100E462-6E86-4D70-A32F-69AE167FF80F}"/>
              </a:ext>
            </a:extLst>
          </p:cNvPr>
          <p:cNvSpPr txBox="1"/>
          <p:nvPr/>
        </p:nvSpPr>
        <p:spPr>
          <a:xfrm>
            <a:off x="4533900" y="1993900"/>
            <a:ext cx="3124200" cy="923714"/>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شمال ووسط الجيزة: المهندسين، الدقي، إمبابة، الوراق.
• معارض الكمبيوتر واللابتوب وتجزئة الموبايل.
• معدل الزيارات: 8-10 زيارات يومية مخططة.
• فتح 8 إلى 10 عملاء جدد شهرياً كاش فوري.</a:t>
            </a:r>
            <a:endParaRPr lang="en-US" sz="1200">
              <a:solidFill>
                <a:srgbClr val="FFFFFF"/>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943C5DD8-3C6C-5132-9069-73DBCC75F013}"/>
              </a:ext>
            </a:extLst>
          </p:cNvPr>
          <p:cNvSpPr/>
          <p:nvPr/>
        </p:nvSpPr>
        <p:spPr>
          <a:xfrm>
            <a:off x="8128000" y="1333500"/>
            <a:ext cx="3429000" cy="4699000"/>
          </a:xfrm>
          <a:prstGeom prst="roundRect">
            <a:avLst/>
          </a:prstGeom>
          <a:solidFill>
            <a:srgbClr val="1E293B"/>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A3928A8-00AB-03C5-9167-0DB1E54A7446}"/>
              </a:ext>
            </a:extLst>
          </p:cNvPr>
          <p:cNvSpPr txBox="1"/>
          <p:nvPr/>
        </p:nvSpPr>
        <p:spPr>
          <a:xfrm>
            <a:off x="8280400" y="1485900"/>
            <a:ext cx="3124200" cy="323165"/>
          </a:xfrm>
          <a:prstGeom prst="rect">
            <a:avLst/>
          </a:prstGeom>
          <a:noFill/>
        </p:spPr>
        <p:txBody>
          <a:bodyPr vert="horz" rtlCol="0">
            <a:spAutoFit/>
          </a:bodyPr>
          <a:lstStyle/>
          <a:p>
            <a:pPr algn="r"/>
            <a:r>
              <a:rPr lang="ar-SA" sz="1500" b="1">
                <a:solidFill>
                  <a:srgbClr val="22C55E"/>
                </a:solidFill>
                <a:latin typeface="Segoe UI" panose="020B0502040204020203" pitchFamily="34" charset="0"/>
              </a:rPr>
              <a:t>مندوب 2: </a:t>
            </a:r>
            <a:r>
              <a:rPr lang="en-US" sz="1500" b="1">
                <a:solidFill>
                  <a:srgbClr val="22C55E"/>
                </a:solidFill>
                <a:latin typeface="Segoe UI" panose="020B0502040204020203" pitchFamily="34" charset="0"/>
              </a:rPr>
              <a:t>Zone 2 (600,000 </a:t>
            </a:r>
            <a:r>
              <a:rPr lang="ar-SA" sz="1500" b="1">
                <a:solidFill>
                  <a:srgbClr val="22C55E"/>
                </a:solidFill>
                <a:latin typeface="Segoe UI" panose="020B0502040204020203" pitchFamily="34" charset="0"/>
              </a:rPr>
              <a:t>ج.م)</a:t>
            </a:r>
            <a:endParaRPr lang="en-US" sz="1500" b="1">
              <a:solidFill>
                <a:srgbClr val="22C55E"/>
              </a:solidFill>
              <a:latin typeface="Segoe UI" panose="020B0502040204020203" pitchFamily="34" charset="0"/>
            </a:endParaRPr>
          </a:p>
        </p:txBody>
      </p:sp>
      <p:sp>
        <p:nvSpPr>
          <p:cNvPr id="15" name="TextBox 14">
            <a:extLst>
              <a:ext uri="{FF2B5EF4-FFF2-40B4-BE49-F238E27FC236}">
                <a16:creationId xmlns:a16="http://schemas.microsoft.com/office/drawing/2014/main" id="{261134C3-86B7-3548-9256-635D9147E780}"/>
              </a:ext>
            </a:extLst>
          </p:cNvPr>
          <p:cNvSpPr txBox="1"/>
          <p:nvPr/>
        </p:nvSpPr>
        <p:spPr>
          <a:xfrm>
            <a:off x="8280400" y="1993900"/>
            <a:ext cx="3124200" cy="1136080"/>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جنوب وغرب الجيزة: شارع فيصل، الهرم، 6 أكتوبر، زايد.
• أضخم كثافة تجزئة موبايل لسحب الشواحن والباوربنك.
• معدل الزيارات: 8-10 زيارات يومية مخططة.
• فتح 8 إلى 10 عملاء جدد شهرياً كاش فوري.</a:t>
            </a:r>
            <a:endParaRPr lang="en-US" sz="1200">
              <a:solidFill>
                <a:srgbClr val="FFFFFF"/>
              </a:solidFill>
              <a:latin typeface="Segoe UI" panose="020B0502040204020203" pitchFamily="34" charset="0"/>
            </a:endParaRPr>
          </a:p>
        </p:txBody>
      </p:sp>
    </p:spTree>
    <p:extLst>
      <p:ext uri="{BB962C8B-B14F-4D97-AF65-F5344CB8AC3E}">
        <p14:creationId xmlns:p14="http://schemas.microsoft.com/office/powerpoint/2010/main" val="3566509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17BE1C-BD91-DC26-A77F-580AD40C4A51}"/>
              </a:ext>
            </a:extLst>
          </p:cNvPr>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A3151D0-5ED1-1EA6-964E-60B297B3D157}"/>
              </a:ext>
            </a:extLst>
          </p:cNvPr>
          <p:cNvSpPr/>
          <p:nvPr/>
        </p:nvSpPr>
        <p:spPr>
          <a:xfrm>
            <a:off x="0" y="0"/>
            <a:ext cx="12192000" cy="76200"/>
          </a:xfrm>
          <a:prstGeom prst="rect">
            <a:avLst/>
          </a:prstGeom>
          <a:solidFill>
            <a:srgbClr val="EA580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56C2391-4C40-54AE-5AA7-3B0BA4FC6EED}"/>
              </a:ext>
            </a:extLst>
          </p:cNvPr>
          <p:cNvSpPr txBox="1"/>
          <p:nvPr/>
        </p:nvSpPr>
        <p:spPr>
          <a:xfrm>
            <a:off x="635000" y="228600"/>
            <a:ext cx="10922000" cy="261610"/>
          </a:xfrm>
          <a:prstGeom prst="rect">
            <a:avLst/>
          </a:prstGeom>
          <a:noFill/>
        </p:spPr>
        <p:txBody>
          <a:bodyPr vert="horz" rtlCol="0">
            <a:spAutoFit/>
          </a:bodyPr>
          <a:lstStyle/>
          <a:p>
            <a:pPr algn="r"/>
            <a:r>
              <a:rPr lang="ar-SA" sz="1100" b="1">
                <a:solidFill>
                  <a:srgbClr val="EA580C"/>
                </a:solidFill>
                <a:latin typeface="Segoe UI" panose="020B0502040204020203" pitchFamily="34" charset="0"/>
              </a:rPr>
              <a:t>شركة 2</a:t>
            </a:r>
            <a:r>
              <a:rPr lang="en-US" sz="1100" b="1">
                <a:solidFill>
                  <a:srgbClr val="EA580C"/>
                </a:solidFill>
                <a:latin typeface="Segoe UI" panose="020B0502040204020203" pitchFamily="34" charset="0"/>
              </a:rPr>
              <a:t>B — </a:t>
            </a:r>
            <a:r>
              <a:rPr lang="ar-SA" sz="1100" b="1">
                <a:solidFill>
                  <a:srgbClr val="EA580C"/>
                </a:solidFill>
                <a:latin typeface="Segoe UI" panose="020B0502040204020203" pitchFamily="34" charset="0"/>
              </a:rPr>
              <a:t>قطاع إكسسوارات الموبايل واللابتوب | </a:t>
            </a:r>
            <a:r>
              <a:rPr lang="en-US" sz="1100" b="1">
                <a:solidFill>
                  <a:srgbClr val="EA580C"/>
                </a:solidFill>
                <a:latin typeface="Segoe UI" panose="020B0502040204020203" pitchFamily="34" charset="0"/>
              </a:rPr>
              <a:t>Master Commercial Strategy 2027</a:t>
            </a:r>
          </a:p>
        </p:txBody>
      </p:sp>
      <p:sp>
        <p:nvSpPr>
          <p:cNvPr id="5" name="TextBox 4">
            <a:extLst>
              <a:ext uri="{FF2B5EF4-FFF2-40B4-BE49-F238E27FC236}">
                <a16:creationId xmlns:a16="http://schemas.microsoft.com/office/drawing/2014/main" id="{E39C5A10-FF9D-793B-EF2B-9CF2B429A28B}"/>
              </a:ext>
            </a:extLst>
          </p:cNvPr>
          <p:cNvSpPr txBox="1"/>
          <p:nvPr/>
        </p:nvSpPr>
        <p:spPr>
          <a:xfrm>
            <a:off x="635000" y="533400"/>
            <a:ext cx="10922000" cy="430887"/>
          </a:xfrm>
          <a:prstGeom prst="rect">
            <a:avLst/>
          </a:prstGeom>
          <a:noFill/>
        </p:spPr>
        <p:txBody>
          <a:bodyPr vert="horz" rtlCol="0">
            <a:spAutoFit/>
          </a:bodyPr>
          <a:lstStyle/>
          <a:p>
            <a:pPr algn="r"/>
            <a:r>
              <a:rPr lang="ar-SA" sz="2200" b="1">
                <a:solidFill>
                  <a:srgbClr val="FFFFFF"/>
                </a:solidFill>
                <a:latin typeface="Segoe UI" panose="020B0502040204020203" pitchFamily="34" charset="0"/>
              </a:rPr>
              <a:t>جسر الإيرادات الواقعي: تفكيك الـ 1.5</a:t>
            </a:r>
            <a:r>
              <a:rPr lang="en-US" sz="2200" b="1">
                <a:solidFill>
                  <a:srgbClr val="FFFFFF"/>
                </a:solidFill>
                <a:latin typeface="Segoe UI" panose="020B0502040204020203" pitchFamily="34" charset="0"/>
              </a:rPr>
              <a:t>M </a:t>
            </a:r>
            <a:r>
              <a:rPr lang="ar-SA" sz="2200" b="1">
                <a:solidFill>
                  <a:srgbClr val="FFFFFF"/>
                </a:solidFill>
                <a:latin typeface="Segoe UI" panose="020B0502040204020203" pitchFamily="34" charset="0"/>
              </a:rPr>
              <a:t>الإضافية شهرياً</a:t>
            </a:r>
            <a:endParaRPr lang="en-US" sz="2200" b="1">
              <a:solidFill>
                <a:srgbClr val="FFFFFF"/>
              </a:solidFill>
              <a:latin typeface="Segoe UI" panose="020B0502040204020203" pitchFamily="34" charset="0"/>
            </a:endParaRPr>
          </a:p>
        </p:txBody>
      </p:sp>
      <p:sp>
        <p:nvSpPr>
          <p:cNvPr id="6" name="TextBox 5">
            <a:extLst>
              <a:ext uri="{FF2B5EF4-FFF2-40B4-BE49-F238E27FC236}">
                <a16:creationId xmlns:a16="http://schemas.microsoft.com/office/drawing/2014/main" id="{F957D00B-FB1C-5759-1BA0-C152A5A2EB3A}"/>
              </a:ext>
            </a:extLst>
          </p:cNvPr>
          <p:cNvSpPr txBox="1"/>
          <p:nvPr/>
        </p:nvSpPr>
        <p:spPr>
          <a:xfrm>
            <a:off x="635000" y="6413500"/>
            <a:ext cx="10922000" cy="246221"/>
          </a:xfrm>
          <a:prstGeom prst="rect">
            <a:avLst/>
          </a:prstGeom>
          <a:noFill/>
        </p:spPr>
        <p:txBody>
          <a:bodyPr vert="horz" rtlCol="0">
            <a:spAutoFit/>
          </a:bodyPr>
          <a:lstStyle/>
          <a:p>
            <a:r>
              <a:rPr lang="en-US" sz="1000">
                <a:solidFill>
                  <a:srgbClr val="94A3B8"/>
                </a:solidFill>
                <a:latin typeface="Segoe UI" panose="020B0502040204020203" pitchFamily="34" charset="0"/>
              </a:rPr>
              <a:t>2B Territory Strategy | Giza &amp; Upper Egypt</a:t>
            </a:r>
          </a:p>
        </p:txBody>
      </p:sp>
      <p:sp>
        <p:nvSpPr>
          <p:cNvPr id="7" name="Rectangle: Rounded Corners 6">
            <a:extLst>
              <a:ext uri="{FF2B5EF4-FFF2-40B4-BE49-F238E27FC236}">
                <a16:creationId xmlns:a16="http://schemas.microsoft.com/office/drawing/2014/main" id="{B772E0B7-4C1D-BD45-5130-85DAA483D50A}"/>
              </a:ext>
            </a:extLst>
          </p:cNvPr>
          <p:cNvSpPr/>
          <p:nvPr/>
        </p:nvSpPr>
        <p:spPr>
          <a:xfrm>
            <a:off x="635000" y="1333500"/>
            <a:ext cx="2540000" cy="4699000"/>
          </a:xfrm>
          <a:prstGeom prst="roundRect">
            <a:avLst/>
          </a:prstGeom>
          <a:solidFill>
            <a:srgbClr val="1E293B"/>
          </a:solidFill>
          <a:ln w="19050">
            <a:solidFill>
              <a:srgbClr val="EA58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33708DC-DC59-FD6F-4D27-20C9F2D42A64}"/>
              </a:ext>
            </a:extLst>
          </p:cNvPr>
          <p:cNvSpPr txBox="1"/>
          <p:nvPr/>
        </p:nvSpPr>
        <p:spPr>
          <a:xfrm>
            <a:off x="787400" y="1485900"/>
            <a:ext cx="2235200" cy="323165"/>
          </a:xfrm>
          <a:prstGeom prst="rect">
            <a:avLst/>
          </a:prstGeom>
          <a:noFill/>
        </p:spPr>
        <p:txBody>
          <a:bodyPr vert="horz" rtlCol="0">
            <a:spAutoFit/>
          </a:bodyPr>
          <a:lstStyle/>
          <a:p>
            <a:pPr algn="r"/>
            <a:r>
              <a:rPr lang="en-US" sz="1500" b="1">
                <a:solidFill>
                  <a:srgbClr val="EA580C"/>
                </a:solidFill>
                <a:latin typeface="Segoe UI" panose="020B0502040204020203" pitchFamily="34" charset="0"/>
              </a:rPr>
              <a:t>+700K: </a:t>
            </a:r>
            <a:r>
              <a:rPr lang="ar-SA" sz="1500" b="1">
                <a:solidFill>
                  <a:srgbClr val="EA580C"/>
                </a:solidFill>
                <a:latin typeface="Segoe UI" panose="020B0502040204020203" pitchFamily="34" charset="0"/>
              </a:rPr>
              <a:t>كبار الموزعين</a:t>
            </a:r>
            <a:endParaRPr lang="en-US" sz="1500" b="1">
              <a:solidFill>
                <a:srgbClr val="EA580C"/>
              </a:solidFill>
              <a:latin typeface="Segoe UI" panose="020B0502040204020203" pitchFamily="34" charset="0"/>
            </a:endParaRPr>
          </a:p>
        </p:txBody>
      </p:sp>
      <p:sp>
        <p:nvSpPr>
          <p:cNvPr id="9" name="TextBox 8">
            <a:extLst>
              <a:ext uri="{FF2B5EF4-FFF2-40B4-BE49-F238E27FC236}">
                <a16:creationId xmlns:a16="http://schemas.microsoft.com/office/drawing/2014/main" id="{A112AE02-E666-258E-763B-8CF9422E4C60}"/>
              </a:ext>
            </a:extLst>
          </p:cNvPr>
          <p:cNvSpPr txBox="1"/>
          <p:nvPr/>
        </p:nvSpPr>
        <p:spPr>
          <a:xfrm>
            <a:off x="787400" y="1993900"/>
            <a:ext cx="2235200" cy="1136080"/>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زيادة سحب 4-5 موزعي جملة كبار.
• متوسط سحب 140-150 ألف ج.م لكل موزع.
• توريدات منتظمة بكراتين وكميات تجارية.</a:t>
            </a:r>
            <a:endParaRPr lang="en-US" sz="1200">
              <a:solidFill>
                <a:srgbClr val="FFFFFF"/>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E911313E-B509-9F3C-6647-C6C9EFDC7883}"/>
              </a:ext>
            </a:extLst>
          </p:cNvPr>
          <p:cNvSpPr/>
          <p:nvPr/>
        </p:nvSpPr>
        <p:spPr>
          <a:xfrm>
            <a:off x="3429000" y="1333500"/>
            <a:ext cx="2540000" cy="4699000"/>
          </a:xfrm>
          <a:prstGeom prst="roundRect">
            <a:avLst/>
          </a:prstGeom>
          <a:solidFill>
            <a:srgbClr val="1E293B"/>
          </a:solidFill>
          <a:ln w="1905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922F95-0336-65A1-2A69-7882D4F20D8C}"/>
              </a:ext>
            </a:extLst>
          </p:cNvPr>
          <p:cNvSpPr txBox="1"/>
          <p:nvPr/>
        </p:nvSpPr>
        <p:spPr>
          <a:xfrm>
            <a:off x="3581400" y="1485900"/>
            <a:ext cx="2235200" cy="323165"/>
          </a:xfrm>
          <a:prstGeom prst="rect">
            <a:avLst/>
          </a:prstGeom>
          <a:noFill/>
        </p:spPr>
        <p:txBody>
          <a:bodyPr vert="horz" rtlCol="0">
            <a:spAutoFit/>
          </a:bodyPr>
          <a:lstStyle/>
          <a:p>
            <a:pPr algn="r"/>
            <a:r>
              <a:rPr lang="en-US" sz="1500" b="1">
                <a:solidFill>
                  <a:srgbClr val="38BDF8"/>
                </a:solidFill>
                <a:latin typeface="Segoe UI" panose="020B0502040204020203" pitchFamily="34" charset="0"/>
              </a:rPr>
              <a:t>+350K: </a:t>
            </a:r>
            <a:r>
              <a:rPr lang="ar-SA" sz="1500" b="1">
                <a:solidFill>
                  <a:srgbClr val="38BDF8"/>
                </a:solidFill>
                <a:latin typeface="Segoe UI" panose="020B0502040204020203" pitchFamily="34" charset="0"/>
              </a:rPr>
              <a:t>تجزئة جديدة</a:t>
            </a:r>
            <a:endParaRPr lang="en-US" sz="1500" b="1">
              <a:solidFill>
                <a:srgbClr val="38BDF8"/>
              </a:solidFill>
              <a:latin typeface="Segoe UI" panose="020B0502040204020203" pitchFamily="34" charset="0"/>
            </a:endParaRPr>
          </a:p>
        </p:txBody>
      </p:sp>
      <p:sp>
        <p:nvSpPr>
          <p:cNvPr id="12" name="TextBox 11">
            <a:extLst>
              <a:ext uri="{FF2B5EF4-FFF2-40B4-BE49-F238E27FC236}">
                <a16:creationId xmlns:a16="http://schemas.microsoft.com/office/drawing/2014/main" id="{CC0E78FF-6E13-50D6-E6B9-0E1293863EE5}"/>
              </a:ext>
            </a:extLst>
          </p:cNvPr>
          <p:cNvSpPr txBox="1"/>
          <p:nvPr/>
        </p:nvSpPr>
        <p:spPr>
          <a:xfrm>
            <a:off x="3581400" y="1993900"/>
            <a:ext cx="2235200" cy="1136080"/>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فتح 16-20 محل تجزئة جديد شهرياً بالمنطقتين.
• 8 إلى 10 محلات جديدة لكل مندوب.
• متوسط فاتورة افتتاحية 3-5 آلاف ج.م كاش.</a:t>
            </a:r>
            <a:endParaRPr lang="en-US" sz="1200">
              <a:solidFill>
                <a:srgbClr val="FFFFFF"/>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ED34E429-EAB0-E7D4-812C-6CA1237A0270}"/>
              </a:ext>
            </a:extLst>
          </p:cNvPr>
          <p:cNvSpPr/>
          <p:nvPr/>
        </p:nvSpPr>
        <p:spPr>
          <a:xfrm>
            <a:off x="6223000" y="1333500"/>
            <a:ext cx="2540000" cy="4699000"/>
          </a:xfrm>
          <a:prstGeom prst="roundRect">
            <a:avLst/>
          </a:prstGeom>
          <a:solidFill>
            <a:srgbClr val="1E293B"/>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6A6B625-B885-C871-B69B-B576A04E0E27}"/>
              </a:ext>
            </a:extLst>
          </p:cNvPr>
          <p:cNvSpPr txBox="1"/>
          <p:nvPr/>
        </p:nvSpPr>
        <p:spPr>
          <a:xfrm>
            <a:off x="6375400" y="1485900"/>
            <a:ext cx="2235200" cy="323165"/>
          </a:xfrm>
          <a:prstGeom prst="rect">
            <a:avLst/>
          </a:prstGeom>
          <a:noFill/>
        </p:spPr>
        <p:txBody>
          <a:bodyPr vert="horz" rtlCol="0">
            <a:spAutoFit/>
          </a:bodyPr>
          <a:lstStyle/>
          <a:p>
            <a:pPr algn="r"/>
            <a:r>
              <a:rPr lang="en-US" sz="1500" b="1">
                <a:solidFill>
                  <a:srgbClr val="22C55E"/>
                </a:solidFill>
                <a:latin typeface="Segoe UI" panose="020B0502040204020203" pitchFamily="34" charset="0"/>
              </a:rPr>
              <a:t>+250K: </a:t>
            </a:r>
            <a:r>
              <a:rPr lang="ar-SA" sz="1500" b="1">
                <a:solidFill>
                  <a:srgbClr val="22C55E"/>
                </a:solidFill>
                <a:latin typeface="Segoe UI" panose="020B0502040204020203" pitchFamily="34" charset="0"/>
              </a:rPr>
              <a:t>باقات الجامعات</a:t>
            </a:r>
            <a:endParaRPr lang="en-US" sz="1500" b="1">
              <a:solidFill>
                <a:srgbClr val="22C55E"/>
              </a:solidFill>
              <a:latin typeface="Segoe UI" panose="020B0502040204020203" pitchFamily="34" charset="0"/>
            </a:endParaRPr>
          </a:p>
        </p:txBody>
      </p:sp>
      <p:sp>
        <p:nvSpPr>
          <p:cNvPr id="15" name="TextBox 14">
            <a:extLst>
              <a:ext uri="{FF2B5EF4-FFF2-40B4-BE49-F238E27FC236}">
                <a16:creationId xmlns:a16="http://schemas.microsoft.com/office/drawing/2014/main" id="{DE073064-C545-B3C7-4AAC-1E0813880529}"/>
              </a:ext>
            </a:extLst>
          </p:cNvPr>
          <p:cNvSpPr txBox="1"/>
          <p:nvPr/>
        </p:nvSpPr>
        <p:spPr>
          <a:xfrm>
            <a:off x="6375400" y="1993900"/>
            <a:ext cx="2235200" cy="1136080"/>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باقات اللابتوب (حقيبة + ماوس + محول </a:t>
            </a:r>
            <a:r>
              <a:rPr lang="en-US" sz="1200">
                <a:solidFill>
                  <a:srgbClr val="FFFFFF"/>
                </a:solidFill>
                <a:latin typeface="Segoe UI" panose="020B0502040204020203" pitchFamily="34" charset="0"/>
              </a:rPr>
              <a:t>Hub).
• </a:t>
            </a:r>
            <a:r>
              <a:rPr lang="ar-SA" sz="1200">
                <a:solidFill>
                  <a:srgbClr val="FFFFFF"/>
                </a:solidFill>
                <a:latin typeface="Segoe UI" panose="020B0502040204020203" pitchFamily="34" charset="0"/>
              </a:rPr>
              <a:t>محيط جامعة القاهرة وجامعات 6 أكتوبر والزايد.
• معارض الكمبيوتر والمكتبات الكبرى.</a:t>
            </a:r>
            <a:endParaRPr lang="en-US" sz="1200">
              <a:solidFill>
                <a:srgbClr val="FFFFFF"/>
              </a:solidFill>
              <a:latin typeface="Segoe UI" panose="020B0502040204020203" pitchFamily="34" charset="0"/>
            </a:endParaRPr>
          </a:p>
        </p:txBody>
      </p:sp>
      <p:sp>
        <p:nvSpPr>
          <p:cNvPr id="16" name="Rectangle: Rounded Corners 15">
            <a:extLst>
              <a:ext uri="{FF2B5EF4-FFF2-40B4-BE49-F238E27FC236}">
                <a16:creationId xmlns:a16="http://schemas.microsoft.com/office/drawing/2014/main" id="{4122410C-BEAF-93C4-DCB6-F8259452A1B9}"/>
              </a:ext>
            </a:extLst>
          </p:cNvPr>
          <p:cNvSpPr/>
          <p:nvPr/>
        </p:nvSpPr>
        <p:spPr>
          <a:xfrm>
            <a:off x="9017000" y="1333500"/>
            <a:ext cx="2540000" cy="4699000"/>
          </a:xfrm>
          <a:prstGeom prst="roundRect">
            <a:avLst/>
          </a:prstGeom>
          <a:solidFill>
            <a:srgbClr val="1E293B"/>
          </a:solidFill>
          <a:ln w="19050">
            <a:solidFill>
              <a:srgbClr val="EA58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2806C247-CCBD-1B14-A7E4-582B575602D2}"/>
              </a:ext>
            </a:extLst>
          </p:cNvPr>
          <p:cNvSpPr txBox="1"/>
          <p:nvPr/>
        </p:nvSpPr>
        <p:spPr>
          <a:xfrm>
            <a:off x="9169400" y="1485900"/>
            <a:ext cx="2235200" cy="323165"/>
          </a:xfrm>
          <a:prstGeom prst="rect">
            <a:avLst/>
          </a:prstGeom>
          <a:noFill/>
        </p:spPr>
        <p:txBody>
          <a:bodyPr vert="horz" rtlCol="0">
            <a:spAutoFit/>
          </a:bodyPr>
          <a:lstStyle/>
          <a:p>
            <a:pPr algn="r"/>
            <a:r>
              <a:rPr lang="en-US" sz="1500" b="1">
                <a:solidFill>
                  <a:srgbClr val="EA580C"/>
                </a:solidFill>
                <a:latin typeface="Segoe UI" panose="020B0502040204020203" pitchFamily="34" charset="0"/>
              </a:rPr>
              <a:t>+200K: </a:t>
            </a:r>
            <a:r>
              <a:rPr lang="ar-SA" sz="1500" b="1">
                <a:solidFill>
                  <a:srgbClr val="EA580C"/>
                </a:solidFill>
                <a:latin typeface="Segoe UI" panose="020B0502040204020203" pitchFamily="34" charset="0"/>
              </a:rPr>
              <a:t>رفع متوسط الطلب</a:t>
            </a:r>
            <a:endParaRPr lang="en-US" sz="1500" b="1">
              <a:solidFill>
                <a:srgbClr val="EA580C"/>
              </a:solidFill>
              <a:latin typeface="Segoe UI" panose="020B0502040204020203" pitchFamily="34" charset="0"/>
            </a:endParaRPr>
          </a:p>
        </p:txBody>
      </p:sp>
      <p:sp>
        <p:nvSpPr>
          <p:cNvPr id="18" name="TextBox 17">
            <a:extLst>
              <a:ext uri="{FF2B5EF4-FFF2-40B4-BE49-F238E27FC236}">
                <a16:creationId xmlns:a16="http://schemas.microsoft.com/office/drawing/2014/main" id="{79CD78E7-00BA-1EF8-066F-7B0682C5327B}"/>
              </a:ext>
            </a:extLst>
          </p:cNvPr>
          <p:cNvSpPr txBox="1"/>
          <p:nvPr/>
        </p:nvSpPr>
        <p:spPr>
          <a:xfrm>
            <a:off x="9169400" y="1993900"/>
            <a:ext cx="2235200" cy="1136080"/>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ربط الشواحن السريعة بكابلات الشحن المعتمدة.
• رفع متوسط فاتورة إعادة الطلب من 4</a:t>
            </a:r>
            <a:r>
              <a:rPr lang="en-US" sz="1200">
                <a:solidFill>
                  <a:srgbClr val="FFFFFF"/>
                </a:solidFill>
                <a:latin typeface="Segoe UI" panose="020B0502040204020203" pitchFamily="34" charset="0"/>
              </a:rPr>
              <a:t>K </a:t>
            </a:r>
            <a:r>
              <a:rPr lang="ar-SA" sz="1200">
                <a:solidFill>
                  <a:srgbClr val="FFFFFF"/>
                </a:solidFill>
                <a:latin typeface="Segoe UI" panose="020B0502040204020203" pitchFamily="34" charset="0"/>
              </a:rPr>
              <a:t>إلى 5.5</a:t>
            </a:r>
            <a:r>
              <a:rPr lang="en-US" sz="1200">
                <a:solidFill>
                  <a:srgbClr val="FFFFFF"/>
                </a:solidFill>
                <a:latin typeface="Segoe UI" panose="020B0502040204020203" pitchFamily="34" charset="0"/>
              </a:rPr>
              <a:t>K.
• </a:t>
            </a:r>
            <a:r>
              <a:rPr lang="ar-SA" sz="1200">
                <a:solidFill>
                  <a:srgbClr val="FFFFFF"/>
                </a:solidFill>
                <a:latin typeface="Segoe UI" panose="020B0502040204020203" pitchFamily="34" charset="0"/>
              </a:rPr>
              <a:t>زيادة بنود الفاتورة الواحدة للمحل القائم.</a:t>
            </a:r>
            <a:endParaRPr lang="en-US" sz="1200">
              <a:solidFill>
                <a:srgbClr val="FFFFFF"/>
              </a:solidFill>
              <a:latin typeface="Segoe UI" panose="020B0502040204020203" pitchFamily="34" charset="0"/>
            </a:endParaRPr>
          </a:p>
        </p:txBody>
      </p:sp>
    </p:spTree>
    <p:extLst>
      <p:ext uri="{BB962C8B-B14F-4D97-AF65-F5344CB8AC3E}">
        <p14:creationId xmlns:p14="http://schemas.microsoft.com/office/powerpoint/2010/main" val="4040478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B8F4BF9-FF76-5BA4-4DED-3CEB5F074663}"/>
              </a:ext>
            </a:extLst>
          </p:cNvPr>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81C9684-19D8-FE53-AF70-D5B3F6B59AE4}"/>
              </a:ext>
            </a:extLst>
          </p:cNvPr>
          <p:cNvSpPr/>
          <p:nvPr/>
        </p:nvSpPr>
        <p:spPr>
          <a:xfrm>
            <a:off x="0" y="0"/>
            <a:ext cx="12192000" cy="76200"/>
          </a:xfrm>
          <a:prstGeom prst="rect">
            <a:avLst/>
          </a:prstGeom>
          <a:solidFill>
            <a:srgbClr val="EA580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5063BC1-8864-1360-052A-ADC4C84A81CA}"/>
              </a:ext>
            </a:extLst>
          </p:cNvPr>
          <p:cNvSpPr txBox="1"/>
          <p:nvPr/>
        </p:nvSpPr>
        <p:spPr>
          <a:xfrm>
            <a:off x="635000" y="228600"/>
            <a:ext cx="10922000" cy="261610"/>
          </a:xfrm>
          <a:prstGeom prst="rect">
            <a:avLst/>
          </a:prstGeom>
          <a:noFill/>
        </p:spPr>
        <p:txBody>
          <a:bodyPr vert="horz" rtlCol="0">
            <a:spAutoFit/>
          </a:bodyPr>
          <a:lstStyle/>
          <a:p>
            <a:pPr algn="r"/>
            <a:r>
              <a:rPr lang="ar-SA" sz="1100" b="1">
                <a:solidFill>
                  <a:srgbClr val="EA580C"/>
                </a:solidFill>
                <a:latin typeface="Segoe UI" panose="020B0502040204020203" pitchFamily="34" charset="0"/>
              </a:rPr>
              <a:t>شركة 2</a:t>
            </a:r>
            <a:r>
              <a:rPr lang="en-US" sz="1100" b="1">
                <a:solidFill>
                  <a:srgbClr val="EA580C"/>
                </a:solidFill>
                <a:latin typeface="Segoe UI" panose="020B0502040204020203" pitchFamily="34" charset="0"/>
              </a:rPr>
              <a:t>B — </a:t>
            </a:r>
            <a:r>
              <a:rPr lang="ar-SA" sz="1100" b="1">
                <a:solidFill>
                  <a:srgbClr val="EA580C"/>
                </a:solidFill>
                <a:latin typeface="Segoe UI" panose="020B0502040204020203" pitchFamily="34" charset="0"/>
              </a:rPr>
              <a:t>قطاع إكسسوارات الموبايل واللابتوب | </a:t>
            </a:r>
            <a:r>
              <a:rPr lang="en-US" sz="1100" b="1">
                <a:solidFill>
                  <a:srgbClr val="EA580C"/>
                </a:solidFill>
                <a:latin typeface="Segoe UI" panose="020B0502040204020203" pitchFamily="34" charset="0"/>
              </a:rPr>
              <a:t>Master Commercial Strategy 2027</a:t>
            </a:r>
          </a:p>
        </p:txBody>
      </p:sp>
      <p:sp>
        <p:nvSpPr>
          <p:cNvPr id="5" name="TextBox 4">
            <a:extLst>
              <a:ext uri="{FF2B5EF4-FFF2-40B4-BE49-F238E27FC236}">
                <a16:creationId xmlns:a16="http://schemas.microsoft.com/office/drawing/2014/main" id="{AF3389DF-429E-7CF5-D559-594B076DA652}"/>
              </a:ext>
            </a:extLst>
          </p:cNvPr>
          <p:cNvSpPr txBox="1"/>
          <p:nvPr/>
        </p:nvSpPr>
        <p:spPr>
          <a:xfrm>
            <a:off x="635000" y="533400"/>
            <a:ext cx="10922000" cy="430887"/>
          </a:xfrm>
          <a:prstGeom prst="rect">
            <a:avLst/>
          </a:prstGeom>
          <a:noFill/>
        </p:spPr>
        <p:txBody>
          <a:bodyPr vert="horz" rtlCol="0">
            <a:spAutoFit/>
          </a:bodyPr>
          <a:lstStyle/>
          <a:p>
            <a:pPr algn="r"/>
            <a:r>
              <a:rPr lang="ar-SA" sz="2200" b="1">
                <a:solidFill>
                  <a:srgbClr val="FFFFFF"/>
                </a:solidFill>
                <a:latin typeface="Segoe UI" panose="020B0502040204020203" pitchFamily="34" charset="0"/>
              </a:rPr>
              <a:t>خطة الـ 90 يوماً للمندوبين الجدد والأريا (تدرج معقول)</a:t>
            </a:r>
            <a:endParaRPr lang="en-US" sz="2200" b="1">
              <a:solidFill>
                <a:srgbClr val="FFFFFF"/>
              </a:solidFill>
              <a:latin typeface="Segoe UI" panose="020B0502040204020203" pitchFamily="34" charset="0"/>
            </a:endParaRPr>
          </a:p>
        </p:txBody>
      </p:sp>
      <p:sp>
        <p:nvSpPr>
          <p:cNvPr id="6" name="TextBox 5">
            <a:extLst>
              <a:ext uri="{FF2B5EF4-FFF2-40B4-BE49-F238E27FC236}">
                <a16:creationId xmlns:a16="http://schemas.microsoft.com/office/drawing/2014/main" id="{F66C7B6B-9CE2-9983-8DD1-9281D46024D2}"/>
              </a:ext>
            </a:extLst>
          </p:cNvPr>
          <p:cNvSpPr txBox="1"/>
          <p:nvPr/>
        </p:nvSpPr>
        <p:spPr>
          <a:xfrm>
            <a:off x="635000" y="6413500"/>
            <a:ext cx="10922000" cy="246221"/>
          </a:xfrm>
          <a:prstGeom prst="rect">
            <a:avLst/>
          </a:prstGeom>
          <a:noFill/>
        </p:spPr>
        <p:txBody>
          <a:bodyPr vert="horz" rtlCol="0">
            <a:spAutoFit/>
          </a:bodyPr>
          <a:lstStyle/>
          <a:p>
            <a:r>
              <a:rPr lang="en-US" sz="1000">
                <a:solidFill>
                  <a:srgbClr val="94A3B8"/>
                </a:solidFill>
                <a:latin typeface="Segoe UI" panose="020B0502040204020203" pitchFamily="34" charset="0"/>
              </a:rPr>
              <a:t>2B Territory Strategy | Giza &amp; Upper Egypt</a:t>
            </a:r>
          </a:p>
        </p:txBody>
      </p:sp>
      <p:sp>
        <p:nvSpPr>
          <p:cNvPr id="7" name="Rectangle: Rounded Corners 6">
            <a:extLst>
              <a:ext uri="{FF2B5EF4-FFF2-40B4-BE49-F238E27FC236}">
                <a16:creationId xmlns:a16="http://schemas.microsoft.com/office/drawing/2014/main" id="{38EB1FCE-B692-E80B-09ED-F9DC6046D04A}"/>
              </a:ext>
            </a:extLst>
          </p:cNvPr>
          <p:cNvSpPr/>
          <p:nvPr/>
        </p:nvSpPr>
        <p:spPr>
          <a:xfrm>
            <a:off x="635000" y="1333500"/>
            <a:ext cx="3429000" cy="4699000"/>
          </a:xfrm>
          <a:prstGeom prst="roundRect">
            <a:avLst/>
          </a:prstGeom>
          <a:solidFill>
            <a:srgbClr val="1E293B"/>
          </a:solidFill>
          <a:ln w="19050">
            <a:solidFill>
              <a:srgbClr val="EA58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B893CA2-318A-E84F-8DA2-DFC9C1EBAF25}"/>
              </a:ext>
            </a:extLst>
          </p:cNvPr>
          <p:cNvSpPr txBox="1"/>
          <p:nvPr/>
        </p:nvSpPr>
        <p:spPr>
          <a:xfrm>
            <a:off x="787400" y="1485900"/>
            <a:ext cx="3124200" cy="323165"/>
          </a:xfrm>
          <a:prstGeom prst="rect">
            <a:avLst/>
          </a:prstGeom>
          <a:noFill/>
        </p:spPr>
        <p:txBody>
          <a:bodyPr vert="horz" rtlCol="0">
            <a:spAutoFit/>
          </a:bodyPr>
          <a:lstStyle/>
          <a:p>
            <a:pPr algn="r"/>
            <a:r>
              <a:rPr lang="ar-SA" sz="1500" b="1">
                <a:solidFill>
                  <a:srgbClr val="EA580C"/>
                </a:solidFill>
                <a:latin typeface="Segoe UI" panose="020B0502040204020203" pitchFamily="34" charset="0"/>
              </a:rPr>
              <a:t>الشهر 1: التأسيس (2,700,000 ج.م)</a:t>
            </a:r>
            <a:endParaRPr lang="en-US" sz="1500" b="1">
              <a:solidFill>
                <a:srgbClr val="EA580C"/>
              </a:solidFill>
              <a:latin typeface="Segoe UI" panose="020B0502040204020203" pitchFamily="34" charset="0"/>
            </a:endParaRPr>
          </a:p>
        </p:txBody>
      </p:sp>
      <p:sp>
        <p:nvSpPr>
          <p:cNvPr id="9" name="TextBox 8">
            <a:extLst>
              <a:ext uri="{FF2B5EF4-FFF2-40B4-BE49-F238E27FC236}">
                <a16:creationId xmlns:a16="http://schemas.microsoft.com/office/drawing/2014/main" id="{02256E6E-50C4-8E91-EBAD-C11E22B8DA0B}"/>
              </a:ext>
            </a:extLst>
          </p:cNvPr>
          <p:cNvSpPr txBox="1"/>
          <p:nvPr/>
        </p:nvSpPr>
        <p:spPr>
          <a:xfrm>
            <a:off x="787400" y="1993900"/>
            <a:ext cx="3124200" cy="923714"/>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+500,000 ج.م نمو فوق الأساس للأريا.
• الجملة: 2,000,000 ج.م | المندوب: 350,000 ج.م.
• نزول ميداني مشترك للمدير لتدقيق خطوط السير والعملاء.
• فتح 8 عملاء تجزئة جدد كاش 100% لكل مندوب.</a:t>
            </a:r>
            <a:endParaRPr lang="en-US" sz="1200">
              <a:solidFill>
                <a:srgbClr val="FFFFFF"/>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353B8CE3-9211-02C1-2D5E-4A977B17C1A7}"/>
              </a:ext>
            </a:extLst>
          </p:cNvPr>
          <p:cNvSpPr/>
          <p:nvPr/>
        </p:nvSpPr>
        <p:spPr>
          <a:xfrm>
            <a:off x="4381500" y="1333500"/>
            <a:ext cx="3429000" cy="4699000"/>
          </a:xfrm>
          <a:prstGeom prst="roundRect">
            <a:avLst/>
          </a:prstGeom>
          <a:solidFill>
            <a:srgbClr val="1E293B"/>
          </a:solidFill>
          <a:ln w="1905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D2325BC-316E-7D91-483D-3A2BB2124129}"/>
              </a:ext>
            </a:extLst>
          </p:cNvPr>
          <p:cNvSpPr txBox="1"/>
          <p:nvPr/>
        </p:nvSpPr>
        <p:spPr>
          <a:xfrm>
            <a:off x="4533900" y="1485900"/>
            <a:ext cx="3124200" cy="323165"/>
          </a:xfrm>
          <a:prstGeom prst="rect">
            <a:avLst/>
          </a:prstGeom>
          <a:noFill/>
        </p:spPr>
        <p:txBody>
          <a:bodyPr vert="horz" rtlCol="0">
            <a:spAutoFit/>
          </a:bodyPr>
          <a:lstStyle/>
          <a:p>
            <a:pPr algn="r"/>
            <a:r>
              <a:rPr lang="ar-SA" sz="1500" b="1">
                <a:solidFill>
                  <a:srgbClr val="38BDF8"/>
                </a:solidFill>
                <a:latin typeface="Segoe UI" panose="020B0502040204020203" pitchFamily="34" charset="0"/>
              </a:rPr>
              <a:t>الشهر 2: التوسع (3,200,000 ج.م)</a:t>
            </a:r>
            <a:endParaRPr lang="en-US" sz="1500" b="1">
              <a:solidFill>
                <a:srgbClr val="38BDF8"/>
              </a:solidFill>
              <a:latin typeface="Segoe UI" panose="020B0502040204020203" pitchFamily="34" charset="0"/>
            </a:endParaRPr>
          </a:p>
        </p:txBody>
      </p:sp>
      <p:sp>
        <p:nvSpPr>
          <p:cNvPr id="12" name="TextBox 11">
            <a:extLst>
              <a:ext uri="{FF2B5EF4-FFF2-40B4-BE49-F238E27FC236}">
                <a16:creationId xmlns:a16="http://schemas.microsoft.com/office/drawing/2014/main" id="{0531F871-01B6-DAF3-18C1-ABAF42762A47}"/>
              </a:ext>
            </a:extLst>
          </p:cNvPr>
          <p:cNvSpPr txBox="1"/>
          <p:nvPr/>
        </p:nvSpPr>
        <p:spPr>
          <a:xfrm>
            <a:off x="4533900" y="1993900"/>
            <a:ext cx="3124200" cy="923714"/>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+500,000 ج.م نمو إضافي للأريا.
• الجملة: 2,300,000 ج.م | المندوب: 450,000 ج.م.
• تكرار سحب المحلات القائمة وتنشيط وحدات الكاونتر.
• بدء منح سقف آجل منضبط (10</a:t>
            </a:r>
            <a:r>
              <a:rPr lang="en-US" sz="1200">
                <a:solidFill>
                  <a:srgbClr val="FFFFFF"/>
                </a:solidFill>
                <a:latin typeface="Segoe UI" panose="020B0502040204020203" pitchFamily="34" charset="0"/>
              </a:rPr>
              <a:t>K) </a:t>
            </a:r>
            <a:r>
              <a:rPr lang="ar-SA" sz="1200">
                <a:solidFill>
                  <a:srgbClr val="FFFFFF"/>
                </a:solidFill>
                <a:latin typeface="Segoe UI" panose="020B0502040204020203" pitchFamily="34" charset="0"/>
              </a:rPr>
              <a:t>للعملاء الملتزمين.</a:t>
            </a:r>
            <a:endParaRPr lang="en-US" sz="1200">
              <a:solidFill>
                <a:srgbClr val="FFFFFF"/>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1E889988-24BE-0870-8D52-5328A542C6F3}"/>
              </a:ext>
            </a:extLst>
          </p:cNvPr>
          <p:cNvSpPr/>
          <p:nvPr/>
        </p:nvSpPr>
        <p:spPr>
          <a:xfrm>
            <a:off x="8128000" y="1333500"/>
            <a:ext cx="3429000" cy="4699000"/>
          </a:xfrm>
          <a:prstGeom prst="roundRect">
            <a:avLst/>
          </a:prstGeom>
          <a:solidFill>
            <a:srgbClr val="1E293B"/>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877EEA8-51C3-F7FD-D82F-B4D64ED20BD6}"/>
              </a:ext>
            </a:extLst>
          </p:cNvPr>
          <p:cNvSpPr txBox="1"/>
          <p:nvPr/>
        </p:nvSpPr>
        <p:spPr>
          <a:xfrm>
            <a:off x="8280400" y="1485900"/>
            <a:ext cx="3124200" cy="323165"/>
          </a:xfrm>
          <a:prstGeom prst="rect">
            <a:avLst/>
          </a:prstGeom>
          <a:noFill/>
        </p:spPr>
        <p:txBody>
          <a:bodyPr vert="horz" rtlCol="0">
            <a:spAutoFit/>
          </a:bodyPr>
          <a:lstStyle/>
          <a:p>
            <a:pPr algn="r"/>
            <a:r>
              <a:rPr lang="ar-SA" sz="1500" b="1">
                <a:solidFill>
                  <a:srgbClr val="22C55E"/>
                </a:solidFill>
                <a:latin typeface="Segoe UI" panose="020B0502040204020203" pitchFamily="34" charset="0"/>
              </a:rPr>
              <a:t>الشهر 3: الاستقرار (3,700,000 ج.م)</a:t>
            </a:r>
            <a:endParaRPr lang="en-US" sz="1500" b="1">
              <a:solidFill>
                <a:srgbClr val="22C55E"/>
              </a:solidFill>
              <a:latin typeface="Segoe UI" panose="020B0502040204020203" pitchFamily="34" charset="0"/>
            </a:endParaRPr>
          </a:p>
        </p:txBody>
      </p:sp>
      <p:sp>
        <p:nvSpPr>
          <p:cNvPr id="15" name="TextBox 14">
            <a:extLst>
              <a:ext uri="{FF2B5EF4-FFF2-40B4-BE49-F238E27FC236}">
                <a16:creationId xmlns:a16="http://schemas.microsoft.com/office/drawing/2014/main" id="{1E4A710C-686F-43C7-8F0F-665D008F4218}"/>
              </a:ext>
            </a:extLst>
          </p:cNvPr>
          <p:cNvSpPr txBox="1"/>
          <p:nvPr/>
        </p:nvSpPr>
        <p:spPr>
          <a:xfrm>
            <a:off x="8280400" y="1993900"/>
            <a:ext cx="3124200" cy="1136080"/>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اكتمال المستهدف التوسعي كاملاً (+1.5</a:t>
            </a:r>
            <a:r>
              <a:rPr lang="en-US" sz="1200">
                <a:solidFill>
                  <a:srgbClr val="FFFFFF"/>
                </a:solidFill>
                <a:latin typeface="Segoe UI" panose="020B0502040204020203" pitchFamily="34" charset="0"/>
              </a:rPr>
              <a:t>M).
• </a:t>
            </a:r>
            <a:r>
              <a:rPr lang="ar-SA" sz="1200">
                <a:solidFill>
                  <a:srgbClr val="FFFFFF"/>
                </a:solidFill>
                <a:latin typeface="Segoe UI" panose="020B0502040204020203" pitchFamily="34" charset="0"/>
              </a:rPr>
              <a:t>الجملة: 2,500,000 ج.م | المندوب: 600,000 ج.م.
• استقلالية تامة للمندوبين وانتظام دورات البيع والتحصيل.
• استقرار نسبة الكاش 50%+ ومتوسط تحصيل </a:t>
            </a:r>
            <a:r>
              <a:rPr lang="en-US" sz="1200">
                <a:solidFill>
                  <a:srgbClr val="FFFFFF"/>
                </a:solidFill>
                <a:latin typeface="Segoe UI" panose="020B0502040204020203" pitchFamily="34" charset="0"/>
              </a:rPr>
              <a:t>DSO &amp;le; 20 </a:t>
            </a:r>
            <a:r>
              <a:rPr lang="ar-SA" sz="1200">
                <a:solidFill>
                  <a:srgbClr val="FFFFFF"/>
                </a:solidFill>
                <a:latin typeface="Segoe UI" panose="020B0502040204020203" pitchFamily="34" charset="0"/>
              </a:rPr>
              <a:t>يوماً.</a:t>
            </a:r>
            <a:endParaRPr lang="en-US" sz="1200">
              <a:solidFill>
                <a:srgbClr val="FFFFFF"/>
              </a:solidFill>
              <a:latin typeface="Segoe UI" panose="020B0502040204020203" pitchFamily="34" charset="0"/>
            </a:endParaRPr>
          </a:p>
        </p:txBody>
      </p:sp>
    </p:spTree>
    <p:extLst>
      <p:ext uri="{BB962C8B-B14F-4D97-AF65-F5344CB8AC3E}">
        <p14:creationId xmlns:p14="http://schemas.microsoft.com/office/powerpoint/2010/main" val="2501673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CCCF9B2-9E5B-4C90-C6E0-11243D295089}"/>
              </a:ext>
            </a:extLst>
          </p:cNvPr>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917099C-EA68-5886-4C06-56F18A2CF3B3}"/>
              </a:ext>
            </a:extLst>
          </p:cNvPr>
          <p:cNvSpPr/>
          <p:nvPr/>
        </p:nvSpPr>
        <p:spPr>
          <a:xfrm>
            <a:off x="0" y="0"/>
            <a:ext cx="12192000" cy="76200"/>
          </a:xfrm>
          <a:prstGeom prst="rect">
            <a:avLst/>
          </a:prstGeom>
          <a:solidFill>
            <a:srgbClr val="EA580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5F60B43-FC17-447F-3EBF-230B729C03B5}"/>
              </a:ext>
            </a:extLst>
          </p:cNvPr>
          <p:cNvSpPr txBox="1"/>
          <p:nvPr/>
        </p:nvSpPr>
        <p:spPr>
          <a:xfrm>
            <a:off x="635000" y="228600"/>
            <a:ext cx="10922000" cy="261610"/>
          </a:xfrm>
          <a:prstGeom prst="rect">
            <a:avLst/>
          </a:prstGeom>
          <a:noFill/>
        </p:spPr>
        <p:txBody>
          <a:bodyPr vert="horz" rtlCol="0">
            <a:spAutoFit/>
          </a:bodyPr>
          <a:lstStyle/>
          <a:p>
            <a:pPr algn="r"/>
            <a:r>
              <a:rPr lang="ar-SA" sz="1100" b="1">
                <a:solidFill>
                  <a:srgbClr val="EA580C"/>
                </a:solidFill>
                <a:latin typeface="Segoe UI" panose="020B0502040204020203" pitchFamily="34" charset="0"/>
              </a:rPr>
              <a:t>شركة 2</a:t>
            </a:r>
            <a:r>
              <a:rPr lang="en-US" sz="1100" b="1">
                <a:solidFill>
                  <a:srgbClr val="EA580C"/>
                </a:solidFill>
                <a:latin typeface="Segoe UI" panose="020B0502040204020203" pitchFamily="34" charset="0"/>
              </a:rPr>
              <a:t>B — </a:t>
            </a:r>
            <a:r>
              <a:rPr lang="ar-SA" sz="1100" b="1">
                <a:solidFill>
                  <a:srgbClr val="EA580C"/>
                </a:solidFill>
                <a:latin typeface="Segoe UI" panose="020B0502040204020203" pitchFamily="34" charset="0"/>
              </a:rPr>
              <a:t>قطاع إكسسوارات الموبايل واللابتوب | </a:t>
            </a:r>
            <a:r>
              <a:rPr lang="en-US" sz="1100" b="1">
                <a:solidFill>
                  <a:srgbClr val="EA580C"/>
                </a:solidFill>
                <a:latin typeface="Segoe UI" panose="020B0502040204020203" pitchFamily="34" charset="0"/>
              </a:rPr>
              <a:t>Master Commercial Strategy 2027</a:t>
            </a:r>
          </a:p>
        </p:txBody>
      </p:sp>
      <p:sp>
        <p:nvSpPr>
          <p:cNvPr id="5" name="TextBox 4">
            <a:extLst>
              <a:ext uri="{FF2B5EF4-FFF2-40B4-BE49-F238E27FC236}">
                <a16:creationId xmlns:a16="http://schemas.microsoft.com/office/drawing/2014/main" id="{DB38E216-CFA4-8507-428A-B6F277304B91}"/>
              </a:ext>
            </a:extLst>
          </p:cNvPr>
          <p:cNvSpPr txBox="1"/>
          <p:nvPr/>
        </p:nvSpPr>
        <p:spPr>
          <a:xfrm>
            <a:off x="635000" y="533400"/>
            <a:ext cx="10922000" cy="430887"/>
          </a:xfrm>
          <a:prstGeom prst="rect">
            <a:avLst/>
          </a:prstGeom>
          <a:noFill/>
        </p:spPr>
        <p:txBody>
          <a:bodyPr vert="horz" rtlCol="0">
            <a:spAutoFit/>
          </a:bodyPr>
          <a:lstStyle/>
          <a:p>
            <a:pPr algn="r"/>
            <a:r>
              <a:rPr lang="ar-SA" sz="2200" b="1">
                <a:solidFill>
                  <a:srgbClr val="FFFFFF"/>
                </a:solidFill>
                <a:latin typeface="Segoe UI" panose="020B0502040204020203" pitchFamily="34" charset="0"/>
              </a:rPr>
              <a:t>استراتيجية عام 2027 السنوية الواقعية (36,800,000 ج.م)</a:t>
            </a:r>
            <a:endParaRPr lang="en-US" sz="2200" b="1">
              <a:solidFill>
                <a:srgbClr val="FFFFFF"/>
              </a:solidFill>
              <a:latin typeface="Segoe UI" panose="020B0502040204020203" pitchFamily="34" charset="0"/>
            </a:endParaRPr>
          </a:p>
        </p:txBody>
      </p:sp>
      <p:sp>
        <p:nvSpPr>
          <p:cNvPr id="6" name="TextBox 5">
            <a:extLst>
              <a:ext uri="{FF2B5EF4-FFF2-40B4-BE49-F238E27FC236}">
                <a16:creationId xmlns:a16="http://schemas.microsoft.com/office/drawing/2014/main" id="{A7CB8EE2-95E4-0CAC-8218-1C83EBF0439F}"/>
              </a:ext>
            </a:extLst>
          </p:cNvPr>
          <p:cNvSpPr txBox="1"/>
          <p:nvPr/>
        </p:nvSpPr>
        <p:spPr>
          <a:xfrm>
            <a:off x="635000" y="6413500"/>
            <a:ext cx="10922000" cy="246221"/>
          </a:xfrm>
          <a:prstGeom prst="rect">
            <a:avLst/>
          </a:prstGeom>
          <a:noFill/>
        </p:spPr>
        <p:txBody>
          <a:bodyPr vert="horz" rtlCol="0">
            <a:spAutoFit/>
          </a:bodyPr>
          <a:lstStyle/>
          <a:p>
            <a:r>
              <a:rPr lang="en-US" sz="1000">
                <a:solidFill>
                  <a:srgbClr val="94A3B8"/>
                </a:solidFill>
                <a:latin typeface="Segoe UI" panose="020B0502040204020203" pitchFamily="34" charset="0"/>
              </a:rPr>
              <a:t>2B Territory Strategy | Giza &amp; Upper Egypt</a:t>
            </a:r>
          </a:p>
        </p:txBody>
      </p:sp>
      <p:sp>
        <p:nvSpPr>
          <p:cNvPr id="7" name="Rectangle: Rounded Corners 6">
            <a:extLst>
              <a:ext uri="{FF2B5EF4-FFF2-40B4-BE49-F238E27FC236}">
                <a16:creationId xmlns:a16="http://schemas.microsoft.com/office/drawing/2014/main" id="{7216E8E6-4885-9073-E302-EFDAB38C5557}"/>
              </a:ext>
            </a:extLst>
          </p:cNvPr>
          <p:cNvSpPr/>
          <p:nvPr/>
        </p:nvSpPr>
        <p:spPr>
          <a:xfrm>
            <a:off x="635000" y="1333500"/>
            <a:ext cx="2540000" cy="4699000"/>
          </a:xfrm>
          <a:prstGeom prst="roundRect">
            <a:avLst/>
          </a:prstGeom>
          <a:solidFill>
            <a:srgbClr val="1E293B"/>
          </a:solidFill>
          <a:ln w="1905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2C4DFAD-BF31-8852-9FB5-2B751F3C714B}"/>
              </a:ext>
            </a:extLst>
          </p:cNvPr>
          <p:cNvSpPr txBox="1"/>
          <p:nvPr/>
        </p:nvSpPr>
        <p:spPr>
          <a:xfrm>
            <a:off x="787400" y="1485900"/>
            <a:ext cx="2235200" cy="323165"/>
          </a:xfrm>
          <a:prstGeom prst="rect">
            <a:avLst/>
          </a:prstGeom>
          <a:noFill/>
        </p:spPr>
        <p:txBody>
          <a:bodyPr vert="horz" rtlCol="0">
            <a:spAutoFit/>
          </a:bodyPr>
          <a:lstStyle/>
          <a:p>
            <a:pPr algn="r"/>
            <a:r>
              <a:rPr lang="en-US" sz="1500" b="1">
                <a:solidFill>
                  <a:srgbClr val="38BDF8"/>
                </a:solidFill>
                <a:latin typeface="Segoe UI" panose="020B0502040204020203" pitchFamily="34" charset="0"/>
              </a:rPr>
              <a:t>Q1: </a:t>
            </a:r>
            <a:r>
              <a:rPr lang="ar-SA" sz="1500" b="1">
                <a:solidFill>
                  <a:srgbClr val="38BDF8"/>
                </a:solidFill>
                <a:latin typeface="Segoe UI" panose="020B0502040204020203" pitchFamily="34" charset="0"/>
              </a:rPr>
              <a:t>هادئ وتأسيس</a:t>
            </a:r>
            <a:endParaRPr lang="en-US" sz="1500" b="1">
              <a:solidFill>
                <a:srgbClr val="38BDF8"/>
              </a:solidFill>
              <a:latin typeface="Segoe UI" panose="020B0502040204020203" pitchFamily="34" charset="0"/>
            </a:endParaRPr>
          </a:p>
        </p:txBody>
      </p:sp>
      <p:sp>
        <p:nvSpPr>
          <p:cNvPr id="9" name="TextBox 8">
            <a:extLst>
              <a:ext uri="{FF2B5EF4-FFF2-40B4-BE49-F238E27FC236}">
                <a16:creationId xmlns:a16="http://schemas.microsoft.com/office/drawing/2014/main" id="{9E4E1015-D4A6-C9EF-7CB9-7CCB8CF112D1}"/>
              </a:ext>
            </a:extLst>
          </p:cNvPr>
          <p:cNvSpPr txBox="1"/>
          <p:nvPr/>
        </p:nvSpPr>
        <p:spPr>
          <a:xfrm>
            <a:off x="787400" y="1993900"/>
            <a:ext cx="2235200" cy="1136080"/>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7,500,000 ج.م (متوسط 2.5</a:t>
            </a:r>
            <a:r>
              <a:rPr lang="en-US" sz="1200">
                <a:solidFill>
                  <a:srgbClr val="FFFFFF"/>
                </a:solidFill>
                <a:latin typeface="Segoe UI" panose="020B0502040204020203" pitchFamily="34" charset="0"/>
              </a:rPr>
              <a:t>M / </a:t>
            </a:r>
            <a:r>
              <a:rPr lang="ar-SA" sz="1200">
                <a:solidFill>
                  <a:srgbClr val="FFFFFF"/>
                </a:solidFill>
                <a:latin typeface="Segoe UI" panose="020B0502040204020203" pitchFamily="34" charset="0"/>
              </a:rPr>
              <a:t>شهر).
• تجديد مخزون التجار بعد الجرد السنوي.
• تنشيط الشواحن وكابلات الموبايل السريعة.</a:t>
            </a:r>
            <a:endParaRPr lang="en-US" sz="1200">
              <a:solidFill>
                <a:srgbClr val="FFFFFF"/>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4BF06D4C-A1E5-86DD-DF94-983C9B4B665B}"/>
              </a:ext>
            </a:extLst>
          </p:cNvPr>
          <p:cNvSpPr/>
          <p:nvPr/>
        </p:nvSpPr>
        <p:spPr>
          <a:xfrm>
            <a:off x="3429000" y="1333500"/>
            <a:ext cx="2540000" cy="4699000"/>
          </a:xfrm>
          <a:prstGeom prst="roundRect">
            <a:avLst/>
          </a:prstGeom>
          <a:solidFill>
            <a:srgbClr val="1E293B"/>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965F68D-1C3D-1114-270F-D31CB2DB876E}"/>
              </a:ext>
            </a:extLst>
          </p:cNvPr>
          <p:cNvSpPr txBox="1"/>
          <p:nvPr/>
        </p:nvSpPr>
        <p:spPr>
          <a:xfrm>
            <a:off x="3581400" y="1485900"/>
            <a:ext cx="2235200" cy="323165"/>
          </a:xfrm>
          <a:prstGeom prst="rect">
            <a:avLst/>
          </a:prstGeom>
          <a:noFill/>
        </p:spPr>
        <p:txBody>
          <a:bodyPr vert="horz" rtlCol="0">
            <a:spAutoFit/>
          </a:bodyPr>
          <a:lstStyle/>
          <a:p>
            <a:pPr algn="r"/>
            <a:r>
              <a:rPr lang="en-US" sz="1500" b="1">
                <a:solidFill>
                  <a:srgbClr val="22C55E"/>
                </a:solidFill>
                <a:latin typeface="Segoe UI" panose="020B0502040204020203" pitchFamily="34" charset="0"/>
              </a:rPr>
              <a:t>Q2: </a:t>
            </a:r>
            <a:r>
              <a:rPr lang="ar-SA" sz="1500" b="1">
                <a:solidFill>
                  <a:srgbClr val="22C55E"/>
                </a:solidFill>
                <a:latin typeface="Segoe UI" panose="020B0502040204020203" pitchFamily="34" charset="0"/>
              </a:rPr>
              <a:t>الأعياد والصيف</a:t>
            </a:r>
            <a:endParaRPr lang="en-US" sz="1500" b="1">
              <a:solidFill>
                <a:srgbClr val="22C55E"/>
              </a:solidFill>
              <a:latin typeface="Segoe UI" panose="020B0502040204020203" pitchFamily="34" charset="0"/>
            </a:endParaRPr>
          </a:p>
        </p:txBody>
      </p:sp>
      <p:sp>
        <p:nvSpPr>
          <p:cNvPr id="12" name="TextBox 11">
            <a:extLst>
              <a:ext uri="{FF2B5EF4-FFF2-40B4-BE49-F238E27FC236}">
                <a16:creationId xmlns:a16="http://schemas.microsoft.com/office/drawing/2014/main" id="{CE13DB87-5B4A-1B9D-747B-97B9CD237051}"/>
              </a:ext>
            </a:extLst>
          </p:cNvPr>
          <p:cNvSpPr txBox="1"/>
          <p:nvPr/>
        </p:nvSpPr>
        <p:spPr>
          <a:xfrm>
            <a:off x="3581400" y="1993900"/>
            <a:ext cx="2235200" cy="1136080"/>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9,000,000 ج.م (متوسط 3.0</a:t>
            </a:r>
            <a:r>
              <a:rPr lang="en-US" sz="1200">
                <a:solidFill>
                  <a:srgbClr val="FFFFFF"/>
                </a:solidFill>
                <a:latin typeface="Segoe UI" panose="020B0502040204020203" pitchFamily="34" charset="0"/>
              </a:rPr>
              <a:t>M / </a:t>
            </a:r>
            <a:r>
              <a:rPr lang="ar-SA" sz="1200">
                <a:solidFill>
                  <a:srgbClr val="FFFFFF"/>
                </a:solidFill>
                <a:latin typeface="Segoe UI" panose="020B0502040204020203" pitchFamily="34" charset="0"/>
              </a:rPr>
              <a:t>شهر).
• مواسم عيد الفطر والأضحى والإجازات.
• بنوك الطاقة السعات الكبيرة وشواحن السيارات والسماعات.</a:t>
            </a:r>
            <a:endParaRPr lang="en-US" sz="1200">
              <a:solidFill>
                <a:srgbClr val="FFFFFF"/>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849089F4-1DAB-2B1B-18B6-1F471C9B386D}"/>
              </a:ext>
            </a:extLst>
          </p:cNvPr>
          <p:cNvSpPr/>
          <p:nvPr/>
        </p:nvSpPr>
        <p:spPr>
          <a:xfrm>
            <a:off x="6223000" y="1333500"/>
            <a:ext cx="2540000" cy="4699000"/>
          </a:xfrm>
          <a:prstGeom prst="roundRect">
            <a:avLst/>
          </a:prstGeom>
          <a:solidFill>
            <a:srgbClr val="1E293B"/>
          </a:solidFill>
          <a:ln w="19050">
            <a:solidFill>
              <a:srgbClr val="EA58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822FB20-19E6-12EF-504B-385964C1809B}"/>
              </a:ext>
            </a:extLst>
          </p:cNvPr>
          <p:cNvSpPr txBox="1"/>
          <p:nvPr/>
        </p:nvSpPr>
        <p:spPr>
          <a:xfrm>
            <a:off x="6375400" y="1485900"/>
            <a:ext cx="2235200" cy="323165"/>
          </a:xfrm>
          <a:prstGeom prst="rect">
            <a:avLst/>
          </a:prstGeom>
          <a:noFill/>
        </p:spPr>
        <p:txBody>
          <a:bodyPr vert="horz" rtlCol="0">
            <a:spAutoFit/>
          </a:bodyPr>
          <a:lstStyle/>
          <a:p>
            <a:pPr algn="r"/>
            <a:r>
              <a:rPr lang="en-US" sz="1500" b="1">
                <a:solidFill>
                  <a:srgbClr val="EA580C"/>
                </a:solidFill>
                <a:latin typeface="Segoe UI" panose="020B0502040204020203" pitchFamily="34" charset="0"/>
              </a:rPr>
              <a:t>Q3: </a:t>
            </a:r>
            <a:r>
              <a:rPr lang="ar-SA" sz="1500" b="1">
                <a:solidFill>
                  <a:srgbClr val="EA580C"/>
                </a:solidFill>
                <a:latin typeface="Segoe UI" panose="020B0502040204020203" pitchFamily="34" charset="0"/>
              </a:rPr>
              <a:t>ذروة الجامعات</a:t>
            </a:r>
            <a:endParaRPr lang="en-US" sz="1500" b="1">
              <a:solidFill>
                <a:srgbClr val="EA580C"/>
              </a:solidFill>
              <a:latin typeface="Segoe UI" panose="020B0502040204020203" pitchFamily="34" charset="0"/>
            </a:endParaRPr>
          </a:p>
        </p:txBody>
      </p:sp>
      <p:sp>
        <p:nvSpPr>
          <p:cNvPr id="15" name="TextBox 14">
            <a:extLst>
              <a:ext uri="{FF2B5EF4-FFF2-40B4-BE49-F238E27FC236}">
                <a16:creationId xmlns:a16="http://schemas.microsoft.com/office/drawing/2014/main" id="{7E04E41A-2A3C-332A-B05E-09107698D9AB}"/>
              </a:ext>
            </a:extLst>
          </p:cNvPr>
          <p:cNvSpPr txBox="1"/>
          <p:nvPr/>
        </p:nvSpPr>
        <p:spPr>
          <a:xfrm>
            <a:off x="6375400" y="1993900"/>
            <a:ext cx="2235200" cy="1348446"/>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11,000,000 ج.م (متوسط 3.66</a:t>
            </a:r>
            <a:r>
              <a:rPr lang="en-US" sz="1200">
                <a:solidFill>
                  <a:srgbClr val="FFFFFF"/>
                </a:solidFill>
                <a:latin typeface="Segoe UI" panose="020B0502040204020203" pitchFamily="34" charset="0"/>
              </a:rPr>
              <a:t>M / </a:t>
            </a:r>
            <a:r>
              <a:rPr lang="ar-SA" sz="1200">
                <a:solidFill>
                  <a:srgbClr val="FFFFFF"/>
                </a:solidFill>
                <a:latin typeface="Segoe UI" panose="020B0502040204020203" pitchFamily="34" charset="0"/>
              </a:rPr>
              <a:t>شهر).
• الموسم الذهبي: العودة للمدارس والجامعات بالجيزة.
• حقائب اللابتوب والماوس ومحولات </a:t>
            </a:r>
            <a:r>
              <a:rPr lang="en-US" sz="1200">
                <a:solidFill>
                  <a:srgbClr val="FFFFFF"/>
                </a:solidFill>
                <a:latin typeface="Segoe UI" panose="020B0502040204020203" pitchFamily="34" charset="0"/>
              </a:rPr>
              <a:t>Hubs </a:t>
            </a:r>
            <a:r>
              <a:rPr lang="ar-SA" sz="1200">
                <a:solidFill>
                  <a:srgbClr val="FFFFFF"/>
                </a:solidFill>
                <a:latin typeface="Segoe UI" panose="020B0502040204020203" pitchFamily="34" charset="0"/>
              </a:rPr>
              <a:t>بمحيط الجامعات.</a:t>
            </a:r>
            <a:endParaRPr lang="en-US" sz="1200">
              <a:solidFill>
                <a:srgbClr val="FFFFFF"/>
              </a:solidFill>
              <a:latin typeface="Segoe UI" panose="020B0502040204020203" pitchFamily="34" charset="0"/>
            </a:endParaRPr>
          </a:p>
        </p:txBody>
      </p:sp>
      <p:sp>
        <p:nvSpPr>
          <p:cNvPr id="16" name="Rectangle: Rounded Corners 15">
            <a:extLst>
              <a:ext uri="{FF2B5EF4-FFF2-40B4-BE49-F238E27FC236}">
                <a16:creationId xmlns:a16="http://schemas.microsoft.com/office/drawing/2014/main" id="{ECED7740-6AEF-6C9D-8B63-760BE376AD7D}"/>
              </a:ext>
            </a:extLst>
          </p:cNvPr>
          <p:cNvSpPr/>
          <p:nvPr/>
        </p:nvSpPr>
        <p:spPr>
          <a:xfrm>
            <a:off x="9017000" y="1333500"/>
            <a:ext cx="2540000" cy="4699000"/>
          </a:xfrm>
          <a:prstGeom prst="roundRect">
            <a:avLst/>
          </a:prstGeom>
          <a:solidFill>
            <a:srgbClr val="1E293B"/>
          </a:solidFill>
          <a:ln w="19050">
            <a:solidFill>
              <a:srgbClr val="EA58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663E22B-20FC-B412-5966-86E15FD2A999}"/>
              </a:ext>
            </a:extLst>
          </p:cNvPr>
          <p:cNvSpPr txBox="1"/>
          <p:nvPr/>
        </p:nvSpPr>
        <p:spPr>
          <a:xfrm>
            <a:off x="9169400" y="1485900"/>
            <a:ext cx="2235200" cy="323165"/>
          </a:xfrm>
          <a:prstGeom prst="rect">
            <a:avLst/>
          </a:prstGeom>
          <a:noFill/>
        </p:spPr>
        <p:txBody>
          <a:bodyPr vert="horz" rtlCol="0">
            <a:spAutoFit/>
          </a:bodyPr>
          <a:lstStyle/>
          <a:p>
            <a:pPr algn="r"/>
            <a:r>
              <a:rPr lang="en-US" sz="1500" b="1">
                <a:solidFill>
                  <a:srgbClr val="EA580C"/>
                </a:solidFill>
                <a:latin typeface="Segoe UI" panose="020B0502040204020203" pitchFamily="34" charset="0"/>
              </a:rPr>
              <a:t>Q4: </a:t>
            </a:r>
            <a:r>
              <a:rPr lang="ar-SA" sz="1500" b="1">
                <a:solidFill>
                  <a:srgbClr val="EA580C"/>
                </a:solidFill>
                <a:latin typeface="Segoe UI" panose="020B0502040204020203" pitchFamily="34" charset="0"/>
              </a:rPr>
              <a:t>عروض نهاية العام</a:t>
            </a:r>
            <a:endParaRPr lang="en-US" sz="1500" b="1">
              <a:solidFill>
                <a:srgbClr val="EA580C"/>
              </a:solidFill>
              <a:latin typeface="Segoe UI" panose="020B0502040204020203" pitchFamily="34" charset="0"/>
            </a:endParaRPr>
          </a:p>
        </p:txBody>
      </p:sp>
      <p:sp>
        <p:nvSpPr>
          <p:cNvPr id="18" name="TextBox 17">
            <a:extLst>
              <a:ext uri="{FF2B5EF4-FFF2-40B4-BE49-F238E27FC236}">
                <a16:creationId xmlns:a16="http://schemas.microsoft.com/office/drawing/2014/main" id="{D19EFC27-08EE-DCA8-EA31-41998C5B34C7}"/>
              </a:ext>
            </a:extLst>
          </p:cNvPr>
          <p:cNvSpPr txBox="1"/>
          <p:nvPr/>
        </p:nvSpPr>
        <p:spPr>
          <a:xfrm>
            <a:off x="9169400" y="1993900"/>
            <a:ext cx="2235200" cy="1348446"/>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9,300,000 ج.م (متوسط 3.1</a:t>
            </a:r>
            <a:r>
              <a:rPr lang="en-US" sz="1200">
                <a:solidFill>
                  <a:srgbClr val="FFFFFF"/>
                </a:solidFill>
                <a:latin typeface="Segoe UI" panose="020B0502040204020203" pitchFamily="34" charset="0"/>
              </a:rPr>
              <a:t>M / </a:t>
            </a:r>
            <a:r>
              <a:rPr lang="ar-SA" sz="1200">
                <a:solidFill>
                  <a:srgbClr val="FFFFFF"/>
                </a:solidFill>
                <a:latin typeface="Segoe UI" panose="020B0502040204020203" pitchFamily="34" charset="0"/>
              </a:rPr>
              <a:t>شهر).
• تخفيضات البلاك فرايداي وعروض ديسمبر.
• إغلاق الاتفاقيات السنوية وتصفية الحسابات والتحصيلات.</a:t>
            </a:r>
            <a:endParaRPr lang="en-US" sz="1200">
              <a:solidFill>
                <a:srgbClr val="FFFFFF"/>
              </a:solidFill>
              <a:latin typeface="Segoe UI" panose="020B0502040204020203" pitchFamily="34" charset="0"/>
            </a:endParaRPr>
          </a:p>
        </p:txBody>
      </p:sp>
    </p:spTree>
    <p:extLst>
      <p:ext uri="{BB962C8B-B14F-4D97-AF65-F5344CB8AC3E}">
        <p14:creationId xmlns:p14="http://schemas.microsoft.com/office/powerpoint/2010/main" val="1753512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E6A7DD-3A3C-CA26-7727-8A8CE5FA2AFD}"/>
              </a:ext>
            </a:extLst>
          </p:cNvPr>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4F6DEF0-25D1-C775-5B50-7BE0AE12F407}"/>
              </a:ext>
            </a:extLst>
          </p:cNvPr>
          <p:cNvSpPr/>
          <p:nvPr/>
        </p:nvSpPr>
        <p:spPr>
          <a:xfrm>
            <a:off x="0" y="0"/>
            <a:ext cx="12192000" cy="76200"/>
          </a:xfrm>
          <a:prstGeom prst="rect">
            <a:avLst/>
          </a:prstGeom>
          <a:solidFill>
            <a:srgbClr val="EA580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A35FE54-3AED-B4E7-CCB7-C9AAAC86E070}"/>
              </a:ext>
            </a:extLst>
          </p:cNvPr>
          <p:cNvSpPr txBox="1"/>
          <p:nvPr/>
        </p:nvSpPr>
        <p:spPr>
          <a:xfrm>
            <a:off x="635000" y="228600"/>
            <a:ext cx="10922000" cy="261610"/>
          </a:xfrm>
          <a:prstGeom prst="rect">
            <a:avLst/>
          </a:prstGeom>
          <a:noFill/>
        </p:spPr>
        <p:txBody>
          <a:bodyPr vert="horz" rtlCol="0">
            <a:spAutoFit/>
          </a:bodyPr>
          <a:lstStyle/>
          <a:p>
            <a:pPr algn="r"/>
            <a:r>
              <a:rPr lang="ar-SA" sz="1100" b="1">
                <a:solidFill>
                  <a:srgbClr val="EA580C"/>
                </a:solidFill>
                <a:latin typeface="Segoe UI" panose="020B0502040204020203" pitchFamily="34" charset="0"/>
              </a:rPr>
              <a:t>شركة 2</a:t>
            </a:r>
            <a:r>
              <a:rPr lang="en-US" sz="1100" b="1">
                <a:solidFill>
                  <a:srgbClr val="EA580C"/>
                </a:solidFill>
                <a:latin typeface="Segoe UI" panose="020B0502040204020203" pitchFamily="34" charset="0"/>
              </a:rPr>
              <a:t>B — </a:t>
            </a:r>
            <a:r>
              <a:rPr lang="ar-SA" sz="1100" b="1">
                <a:solidFill>
                  <a:srgbClr val="EA580C"/>
                </a:solidFill>
                <a:latin typeface="Segoe UI" panose="020B0502040204020203" pitchFamily="34" charset="0"/>
              </a:rPr>
              <a:t>قطاع إكسسوارات الموبايل واللابتوب | </a:t>
            </a:r>
            <a:r>
              <a:rPr lang="en-US" sz="1100" b="1">
                <a:solidFill>
                  <a:srgbClr val="EA580C"/>
                </a:solidFill>
                <a:latin typeface="Segoe UI" panose="020B0502040204020203" pitchFamily="34" charset="0"/>
              </a:rPr>
              <a:t>Master Commercial Strategy 2027</a:t>
            </a:r>
          </a:p>
        </p:txBody>
      </p:sp>
      <p:sp>
        <p:nvSpPr>
          <p:cNvPr id="5" name="TextBox 4">
            <a:extLst>
              <a:ext uri="{FF2B5EF4-FFF2-40B4-BE49-F238E27FC236}">
                <a16:creationId xmlns:a16="http://schemas.microsoft.com/office/drawing/2014/main" id="{48EA24ED-0A70-1625-3196-A55F0ED2E065}"/>
              </a:ext>
            </a:extLst>
          </p:cNvPr>
          <p:cNvSpPr txBox="1"/>
          <p:nvPr/>
        </p:nvSpPr>
        <p:spPr>
          <a:xfrm>
            <a:off x="635000" y="533400"/>
            <a:ext cx="10922000" cy="430887"/>
          </a:xfrm>
          <a:prstGeom prst="rect">
            <a:avLst/>
          </a:prstGeom>
          <a:noFill/>
        </p:spPr>
        <p:txBody>
          <a:bodyPr vert="horz" rtlCol="0">
            <a:spAutoFit/>
          </a:bodyPr>
          <a:lstStyle/>
          <a:p>
            <a:pPr algn="r"/>
            <a:r>
              <a:rPr lang="ar-SA" sz="2200" b="1">
                <a:solidFill>
                  <a:srgbClr val="FFFFFF"/>
                </a:solidFill>
                <a:latin typeface="Segoe UI" panose="020B0502040204020203" pitchFamily="34" charset="0"/>
              </a:rPr>
              <a:t>محفظة المنتجات الاستراتيجية بدون أسعار افتراضية</a:t>
            </a:r>
            <a:endParaRPr lang="en-US" sz="2200" b="1">
              <a:solidFill>
                <a:srgbClr val="FFFFFF"/>
              </a:solidFill>
              <a:latin typeface="Segoe UI" panose="020B0502040204020203" pitchFamily="34" charset="0"/>
            </a:endParaRPr>
          </a:p>
        </p:txBody>
      </p:sp>
      <p:sp>
        <p:nvSpPr>
          <p:cNvPr id="6" name="TextBox 5">
            <a:extLst>
              <a:ext uri="{FF2B5EF4-FFF2-40B4-BE49-F238E27FC236}">
                <a16:creationId xmlns:a16="http://schemas.microsoft.com/office/drawing/2014/main" id="{1FB884B7-51B1-2251-46F1-2047EBFBDBD5}"/>
              </a:ext>
            </a:extLst>
          </p:cNvPr>
          <p:cNvSpPr txBox="1"/>
          <p:nvPr/>
        </p:nvSpPr>
        <p:spPr>
          <a:xfrm>
            <a:off x="635000" y="6413500"/>
            <a:ext cx="10922000" cy="246221"/>
          </a:xfrm>
          <a:prstGeom prst="rect">
            <a:avLst/>
          </a:prstGeom>
          <a:noFill/>
        </p:spPr>
        <p:txBody>
          <a:bodyPr vert="horz" rtlCol="0">
            <a:spAutoFit/>
          </a:bodyPr>
          <a:lstStyle/>
          <a:p>
            <a:r>
              <a:rPr lang="en-US" sz="1000">
                <a:solidFill>
                  <a:srgbClr val="94A3B8"/>
                </a:solidFill>
                <a:latin typeface="Segoe UI" panose="020B0502040204020203" pitchFamily="34" charset="0"/>
              </a:rPr>
              <a:t>2B Territory Strategy | Giza &amp; Upper Egypt</a:t>
            </a:r>
          </a:p>
        </p:txBody>
      </p:sp>
      <p:sp>
        <p:nvSpPr>
          <p:cNvPr id="7" name="Rectangle: Rounded Corners 6">
            <a:extLst>
              <a:ext uri="{FF2B5EF4-FFF2-40B4-BE49-F238E27FC236}">
                <a16:creationId xmlns:a16="http://schemas.microsoft.com/office/drawing/2014/main" id="{5E5F611A-3755-5063-E266-0DC3C698CA61}"/>
              </a:ext>
            </a:extLst>
          </p:cNvPr>
          <p:cNvSpPr/>
          <p:nvPr/>
        </p:nvSpPr>
        <p:spPr>
          <a:xfrm>
            <a:off x="635000" y="1333500"/>
            <a:ext cx="5270500" cy="4699000"/>
          </a:xfrm>
          <a:prstGeom prst="roundRect">
            <a:avLst/>
          </a:prstGeom>
          <a:solidFill>
            <a:srgbClr val="1E293B"/>
          </a:solidFill>
          <a:ln w="19050">
            <a:solidFill>
              <a:srgbClr val="EA58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7A9045A-E69E-FC1F-7A57-AB34FFB5E4B1}"/>
              </a:ext>
            </a:extLst>
          </p:cNvPr>
          <p:cNvSpPr txBox="1"/>
          <p:nvPr/>
        </p:nvSpPr>
        <p:spPr>
          <a:xfrm>
            <a:off x="787400" y="1485900"/>
            <a:ext cx="4965700" cy="323165"/>
          </a:xfrm>
          <a:prstGeom prst="rect">
            <a:avLst/>
          </a:prstGeom>
          <a:noFill/>
        </p:spPr>
        <p:txBody>
          <a:bodyPr vert="horz" rtlCol="0">
            <a:spAutoFit/>
          </a:bodyPr>
          <a:lstStyle/>
          <a:p>
            <a:pPr algn="r"/>
            <a:r>
              <a:rPr lang="ar-SA" sz="1500" b="1">
                <a:solidFill>
                  <a:srgbClr val="EA580C"/>
                </a:solidFill>
                <a:latin typeface="Segoe UI" panose="020B0502040204020203" pitchFamily="34" charset="0"/>
              </a:rPr>
              <a:t>قطاع إكسسوارات الموبايل (عالي الدوران والسيولة)</a:t>
            </a:r>
            <a:endParaRPr lang="en-US" sz="1500" b="1">
              <a:solidFill>
                <a:srgbClr val="EA580C"/>
              </a:solidFill>
              <a:latin typeface="Segoe UI" panose="020B0502040204020203" pitchFamily="34" charset="0"/>
            </a:endParaRPr>
          </a:p>
        </p:txBody>
      </p:sp>
      <p:sp>
        <p:nvSpPr>
          <p:cNvPr id="9" name="TextBox 8">
            <a:extLst>
              <a:ext uri="{FF2B5EF4-FFF2-40B4-BE49-F238E27FC236}">
                <a16:creationId xmlns:a16="http://schemas.microsoft.com/office/drawing/2014/main" id="{30FF2A1C-8AC3-555D-3C81-C0B11A34BEB5}"/>
              </a:ext>
            </a:extLst>
          </p:cNvPr>
          <p:cNvSpPr txBox="1"/>
          <p:nvPr/>
        </p:nvSpPr>
        <p:spPr>
          <a:xfrm>
            <a:off x="787400" y="1993900"/>
            <a:ext cx="4965700" cy="1136080"/>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كابلات الشحن السريع (</a:t>
            </a:r>
            <a:r>
              <a:rPr lang="en-US" sz="1200">
                <a:solidFill>
                  <a:srgbClr val="FFFFFF"/>
                </a:solidFill>
                <a:latin typeface="Segoe UI" panose="020B0502040204020203" pitchFamily="34" charset="0"/>
              </a:rPr>
              <a:t>Type-C / PD / Lightning) </a:t>
            </a:r>
            <a:r>
              <a:rPr lang="ar-SA" sz="1200">
                <a:solidFill>
                  <a:srgbClr val="FFFFFF"/>
                </a:solidFill>
                <a:latin typeface="Segoe UI" panose="020B0502040204020203" pitchFamily="34" charset="0"/>
              </a:rPr>
              <a:t>بمختلف الأطوال.
• رؤوس الشواحن السريعة ومحولات السيارات المعتمدة.
• بنوك الطاقة (</a:t>
            </a:r>
            <a:r>
              <a:rPr lang="en-US" sz="1200">
                <a:solidFill>
                  <a:srgbClr val="FFFFFF"/>
                </a:solidFill>
                <a:latin typeface="Segoe UI" panose="020B0502040204020203" pitchFamily="34" charset="0"/>
              </a:rPr>
              <a:t>Power Banks) </a:t>
            </a:r>
            <a:r>
              <a:rPr lang="ar-SA" sz="1200">
                <a:solidFill>
                  <a:srgbClr val="FFFFFF"/>
                </a:solidFill>
                <a:latin typeface="Segoe UI" panose="020B0502040204020203" pitchFamily="34" charset="0"/>
              </a:rPr>
              <a:t>بسعات 10,000 و 20,000 و 30,000 </a:t>
            </a:r>
            <a:r>
              <a:rPr lang="en-US" sz="1200">
                <a:solidFill>
                  <a:srgbClr val="FFFFFF"/>
                </a:solidFill>
                <a:latin typeface="Segoe UI" panose="020B0502040204020203" pitchFamily="34" charset="0"/>
              </a:rPr>
              <a:t>mAh.
• </a:t>
            </a:r>
            <a:r>
              <a:rPr lang="ar-SA" sz="1200">
                <a:solidFill>
                  <a:srgbClr val="FFFFFF"/>
                </a:solidFill>
                <a:latin typeface="Segoe UI" panose="020B0502040204020203" pitchFamily="34" charset="0"/>
              </a:rPr>
              <a:t>سماعات الأذن السلكية وسماعات البلوتوث </a:t>
            </a:r>
            <a:r>
              <a:rPr lang="en-US" sz="1200">
                <a:solidFill>
                  <a:srgbClr val="FFFFFF"/>
                </a:solidFill>
                <a:latin typeface="Segoe UI" panose="020B0502040204020203" pitchFamily="34" charset="0"/>
              </a:rPr>
              <a:t>TWS.
• </a:t>
            </a:r>
            <a:r>
              <a:rPr lang="ar-SA" sz="1200">
                <a:solidFill>
                  <a:srgbClr val="FFFFFF"/>
                </a:solidFill>
                <a:latin typeface="Segoe UI" panose="020B0502040204020203" pitchFamily="34" charset="0"/>
              </a:rPr>
              <a:t>الدور الميداني: سيولة كاش يومية سريعة وحجز مساحة العرض في المحل.</a:t>
            </a:r>
            <a:endParaRPr lang="en-US" sz="1200">
              <a:solidFill>
                <a:srgbClr val="FFFFFF"/>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38471160-663D-ED1F-AB5B-BAAC343BF586}"/>
              </a:ext>
            </a:extLst>
          </p:cNvPr>
          <p:cNvSpPr/>
          <p:nvPr/>
        </p:nvSpPr>
        <p:spPr>
          <a:xfrm>
            <a:off x="6286500" y="1333500"/>
            <a:ext cx="5270500" cy="4699000"/>
          </a:xfrm>
          <a:prstGeom prst="roundRect">
            <a:avLst/>
          </a:prstGeom>
          <a:solidFill>
            <a:srgbClr val="1E293B"/>
          </a:solidFill>
          <a:ln w="1905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A89FBEA-539B-81E0-AA5A-8C8CE52FC6FB}"/>
              </a:ext>
            </a:extLst>
          </p:cNvPr>
          <p:cNvSpPr txBox="1"/>
          <p:nvPr/>
        </p:nvSpPr>
        <p:spPr>
          <a:xfrm>
            <a:off x="6438900" y="1485900"/>
            <a:ext cx="4965700" cy="323165"/>
          </a:xfrm>
          <a:prstGeom prst="rect">
            <a:avLst/>
          </a:prstGeom>
          <a:noFill/>
        </p:spPr>
        <p:txBody>
          <a:bodyPr vert="horz" rtlCol="0">
            <a:spAutoFit/>
          </a:bodyPr>
          <a:lstStyle/>
          <a:p>
            <a:pPr algn="r"/>
            <a:r>
              <a:rPr lang="ar-SA" sz="1500" b="1">
                <a:solidFill>
                  <a:srgbClr val="38BDF8"/>
                </a:solidFill>
                <a:latin typeface="Segoe UI" panose="020B0502040204020203" pitchFamily="34" charset="0"/>
              </a:rPr>
              <a:t>قطاع إكسسوارات اللابتوب والصفقات (عالي القيمة)</a:t>
            </a:r>
            <a:endParaRPr lang="en-US" sz="1500" b="1">
              <a:solidFill>
                <a:srgbClr val="38BDF8"/>
              </a:solidFill>
              <a:latin typeface="Segoe UI" panose="020B0502040204020203" pitchFamily="34" charset="0"/>
            </a:endParaRPr>
          </a:p>
        </p:txBody>
      </p:sp>
      <p:sp>
        <p:nvSpPr>
          <p:cNvPr id="12" name="TextBox 11">
            <a:extLst>
              <a:ext uri="{FF2B5EF4-FFF2-40B4-BE49-F238E27FC236}">
                <a16:creationId xmlns:a16="http://schemas.microsoft.com/office/drawing/2014/main" id="{CC281E21-43CC-A491-B7C2-B9168DEAF5B0}"/>
              </a:ext>
            </a:extLst>
          </p:cNvPr>
          <p:cNvSpPr txBox="1"/>
          <p:nvPr/>
        </p:nvSpPr>
        <p:spPr>
          <a:xfrm>
            <a:off x="6438900" y="1993900"/>
            <a:ext cx="4965700" cy="1136080"/>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حقائب اللابتوب المبطنة المقاومة للصدمات والمياه (</a:t>
            </a:r>
            <a:r>
              <a:rPr lang="en-US" sz="1200">
                <a:solidFill>
                  <a:srgbClr val="FFFFFF"/>
                </a:solidFill>
                <a:latin typeface="Segoe UI" panose="020B0502040204020203" pitchFamily="34" charset="0"/>
              </a:rPr>
              <a:t>Backpacks &amp; Sleeves).
• </a:t>
            </a:r>
            <a:r>
              <a:rPr lang="ar-SA" sz="1200">
                <a:solidFill>
                  <a:srgbClr val="FFFFFF"/>
                </a:solidFill>
                <a:latin typeface="Segoe UI" panose="020B0502040204020203" pitchFamily="34" charset="0"/>
              </a:rPr>
              <a:t>موزعات المنافذ المتعددة </a:t>
            </a:r>
            <a:r>
              <a:rPr lang="en-US" sz="1200">
                <a:solidFill>
                  <a:srgbClr val="FFFFFF"/>
                </a:solidFill>
                <a:latin typeface="Segoe UI" panose="020B0502040204020203" pitchFamily="34" charset="0"/>
              </a:rPr>
              <a:t>Type-C Multiport Hubs </a:t>
            </a:r>
            <a:r>
              <a:rPr lang="ar-SA" sz="1200">
                <a:solidFill>
                  <a:srgbClr val="FFFFFF"/>
                </a:solidFill>
                <a:latin typeface="Segoe UI" panose="020B0502040204020203" pitchFamily="34" charset="0"/>
              </a:rPr>
              <a:t>للابتوب والماك بوك.
• إكسسوارات الكمبيوتر: ماوسات سلكية ولاسلكية، كيبوردات، وماوس باد.
• صفقات التوريد لمعارض ومكتبات محيط الجامعات والشركات.
• الدور الميداني: رفع متوسط قيمة الفاتورة وتحقيق هوامش ربحية متميزة.</a:t>
            </a:r>
            <a:endParaRPr lang="en-US" sz="1200">
              <a:solidFill>
                <a:srgbClr val="FFFFFF"/>
              </a:solidFill>
              <a:latin typeface="Segoe UI" panose="020B0502040204020203" pitchFamily="34" charset="0"/>
            </a:endParaRPr>
          </a:p>
        </p:txBody>
      </p:sp>
    </p:spTree>
    <p:extLst>
      <p:ext uri="{BB962C8B-B14F-4D97-AF65-F5344CB8AC3E}">
        <p14:creationId xmlns:p14="http://schemas.microsoft.com/office/powerpoint/2010/main" val="1905162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731A61-278C-DEFE-6918-DD3CB56453F4}"/>
              </a:ext>
            </a:extLst>
          </p:cNvPr>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C256333-2AAF-16D4-0FC6-EB91DC1C0CCF}"/>
              </a:ext>
            </a:extLst>
          </p:cNvPr>
          <p:cNvSpPr/>
          <p:nvPr/>
        </p:nvSpPr>
        <p:spPr>
          <a:xfrm>
            <a:off x="0" y="0"/>
            <a:ext cx="12192000" cy="76200"/>
          </a:xfrm>
          <a:prstGeom prst="rect">
            <a:avLst/>
          </a:prstGeom>
          <a:solidFill>
            <a:srgbClr val="EA580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2CE01A4-CAC8-F935-C760-30DF9E4BD73F}"/>
              </a:ext>
            </a:extLst>
          </p:cNvPr>
          <p:cNvSpPr txBox="1"/>
          <p:nvPr/>
        </p:nvSpPr>
        <p:spPr>
          <a:xfrm>
            <a:off x="635000" y="228600"/>
            <a:ext cx="10922000" cy="261610"/>
          </a:xfrm>
          <a:prstGeom prst="rect">
            <a:avLst/>
          </a:prstGeom>
          <a:noFill/>
        </p:spPr>
        <p:txBody>
          <a:bodyPr vert="horz" rtlCol="0">
            <a:spAutoFit/>
          </a:bodyPr>
          <a:lstStyle/>
          <a:p>
            <a:pPr algn="r"/>
            <a:r>
              <a:rPr lang="ar-SA" sz="1100" b="1">
                <a:solidFill>
                  <a:srgbClr val="EA580C"/>
                </a:solidFill>
                <a:latin typeface="Segoe UI" panose="020B0502040204020203" pitchFamily="34" charset="0"/>
              </a:rPr>
              <a:t>شركة 2</a:t>
            </a:r>
            <a:r>
              <a:rPr lang="en-US" sz="1100" b="1">
                <a:solidFill>
                  <a:srgbClr val="EA580C"/>
                </a:solidFill>
                <a:latin typeface="Segoe UI" panose="020B0502040204020203" pitchFamily="34" charset="0"/>
              </a:rPr>
              <a:t>B — </a:t>
            </a:r>
            <a:r>
              <a:rPr lang="ar-SA" sz="1100" b="1">
                <a:solidFill>
                  <a:srgbClr val="EA580C"/>
                </a:solidFill>
                <a:latin typeface="Segoe UI" panose="020B0502040204020203" pitchFamily="34" charset="0"/>
              </a:rPr>
              <a:t>قطاع إكسسوارات الموبايل واللابتوب | </a:t>
            </a:r>
            <a:r>
              <a:rPr lang="en-US" sz="1100" b="1">
                <a:solidFill>
                  <a:srgbClr val="EA580C"/>
                </a:solidFill>
                <a:latin typeface="Segoe UI" panose="020B0502040204020203" pitchFamily="34" charset="0"/>
              </a:rPr>
              <a:t>Master Commercial Strategy 2027</a:t>
            </a:r>
          </a:p>
        </p:txBody>
      </p:sp>
      <p:sp>
        <p:nvSpPr>
          <p:cNvPr id="5" name="TextBox 4">
            <a:extLst>
              <a:ext uri="{FF2B5EF4-FFF2-40B4-BE49-F238E27FC236}">
                <a16:creationId xmlns:a16="http://schemas.microsoft.com/office/drawing/2014/main" id="{E4746ED7-4127-039F-26DB-1BA34586BEC4}"/>
              </a:ext>
            </a:extLst>
          </p:cNvPr>
          <p:cNvSpPr txBox="1"/>
          <p:nvPr/>
        </p:nvSpPr>
        <p:spPr>
          <a:xfrm>
            <a:off x="635000" y="533400"/>
            <a:ext cx="10922000" cy="430887"/>
          </a:xfrm>
          <a:prstGeom prst="rect">
            <a:avLst/>
          </a:prstGeom>
          <a:noFill/>
        </p:spPr>
        <p:txBody>
          <a:bodyPr vert="horz" rtlCol="0">
            <a:spAutoFit/>
          </a:bodyPr>
          <a:lstStyle/>
          <a:p>
            <a:pPr algn="r"/>
            <a:r>
              <a:rPr lang="ar-SA" sz="2200" b="1">
                <a:solidFill>
                  <a:srgbClr val="FFFFFF"/>
                </a:solidFill>
                <a:latin typeface="Segoe UI" panose="020B0502040204020203" pitchFamily="34" charset="0"/>
              </a:rPr>
              <a:t>حوكمة السيولة وإدارة الائتمان المنضبط (</a:t>
            </a:r>
            <a:r>
              <a:rPr lang="en-US" sz="2200" b="1">
                <a:solidFill>
                  <a:srgbClr val="FFFFFF"/>
                </a:solidFill>
                <a:latin typeface="Segoe UI" panose="020B0502040204020203" pitchFamily="34" charset="0"/>
              </a:rPr>
              <a:t>Credit Control)</a:t>
            </a:r>
          </a:p>
        </p:txBody>
      </p:sp>
      <p:sp>
        <p:nvSpPr>
          <p:cNvPr id="6" name="TextBox 5">
            <a:extLst>
              <a:ext uri="{FF2B5EF4-FFF2-40B4-BE49-F238E27FC236}">
                <a16:creationId xmlns:a16="http://schemas.microsoft.com/office/drawing/2014/main" id="{C75AB2A4-1287-A90E-B318-AFF1D0DD1FDD}"/>
              </a:ext>
            </a:extLst>
          </p:cNvPr>
          <p:cNvSpPr txBox="1"/>
          <p:nvPr/>
        </p:nvSpPr>
        <p:spPr>
          <a:xfrm>
            <a:off x="635000" y="6413500"/>
            <a:ext cx="10922000" cy="246221"/>
          </a:xfrm>
          <a:prstGeom prst="rect">
            <a:avLst/>
          </a:prstGeom>
          <a:noFill/>
        </p:spPr>
        <p:txBody>
          <a:bodyPr vert="horz" rtlCol="0">
            <a:spAutoFit/>
          </a:bodyPr>
          <a:lstStyle/>
          <a:p>
            <a:r>
              <a:rPr lang="en-US" sz="1000">
                <a:solidFill>
                  <a:srgbClr val="94A3B8"/>
                </a:solidFill>
                <a:latin typeface="Segoe UI" panose="020B0502040204020203" pitchFamily="34" charset="0"/>
              </a:rPr>
              <a:t>2B Territory Strategy | Giza &amp; Upper Egypt</a:t>
            </a:r>
          </a:p>
        </p:txBody>
      </p:sp>
      <p:sp>
        <p:nvSpPr>
          <p:cNvPr id="7" name="Rectangle: Rounded Corners 6">
            <a:extLst>
              <a:ext uri="{FF2B5EF4-FFF2-40B4-BE49-F238E27FC236}">
                <a16:creationId xmlns:a16="http://schemas.microsoft.com/office/drawing/2014/main" id="{A876CC31-9D21-7CBC-C677-E388878D2A21}"/>
              </a:ext>
            </a:extLst>
          </p:cNvPr>
          <p:cNvSpPr/>
          <p:nvPr/>
        </p:nvSpPr>
        <p:spPr>
          <a:xfrm>
            <a:off x="635000" y="1333500"/>
            <a:ext cx="3429000" cy="4699000"/>
          </a:xfrm>
          <a:prstGeom prst="roundRect">
            <a:avLst/>
          </a:prstGeom>
          <a:solidFill>
            <a:srgbClr val="1E293B"/>
          </a:solidFill>
          <a:ln w="19050">
            <a:solidFill>
              <a:srgbClr val="EA58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35C4C92-FFD4-D4F7-ED44-03A42E180191}"/>
              </a:ext>
            </a:extLst>
          </p:cNvPr>
          <p:cNvSpPr txBox="1"/>
          <p:nvPr/>
        </p:nvSpPr>
        <p:spPr>
          <a:xfrm>
            <a:off x="787400" y="1485900"/>
            <a:ext cx="3124200" cy="323165"/>
          </a:xfrm>
          <a:prstGeom prst="rect">
            <a:avLst/>
          </a:prstGeom>
          <a:noFill/>
        </p:spPr>
        <p:txBody>
          <a:bodyPr vert="horz" rtlCol="0">
            <a:spAutoFit/>
          </a:bodyPr>
          <a:lstStyle/>
          <a:p>
            <a:pPr algn="r"/>
            <a:r>
              <a:rPr lang="ar-SA" sz="1500" b="1">
                <a:solidFill>
                  <a:srgbClr val="EA580C"/>
                </a:solidFill>
                <a:latin typeface="Segoe UI" panose="020B0502040204020203" pitchFamily="34" charset="0"/>
              </a:rPr>
              <a:t>قاعدة الكاش أولاً للعملاء الجدد</a:t>
            </a:r>
            <a:endParaRPr lang="en-US" sz="1500" b="1">
              <a:solidFill>
                <a:srgbClr val="EA580C"/>
              </a:solidFill>
              <a:latin typeface="Segoe UI" panose="020B0502040204020203" pitchFamily="34" charset="0"/>
            </a:endParaRPr>
          </a:p>
        </p:txBody>
      </p:sp>
      <p:sp>
        <p:nvSpPr>
          <p:cNvPr id="9" name="TextBox 8">
            <a:extLst>
              <a:ext uri="{FF2B5EF4-FFF2-40B4-BE49-F238E27FC236}">
                <a16:creationId xmlns:a16="http://schemas.microsoft.com/office/drawing/2014/main" id="{3383A05B-12B4-E9B9-217A-13B24D284630}"/>
              </a:ext>
            </a:extLst>
          </p:cNvPr>
          <p:cNvSpPr txBox="1"/>
          <p:nvPr/>
        </p:nvSpPr>
        <p:spPr>
          <a:xfrm>
            <a:off x="787400" y="1993900"/>
            <a:ext cx="3124200" cy="711349"/>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أي محل جديد يتعامل كاش فوري 100% لأول فاتورتين.
• إثبات جدية العميل واستقراره المالي قبل فتح الحساب.
• منح خصم الكاش الفوري (2% - 3%) كحافز تشجيعي.</a:t>
            </a:r>
            <a:endParaRPr lang="en-US" sz="1200">
              <a:solidFill>
                <a:srgbClr val="FFFFFF"/>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22319DE5-1E71-237F-BCCA-CA2675C574AA}"/>
              </a:ext>
            </a:extLst>
          </p:cNvPr>
          <p:cNvSpPr/>
          <p:nvPr/>
        </p:nvSpPr>
        <p:spPr>
          <a:xfrm>
            <a:off x="4381500" y="1333500"/>
            <a:ext cx="3429000" cy="4699000"/>
          </a:xfrm>
          <a:prstGeom prst="roundRect">
            <a:avLst/>
          </a:prstGeom>
          <a:solidFill>
            <a:srgbClr val="1E293B"/>
          </a:solidFill>
          <a:ln w="1905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8CE5F8C-17A9-9FC1-C32A-6D601A66AE5B}"/>
              </a:ext>
            </a:extLst>
          </p:cNvPr>
          <p:cNvSpPr txBox="1"/>
          <p:nvPr/>
        </p:nvSpPr>
        <p:spPr>
          <a:xfrm>
            <a:off x="4533900" y="1485900"/>
            <a:ext cx="3124200" cy="323165"/>
          </a:xfrm>
          <a:prstGeom prst="rect">
            <a:avLst/>
          </a:prstGeom>
          <a:noFill/>
        </p:spPr>
        <p:txBody>
          <a:bodyPr vert="horz" rtlCol="0">
            <a:spAutoFit/>
          </a:bodyPr>
          <a:lstStyle/>
          <a:p>
            <a:pPr algn="r"/>
            <a:r>
              <a:rPr lang="ar-SA" sz="1500" b="1">
                <a:solidFill>
                  <a:srgbClr val="38BDF8"/>
                </a:solidFill>
                <a:latin typeface="Segoe UI" panose="020B0502040204020203" pitchFamily="34" charset="0"/>
              </a:rPr>
              <a:t>سقف الائتمان المنضبط للتجزئة</a:t>
            </a:r>
            <a:endParaRPr lang="en-US" sz="1500" b="1">
              <a:solidFill>
                <a:srgbClr val="38BDF8"/>
              </a:solidFill>
              <a:latin typeface="Segoe UI" panose="020B0502040204020203" pitchFamily="34" charset="0"/>
            </a:endParaRPr>
          </a:p>
        </p:txBody>
      </p:sp>
      <p:sp>
        <p:nvSpPr>
          <p:cNvPr id="12" name="TextBox 11">
            <a:extLst>
              <a:ext uri="{FF2B5EF4-FFF2-40B4-BE49-F238E27FC236}">
                <a16:creationId xmlns:a16="http://schemas.microsoft.com/office/drawing/2014/main" id="{D64E54A6-9977-DFA7-9686-76AE10FA8BEA}"/>
              </a:ext>
            </a:extLst>
          </p:cNvPr>
          <p:cNvSpPr txBox="1"/>
          <p:nvPr/>
        </p:nvSpPr>
        <p:spPr>
          <a:xfrm>
            <a:off x="4533900" y="1993900"/>
            <a:ext cx="3124200" cy="923714"/>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سقف ائتماني محدد بين 10,000 إلى 15,000 ج.م للمحل.
• مهلة سداد لا تتجاوز 10 إلى 14 يوماً كحد أقصى.
• تطبيق نظام (فاتورة تسد فاتورة) لعدم تراكم المديونية.</a:t>
            </a:r>
            <a:endParaRPr lang="en-US" sz="1200">
              <a:solidFill>
                <a:srgbClr val="FFFFFF"/>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CB969BBE-A263-6132-459C-84C21BC4E210}"/>
              </a:ext>
            </a:extLst>
          </p:cNvPr>
          <p:cNvSpPr/>
          <p:nvPr/>
        </p:nvSpPr>
        <p:spPr>
          <a:xfrm>
            <a:off x="8128000" y="1333500"/>
            <a:ext cx="3429000" cy="4699000"/>
          </a:xfrm>
          <a:prstGeom prst="roundRect">
            <a:avLst/>
          </a:prstGeom>
          <a:solidFill>
            <a:srgbClr val="1E293B"/>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30B2BEE-3958-B28A-ABE2-8C7556BF238B}"/>
              </a:ext>
            </a:extLst>
          </p:cNvPr>
          <p:cNvSpPr txBox="1"/>
          <p:nvPr/>
        </p:nvSpPr>
        <p:spPr>
          <a:xfrm>
            <a:off x="8280400" y="1485900"/>
            <a:ext cx="3124200" cy="323165"/>
          </a:xfrm>
          <a:prstGeom prst="rect">
            <a:avLst/>
          </a:prstGeom>
          <a:noFill/>
        </p:spPr>
        <p:txBody>
          <a:bodyPr vert="horz" rtlCol="0">
            <a:spAutoFit/>
          </a:bodyPr>
          <a:lstStyle/>
          <a:p>
            <a:pPr algn="r"/>
            <a:r>
              <a:rPr lang="ar-SA" sz="1500" b="1">
                <a:solidFill>
                  <a:srgbClr val="22C55E"/>
                </a:solidFill>
                <a:latin typeface="Segoe UI" panose="020B0502040204020203" pitchFamily="34" charset="0"/>
              </a:rPr>
              <a:t>قاعدة الوقف الصارم </a:t>
            </a:r>
            <a:r>
              <a:rPr lang="en-US" sz="1500" b="1">
                <a:solidFill>
                  <a:srgbClr val="22C55E"/>
                </a:solidFill>
                <a:latin typeface="Segoe UI" panose="020B0502040204020203" pitchFamily="34" charset="0"/>
              </a:rPr>
              <a:t>Stop-Supply</a:t>
            </a:r>
          </a:p>
        </p:txBody>
      </p:sp>
      <p:sp>
        <p:nvSpPr>
          <p:cNvPr id="15" name="TextBox 14">
            <a:extLst>
              <a:ext uri="{FF2B5EF4-FFF2-40B4-BE49-F238E27FC236}">
                <a16:creationId xmlns:a16="http://schemas.microsoft.com/office/drawing/2014/main" id="{C092F5AF-8382-2AFA-3593-036415B80BAE}"/>
              </a:ext>
            </a:extLst>
          </p:cNvPr>
          <p:cNvSpPr txBox="1"/>
          <p:nvPr/>
        </p:nvSpPr>
        <p:spPr>
          <a:xfrm>
            <a:off x="8280400" y="1993900"/>
            <a:ext cx="3124200" cy="711349"/>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تجميد فوري لتوريدات أي عميل يتأخر أكثر من 7 أيام.
• حظر إصدار فواتير جديدة آلياً على النظام حتى تمام السداد.
• نسبة ديون معدومة مستهدفة 0.0% في كامل قطاع الجيزة.</a:t>
            </a:r>
            <a:endParaRPr lang="en-US" sz="1200">
              <a:solidFill>
                <a:srgbClr val="FFFFFF"/>
              </a:solidFill>
              <a:latin typeface="Segoe UI" panose="020B0502040204020203" pitchFamily="34" charset="0"/>
            </a:endParaRPr>
          </a:p>
        </p:txBody>
      </p:sp>
    </p:spTree>
    <p:extLst>
      <p:ext uri="{BB962C8B-B14F-4D97-AF65-F5344CB8AC3E}">
        <p14:creationId xmlns:p14="http://schemas.microsoft.com/office/powerpoint/2010/main" val="2363002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8DE051-923B-A101-FF62-D66062F20C03}"/>
              </a:ext>
            </a:extLst>
          </p:cNvPr>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90F94E2-53D9-0161-1D43-9FB49412DE71}"/>
              </a:ext>
            </a:extLst>
          </p:cNvPr>
          <p:cNvSpPr/>
          <p:nvPr/>
        </p:nvSpPr>
        <p:spPr>
          <a:xfrm>
            <a:off x="0" y="0"/>
            <a:ext cx="12192000" cy="76200"/>
          </a:xfrm>
          <a:prstGeom prst="rect">
            <a:avLst/>
          </a:prstGeom>
          <a:solidFill>
            <a:srgbClr val="EA580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9105F8E-EFE2-B382-AEE2-E992CF49B526}"/>
              </a:ext>
            </a:extLst>
          </p:cNvPr>
          <p:cNvSpPr txBox="1"/>
          <p:nvPr/>
        </p:nvSpPr>
        <p:spPr>
          <a:xfrm>
            <a:off x="635000" y="228600"/>
            <a:ext cx="10922000" cy="261610"/>
          </a:xfrm>
          <a:prstGeom prst="rect">
            <a:avLst/>
          </a:prstGeom>
          <a:noFill/>
        </p:spPr>
        <p:txBody>
          <a:bodyPr vert="horz" rtlCol="0">
            <a:spAutoFit/>
          </a:bodyPr>
          <a:lstStyle/>
          <a:p>
            <a:pPr algn="r"/>
            <a:r>
              <a:rPr lang="ar-SA" sz="1100" b="1">
                <a:solidFill>
                  <a:srgbClr val="EA580C"/>
                </a:solidFill>
                <a:latin typeface="Segoe UI" panose="020B0502040204020203" pitchFamily="34" charset="0"/>
              </a:rPr>
              <a:t>شركة 2</a:t>
            </a:r>
            <a:r>
              <a:rPr lang="en-US" sz="1100" b="1">
                <a:solidFill>
                  <a:srgbClr val="EA580C"/>
                </a:solidFill>
                <a:latin typeface="Segoe UI" panose="020B0502040204020203" pitchFamily="34" charset="0"/>
              </a:rPr>
              <a:t>B — </a:t>
            </a:r>
            <a:r>
              <a:rPr lang="ar-SA" sz="1100" b="1">
                <a:solidFill>
                  <a:srgbClr val="EA580C"/>
                </a:solidFill>
                <a:latin typeface="Segoe UI" panose="020B0502040204020203" pitchFamily="34" charset="0"/>
              </a:rPr>
              <a:t>قطاع إكسسوارات الموبايل واللابتوب | </a:t>
            </a:r>
            <a:r>
              <a:rPr lang="en-US" sz="1100" b="1">
                <a:solidFill>
                  <a:srgbClr val="EA580C"/>
                </a:solidFill>
                <a:latin typeface="Segoe UI" panose="020B0502040204020203" pitchFamily="34" charset="0"/>
              </a:rPr>
              <a:t>Master Commercial Strategy 2027</a:t>
            </a:r>
          </a:p>
        </p:txBody>
      </p:sp>
      <p:sp>
        <p:nvSpPr>
          <p:cNvPr id="5" name="TextBox 4">
            <a:extLst>
              <a:ext uri="{FF2B5EF4-FFF2-40B4-BE49-F238E27FC236}">
                <a16:creationId xmlns:a16="http://schemas.microsoft.com/office/drawing/2014/main" id="{61937E48-2A3E-5DB9-CDCB-DFC9588FB877}"/>
              </a:ext>
            </a:extLst>
          </p:cNvPr>
          <p:cNvSpPr txBox="1"/>
          <p:nvPr/>
        </p:nvSpPr>
        <p:spPr>
          <a:xfrm>
            <a:off x="635000" y="533400"/>
            <a:ext cx="10922000" cy="430887"/>
          </a:xfrm>
          <a:prstGeom prst="rect">
            <a:avLst/>
          </a:prstGeom>
          <a:noFill/>
        </p:spPr>
        <p:txBody>
          <a:bodyPr vert="horz" rtlCol="0">
            <a:spAutoFit/>
          </a:bodyPr>
          <a:lstStyle/>
          <a:p>
            <a:pPr algn="r"/>
            <a:r>
              <a:rPr lang="ar-SA" sz="2200" b="1">
                <a:solidFill>
                  <a:srgbClr val="FFFFFF"/>
                </a:solidFill>
                <a:latin typeface="Segoe UI" panose="020B0502040204020203" pitchFamily="34" charset="0"/>
              </a:rPr>
              <a:t>بروتوكول الاستبدال الفوري للتالف ونادي ولاء التاجر (الأسلحة 1 و 2)</a:t>
            </a:r>
            <a:endParaRPr lang="en-US" sz="2200" b="1">
              <a:solidFill>
                <a:srgbClr val="FFFFFF"/>
              </a:solidFill>
              <a:latin typeface="Segoe UI" panose="020B0502040204020203" pitchFamily="34" charset="0"/>
            </a:endParaRPr>
          </a:p>
        </p:txBody>
      </p:sp>
      <p:sp>
        <p:nvSpPr>
          <p:cNvPr id="6" name="TextBox 5">
            <a:extLst>
              <a:ext uri="{FF2B5EF4-FFF2-40B4-BE49-F238E27FC236}">
                <a16:creationId xmlns:a16="http://schemas.microsoft.com/office/drawing/2014/main" id="{49AB129B-E10B-BB19-AF93-E3F85964E1A8}"/>
              </a:ext>
            </a:extLst>
          </p:cNvPr>
          <p:cNvSpPr txBox="1"/>
          <p:nvPr/>
        </p:nvSpPr>
        <p:spPr>
          <a:xfrm>
            <a:off x="635000" y="6413500"/>
            <a:ext cx="10922000" cy="246221"/>
          </a:xfrm>
          <a:prstGeom prst="rect">
            <a:avLst/>
          </a:prstGeom>
          <a:noFill/>
        </p:spPr>
        <p:txBody>
          <a:bodyPr vert="horz" rtlCol="0">
            <a:spAutoFit/>
          </a:bodyPr>
          <a:lstStyle/>
          <a:p>
            <a:r>
              <a:rPr lang="en-US" sz="1000">
                <a:solidFill>
                  <a:srgbClr val="94A3B8"/>
                </a:solidFill>
                <a:latin typeface="Segoe UI" panose="020B0502040204020203" pitchFamily="34" charset="0"/>
              </a:rPr>
              <a:t>2B Territory Strategy | Giza &amp; Upper Egypt</a:t>
            </a:r>
          </a:p>
        </p:txBody>
      </p:sp>
      <p:sp>
        <p:nvSpPr>
          <p:cNvPr id="7" name="Rectangle: Rounded Corners 6">
            <a:extLst>
              <a:ext uri="{FF2B5EF4-FFF2-40B4-BE49-F238E27FC236}">
                <a16:creationId xmlns:a16="http://schemas.microsoft.com/office/drawing/2014/main" id="{A918F413-142B-D363-3E87-CD904FA582B6}"/>
              </a:ext>
            </a:extLst>
          </p:cNvPr>
          <p:cNvSpPr/>
          <p:nvPr/>
        </p:nvSpPr>
        <p:spPr>
          <a:xfrm>
            <a:off x="635000" y="1333500"/>
            <a:ext cx="3429000" cy="4699000"/>
          </a:xfrm>
          <a:prstGeom prst="roundRect">
            <a:avLst/>
          </a:prstGeom>
          <a:solidFill>
            <a:srgbClr val="1E293B"/>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8CC62FA-96AA-5FE5-8B78-681159CDA6B1}"/>
              </a:ext>
            </a:extLst>
          </p:cNvPr>
          <p:cNvSpPr txBox="1"/>
          <p:nvPr/>
        </p:nvSpPr>
        <p:spPr>
          <a:xfrm>
            <a:off x="787400" y="1485900"/>
            <a:ext cx="3124200" cy="323165"/>
          </a:xfrm>
          <a:prstGeom prst="rect">
            <a:avLst/>
          </a:prstGeom>
          <a:noFill/>
        </p:spPr>
        <p:txBody>
          <a:bodyPr vert="horz" rtlCol="0">
            <a:spAutoFit/>
          </a:bodyPr>
          <a:lstStyle/>
          <a:p>
            <a:pPr algn="r"/>
            <a:r>
              <a:rPr lang="ar-SA" sz="1500" b="1">
                <a:solidFill>
                  <a:srgbClr val="22C55E"/>
                </a:solidFill>
                <a:latin typeface="Segoe UI" panose="020B0502040204020203" pitchFamily="34" charset="0"/>
              </a:rPr>
              <a:t>استبدال فوري بلحظتها (</a:t>
            </a:r>
            <a:r>
              <a:rPr lang="en-US" sz="1500" b="1">
                <a:solidFill>
                  <a:srgbClr val="22C55E"/>
                </a:solidFill>
                <a:latin typeface="Segoe UI" panose="020B0502040204020203" pitchFamily="34" charset="0"/>
              </a:rPr>
              <a:t>RMA)</a:t>
            </a:r>
          </a:p>
        </p:txBody>
      </p:sp>
      <p:sp>
        <p:nvSpPr>
          <p:cNvPr id="9" name="TextBox 8">
            <a:extLst>
              <a:ext uri="{FF2B5EF4-FFF2-40B4-BE49-F238E27FC236}">
                <a16:creationId xmlns:a16="http://schemas.microsoft.com/office/drawing/2014/main" id="{7A1ABA4B-EC8D-A3D1-CB0D-8D3B0F7B9668}"/>
              </a:ext>
            </a:extLst>
          </p:cNvPr>
          <p:cNvSpPr txBox="1"/>
          <p:nvPr/>
        </p:nvSpPr>
        <p:spPr>
          <a:xfrm>
            <a:off x="787400" y="1993900"/>
            <a:ext cx="3124200" cy="1136080"/>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عهدة بضاعة عائمة (</a:t>
            </a:r>
            <a:r>
              <a:rPr lang="en-US" sz="1200">
                <a:solidFill>
                  <a:srgbClr val="FFFFFF"/>
                </a:solidFill>
                <a:latin typeface="Segoe UI" panose="020B0502040204020203" pitchFamily="34" charset="0"/>
              </a:rPr>
              <a:t>Swap Stock) </a:t>
            </a:r>
            <a:r>
              <a:rPr lang="ar-SA" sz="1200">
                <a:solidFill>
                  <a:srgbClr val="FFFFFF"/>
                </a:solidFill>
                <a:latin typeface="Segoe UI" panose="020B0502040204020203" pitchFamily="34" charset="0"/>
              </a:rPr>
              <a:t>بقيمة 2,500 ج.م مع كل مندوب.
• استبدال القطعة المعيبة للتاجر فوراً خلال الزيارة في ثوانٍ.
• إزالة أكبر حاجز تردد لدى التاجر وتفضيل 2</a:t>
            </a:r>
            <a:r>
              <a:rPr lang="en-US" sz="1200">
                <a:solidFill>
                  <a:srgbClr val="FFFFFF"/>
                </a:solidFill>
                <a:latin typeface="Segoe UI" panose="020B0502040204020203" pitchFamily="34" charset="0"/>
              </a:rPr>
              <a:t>B </a:t>
            </a:r>
            <a:r>
              <a:rPr lang="ar-SA" sz="1200">
                <a:solidFill>
                  <a:srgbClr val="FFFFFF"/>
                </a:solidFill>
                <a:latin typeface="Segoe UI" panose="020B0502040204020203" pitchFamily="34" charset="0"/>
              </a:rPr>
              <a:t>على المنافسين.</a:t>
            </a:r>
            <a:endParaRPr lang="en-US" sz="1200">
              <a:solidFill>
                <a:srgbClr val="FFFFFF"/>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98DDD303-0118-F688-3B27-7A24A38F740B}"/>
              </a:ext>
            </a:extLst>
          </p:cNvPr>
          <p:cNvSpPr/>
          <p:nvPr/>
        </p:nvSpPr>
        <p:spPr>
          <a:xfrm>
            <a:off x="4381500" y="1333500"/>
            <a:ext cx="3429000" cy="4699000"/>
          </a:xfrm>
          <a:prstGeom prst="roundRect">
            <a:avLst/>
          </a:prstGeom>
          <a:solidFill>
            <a:srgbClr val="1E293B"/>
          </a:solidFill>
          <a:ln w="19050">
            <a:solidFill>
              <a:srgbClr val="EA58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F242319-80A5-193E-AF8B-17DD93A17C12}"/>
              </a:ext>
            </a:extLst>
          </p:cNvPr>
          <p:cNvSpPr txBox="1"/>
          <p:nvPr/>
        </p:nvSpPr>
        <p:spPr>
          <a:xfrm>
            <a:off x="4533900" y="1485900"/>
            <a:ext cx="3124200" cy="323165"/>
          </a:xfrm>
          <a:prstGeom prst="rect">
            <a:avLst/>
          </a:prstGeom>
          <a:noFill/>
        </p:spPr>
        <p:txBody>
          <a:bodyPr vert="horz" rtlCol="0">
            <a:spAutoFit/>
          </a:bodyPr>
          <a:lstStyle/>
          <a:p>
            <a:pPr algn="r"/>
            <a:r>
              <a:rPr lang="ar-SA" sz="1500" b="1">
                <a:solidFill>
                  <a:srgbClr val="EA580C"/>
                </a:solidFill>
                <a:latin typeface="Segoe UI" panose="020B0502040204020203" pitchFamily="34" charset="0"/>
              </a:rPr>
              <a:t>نادي ولاء التاجر الفضي والذهبي</a:t>
            </a:r>
            <a:endParaRPr lang="en-US" sz="1500" b="1">
              <a:solidFill>
                <a:srgbClr val="EA580C"/>
              </a:solidFill>
              <a:latin typeface="Segoe UI" panose="020B0502040204020203" pitchFamily="34" charset="0"/>
            </a:endParaRPr>
          </a:p>
        </p:txBody>
      </p:sp>
      <p:sp>
        <p:nvSpPr>
          <p:cNvPr id="12" name="TextBox 11">
            <a:extLst>
              <a:ext uri="{FF2B5EF4-FFF2-40B4-BE49-F238E27FC236}">
                <a16:creationId xmlns:a16="http://schemas.microsoft.com/office/drawing/2014/main" id="{0BFF9E34-2909-17BD-C45B-9006131B383E}"/>
              </a:ext>
            </a:extLst>
          </p:cNvPr>
          <p:cNvSpPr txBox="1"/>
          <p:nvPr/>
        </p:nvSpPr>
        <p:spPr>
          <a:xfrm>
            <a:off x="4533900" y="1993900"/>
            <a:ext cx="3124200" cy="1348446"/>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شريحة فضية (&amp;</a:t>
            </a:r>
            <a:r>
              <a:rPr lang="en-US" sz="1200">
                <a:solidFill>
                  <a:srgbClr val="FFFFFF"/>
                </a:solidFill>
                <a:latin typeface="Segoe UI" panose="020B0502040204020203" pitchFamily="34" charset="0"/>
              </a:rPr>
              <a:t>ge;10K): </a:t>
            </a:r>
            <a:r>
              <a:rPr lang="ar-SA" sz="1200">
                <a:solidFill>
                  <a:srgbClr val="FFFFFF"/>
                </a:solidFill>
                <a:latin typeface="Segoe UI" panose="020B0502040204020203" pitchFamily="34" charset="0"/>
              </a:rPr>
              <a:t>بونص بضاعة 300 ج.م + استاند كاونتر.
• شريحة ذهبية (&amp;</a:t>
            </a:r>
            <a:r>
              <a:rPr lang="en-US" sz="1200">
                <a:solidFill>
                  <a:srgbClr val="FFFFFF"/>
                </a:solidFill>
                <a:latin typeface="Segoe UI" panose="020B0502040204020203" pitchFamily="34" charset="0"/>
              </a:rPr>
              <a:t>ge;20K): </a:t>
            </a:r>
            <a:r>
              <a:rPr lang="ar-SA" sz="1200">
                <a:solidFill>
                  <a:srgbClr val="FFFFFF"/>
                </a:solidFill>
                <a:latin typeface="Segoe UI" panose="020B0502040204020203" pitchFamily="34" charset="0"/>
              </a:rPr>
              <a:t>بونص 800 ج.م + هدايا عينية وتيشيرتات.
• شريحة بلاتينية (&amp;</a:t>
            </a:r>
            <a:r>
              <a:rPr lang="en-US" sz="1200">
                <a:solidFill>
                  <a:srgbClr val="FFFFFF"/>
                </a:solidFill>
                <a:latin typeface="Segoe UI" panose="020B0502040204020203" pitchFamily="34" charset="0"/>
              </a:rPr>
              <a:t>ge;35K): </a:t>
            </a:r>
            <a:r>
              <a:rPr lang="ar-SA" sz="1200">
                <a:solidFill>
                  <a:srgbClr val="FFFFFF"/>
                </a:solidFill>
                <a:latin typeface="Segoe UI" panose="020B0502040204020203" pitchFamily="34" charset="0"/>
              </a:rPr>
              <a:t>بونص 1,500 ج.م + يافطة مضيئة للمحل.</a:t>
            </a:r>
            <a:endParaRPr lang="en-US" sz="1200">
              <a:solidFill>
                <a:srgbClr val="FFFFFF"/>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13B75BE3-96C2-0C30-38C3-5B1967E76C66}"/>
              </a:ext>
            </a:extLst>
          </p:cNvPr>
          <p:cNvSpPr/>
          <p:nvPr/>
        </p:nvSpPr>
        <p:spPr>
          <a:xfrm>
            <a:off x="8128000" y="1333500"/>
            <a:ext cx="3429000" cy="4699000"/>
          </a:xfrm>
          <a:prstGeom prst="roundRect">
            <a:avLst/>
          </a:prstGeom>
          <a:solidFill>
            <a:srgbClr val="1E293B"/>
          </a:solidFill>
          <a:ln w="1905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C559001-E026-AB26-313F-6C2A93084609}"/>
              </a:ext>
            </a:extLst>
          </p:cNvPr>
          <p:cNvSpPr txBox="1"/>
          <p:nvPr/>
        </p:nvSpPr>
        <p:spPr>
          <a:xfrm>
            <a:off x="8280400" y="1485900"/>
            <a:ext cx="3124200" cy="323165"/>
          </a:xfrm>
          <a:prstGeom prst="rect">
            <a:avLst/>
          </a:prstGeom>
          <a:noFill/>
        </p:spPr>
        <p:txBody>
          <a:bodyPr vert="horz" rtlCol="0">
            <a:spAutoFit/>
          </a:bodyPr>
          <a:lstStyle/>
          <a:p>
            <a:pPr algn="r"/>
            <a:r>
              <a:rPr lang="ar-SA" sz="1500" b="1">
                <a:solidFill>
                  <a:srgbClr val="38BDF8"/>
                </a:solidFill>
                <a:latin typeface="Segoe UI" panose="020B0502040204020203" pitchFamily="34" charset="0"/>
              </a:rPr>
              <a:t>انعكاسه على المبيعات</a:t>
            </a:r>
            <a:endParaRPr lang="en-US" sz="1500" b="1">
              <a:solidFill>
                <a:srgbClr val="38BDF8"/>
              </a:solidFill>
              <a:latin typeface="Segoe UI" panose="020B0502040204020203" pitchFamily="34" charset="0"/>
            </a:endParaRPr>
          </a:p>
        </p:txBody>
      </p:sp>
      <p:sp>
        <p:nvSpPr>
          <p:cNvPr id="15" name="TextBox 14">
            <a:extLst>
              <a:ext uri="{FF2B5EF4-FFF2-40B4-BE49-F238E27FC236}">
                <a16:creationId xmlns:a16="http://schemas.microsoft.com/office/drawing/2014/main" id="{1EBF64DE-2549-04FB-FE33-E301FB9D41E9}"/>
              </a:ext>
            </a:extLst>
          </p:cNvPr>
          <p:cNvSpPr txBox="1"/>
          <p:nvPr/>
        </p:nvSpPr>
        <p:spPr>
          <a:xfrm>
            <a:off x="8280400" y="1993900"/>
            <a:ext cx="3124200" cy="923714"/>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تحويل بائع المحل إلى سفير لعلامة 2</a:t>
            </a:r>
            <a:r>
              <a:rPr lang="en-US" sz="1200">
                <a:solidFill>
                  <a:srgbClr val="FFFFFF"/>
                </a:solidFill>
                <a:latin typeface="Segoe UI" panose="020B0502040204020203" pitchFamily="34" charset="0"/>
              </a:rPr>
              <a:t>B </a:t>
            </a:r>
            <a:r>
              <a:rPr lang="ar-SA" sz="1200">
                <a:solidFill>
                  <a:srgbClr val="FFFFFF"/>
                </a:solidFill>
                <a:latin typeface="Segoe UI" panose="020B0502040204020203" pitchFamily="34" charset="0"/>
              </a:rPr>
              <a:t>يوصي بها للزبون.
• ضمان انتظام سداد الفواتير للحصول على بونص نهاية الشهر.
• حماية الحصة السوقية من دخول أي علامات منافسة جديدة.</a:t>
            </a:r>
            <a:endParaRPr lang="en-US" sz="1200">
              <a:solidFill>
                <a:srgbClr val="FFFFFF"/>
              </a:solidFill>
              <a:latin typeface="Segoe UI" panose="020B0502040204020203" pitchFamily="34" charset="0"/>
            </a:endParaRPr>
          </a:p>
        </p:txBody>
      </p:sp>
    </p:spTree>
    <p:extLst>
      <p:ext uri="{BB962C8B-B14F-4D97-AF65-F5344CB8AC3E}">
        <p14:creationId xmlns:p14="http://schemas.microsoft.com/office/powerpoint/2010/main" val="1204520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EC41341-72C9-ECAB-B97D-F4D2FF22B88F}"/>
              </a:ext>
            </a:extLst>
          </p:cNvPr>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662BE85-A257-3062-3451-044BCC8C0A86}"/>
              </a:ext>
            </a:extLst>
          </p:cNvPr>
          <p:cNvSpPr/>
          <p:nvPr/>
        </p:nvSpPr>
        <p:spPr>
          <a:xfrm>
            <a:off x="0" y="0"/>
            <a:ext cx="12192000" cy="76200"/>
          </a:xfrm>
          <a:prstGeom prst="rect">
            <a:avLst/>
          </a:prstGeom>
          <a:solidFill>
            <a:srgbClr val="EA580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0D74C91-BE86-6CFD-8564-43314E642030}"/>
              </a:ext>
            </a:extLst>
          </p:cNvPr>
          <p:cNvSpPr txBox="1"/>
          <p:nvPr/>
        </p:nvSpPr>
        <p:spPr>
          <a:xfrm>
            <a:off x="635000" y="228600"/>
            <a:ext cx="10922000" cy="261610"/>
          </a:xfrm>
          <a:prstGeom prst="rect">
            <a:avLst/>
          </a:prstGeom>
          <a:noFill/>
        </p:spPr>
        <p:txBody>
          <a:bodyPr vert="horz" rtlCol="0">
            <a:spAutoFit/>
          </a:bodyPr>
          <a:lstStyle/>
          <a:p>
            <a:pPr algn="r"/>
            <a:r>
              <a:rPr lang="ar-SA" sz="1100" b="1">
                <a:solidFill>
                  <a:srgbClr val="EA580C"/>
                </a:solidFill>
                <a:latin typeface="Segoe UI" panose="020B0502040204020203" pitchFamily="34" charset="0"/>
              </a:rPr>
              <a:t>شركة 2</a:t>
            </a:r>
            <a:r>
              <a:rPr lang="en-US" sz="1100" b="1">
                <a:solidFill>
                  <a:srgbClr val="EA580C"/>
                </a:solidFill>
                <a:latin typeface="Segoe UI" panose="020B0502040204020203" pitchFamily="34" charset="0"/>
              </a:rPr>
              <a:t>B — </a:t>
            </a:r>
            <a:r>
              <a:rPr lang="ar-SA" sz="1100" b="1">
                <a:solidFill>
                  <a:srgbClr val="EA580C"/>
                </a:solidFill>
                <a:latin typeface="Segoe UI" panose="020B0502040204020203" pitchFamily="34" charset="0"/>
              </a:rPr>
              <a:t>قطاع إكسسوارات الموبايل واللابتوب | </a:t>
            </a:r>
            <a:r>
              <a:rPr lang="en-US" sz="1100" b="1">
                <a:solidFill>
                  <a:srgbClr val="EA580C"/>
                </a:solidFill>
                <a:latin typeface="Segoe UI" panose="020B0502040204020203" pitchFamily="34" charset="0"/>
              </a:rPr>
              <a:t>Master Commercial Strategy 2027</a:t>
            </a:r>
          </a:p>
        </p:txBody>
      </p:sp>
      <p:sp>
        <p:nvSpPr>
          <p:cNvPr id="5" name="TextBox 4">
            <a:extLst>
              <a:ext uri="{FF2B5EF4-FFF2-40B4-BE49-F238E27FC236}">
                <a16:creationId xmlns:a16="http://schemas.microsoft.com/office/drawing/2014/main" id="{89B73F45-D917-BF17-BBE1-CA02163BD41C}"/>
              </a:ext>
            </a:extLst>
          </p:cNvPr>
          <p:cNvSpPr txBox="1"/>
          <p:nvPr/>
        </p:nvSpPr>
        <p:spPr>
          <a:xfrm>
            <a:off x="635000" y="533400"/>
            <a:ext cx="10922000" cy="430887"/>
          </a:xfrm>
          <a:prstGeom prst="rect">
            <a:avLst/>
          </a:prstGeom>
          <a:noFill/>
        </p:spPr>
        <p:txBody>
          <a:bodyPr vert="horz" rtlCol="0">
            <a:spAutoFit/>
          </a:bodyPr>
          <a:lstStyle/>
          <a:p>
            <a:pPr algn="r"/>
            <a:r>
              <a:rPr lang="ar-SA" sz="2200" b="1">
                <a:solidFill>
                  <a:srgbClr val="FFFFFF"/>
                </a:solidFill>
                <a:latin typeface="Segoe UI" panose="020B0502040204020203" pitchFamily="34" charset="0"/>
              </a:rPr>
              <a:t>حوافز المندوبين وكاونتر الدفع وصيد المنافسين (الأسلحة 3 و 4 و 5)</a:t>
            </a:r>
            <a:endParaRPr lang="en-US" sz="2200" b="1">
              <a:solidFill>
                <a:srgbClr val="FFFFFF"/>
              </a:solidFill>
              <a:latin typeface="Segoe UI" panose="020B0502040204020203" pitchFamily="34" charset="0"/>
            </a:endParaRPr>
          </a:p>
        </p:txBody>
      </p:sp>
      <p:sp>
        <p:nvSpPr>
          <p:cNvPr id="6" name="TextBox 5">
            <a:extLst>
              <a:ext uri="{FF2B5EF4-FFF2-40B4-BE49-F238E27FC236}">
                <a16:creationId xmlns:a16="http://schemas.microsoft.com/office/drawing/2014/main" id="{C9DE7EF1-6F61-B8CE-9F86-F09A67DA4D13}"/>
              </a:ext>
            </a:extLst>
          </p:cNvPr>
          <p:cNvSpPr txBox="1"/>
          <p:nvPr/>
        </p:nvSpPr>
        <p:spPr>
          <a:xfrm>
            <a:off x="635000" y="6413500"/>
            <a:ext cx="10922000" cy="246221"/>
          </a:xfrm>
          <a:prstGeom prst="rect">
            <a:avLst/>
          </a:prstGeom>
          <a:noFill/>
        </p:spPr>
        <p:txBody>
          <a:bodyPr vert="horz" rtlCol="0">
            <a:spAutoFit/>
          </a:bodyPr>
          <a:lstStyle/>
          <a:p>
            <a:r>
              <a:rPr lang="en-US" sz="1000">
                <a:solidFill>
                  <a:srgbClr val="94A3B8"/>
                </a:solidFill>
                <a:latin typeface="Segoe UI" panose="020B0502040204020203" pitchFamily="34" charset="0"/>
              </a:rPr>
              <a:t>2B Territory Strategy | Giza &amp; Upper Egypt</a:t>
            </a:r>
          </a:p>
        </p:txBody>
      </p:sp>
      <p:sp>
        <p:nvSpPr>
          <p:cNvPr id="7" name="Rectangle: Rounded Corners 6">
            <a:extLst>
              <a:ext uri="{FF2B5EF4-FFF2-40B4-BE49-F238E27FC236}">
                <a16:creationId xmlns:a16="http://schemas.microsoft.com/office/drawing/2014/main" id="{B3F41EC4-CA24-30E8-85AB-168217832E30}"/>
              </a:ext>
            </a:extLst>
          </p:cNvPr>
          <p:cNvSpPr/>
          <p:nvPr/>
        </p:nvSpPr>
        <p:spPr>
          <a:xfrm>
            <a:off x="635000" y="1333500"/>
            <a:ext cx="3429000" cy="4699000"/>
          </a:xfrm>
          <a:prstGeom prst="roundRect">
            <a:avLst/>
          </a:prstGeom>
          <a:solidFill>
            <a:srgbClr val="1E293B"/>
          </a:solidFill>
          <a:ln w="1905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DD89531-7EAC-3CBF-93AB-41561C6ECAE7}"/>
              </a:ext>
            </a:extLst>
          </p:cNvPr>
          <p:cNvSpPr txBox="1"/>
          <p:nvPr/>
        </p:nvSpPr>
        <p:spPr>
          <a:xfrm>
            <a:off x="787400" y="1485900"/>
            <a:ext cx="3124200" cy="323165"/>
          </a:xfrm>
          <a:prstGeom prst="rect">
            <a:avLst/>
          </a:prstGeom>
          <a:noFill/>
        </p:spPr>
        <p:txBody>
          <a:bodyPr vert="horz" rtlCol="0">
            <a:spAutoFit/>
          </a:bodyPr>
          <a:lstStyle/>
          <a:p>
            <a:pPr algn="r"/>
            <a:r>
              <a:rPr lang="ar-SA" sz="1500" b="1">
                <a:solidFill>
                  <a:srgbClr val="38BDF8"/>
                </a:solidFill>
                <a:latin typeface="Segoe UI" panose="020B0502040204020203" pitchFamily="34" charset="0"/>
              </a:rPr>
              <a:t>حوافز المندوبين الفورية (</a:t>
            </a:r>
            <a:r>
              <a:rPr lang="en-US" sz="1500" b="1">
                <a:solidFill>
                  <a:srgbClr val="38BDF8"/>
                </a:solidFill>
                <a:latin typeface="Segoe UI" panose="020B0502040204020203" pitchFamily="34" charset="0"/>
              </a:rPr>
              <a:t>Bounty)</a:t>
            </a:r>
          </a:p>
        </p:txBody>
      </p:sp>
      <p:sp>
        <p:nvSpPr>
          <p:cNvPr id="9" name="TextBox 8">
            <a:extLst>
              <a:ext uri="{FF2B5EF4-FFF2-40B4-BE49-F238E27FC236}">
                <a16:creationId xmlns:a16="http://schemas.microsoft.com/office/drawing/2014/main" id="{9B9B8517-0276-2EBD-B24D-354357DF4282}"/>
              </a:ext>
            </a:extLst>
          </p:cNvPr>
          <p:cNvSpPr txBox="1"/>
          <p:nvPr/>
        </p:nvSpPr>
        <p:spPr>
          <a:xfrm>
            <a:off x="787400" y="1993900"/>
            <a:ext cx="3124200" cy="1348446"/>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مكافأة 50-100 ج.م عن كل محل جديد كاش &amp;</a:t>
            </a:r>
            <a:r>
              <a:rPr lang="en-US" sz="1200">
                <a:solidFill>
                  <a:srgbClr val="FFFFFF"/>
                </a:solidFill>
                <a:latin typeface="Segoe UI" panose="020B0502040204020203" pitchFamily="34" charset="0"/>
              </a:rPr>
              <a:t>ge; 3,000 </a:t>
            </a:r>
            <a:r>
              <a:rPr lang="ar-SA" sz="1200">
                <a:solidFill>
                  <a:srgbClr val="FFFFFF"/>
                </a:solidFill>
                <a:latin typeface="Segoe UI" panose="020B0502040204020203" pitchFamily="34" charset="0"/>
              </a:rPr>
              <a:t>ج.م.
• عمولة إضافية 0.5% </a:t>
            </a:r>
            <a:r>
              <a:rPr lang="en-US" sz="1200">
                <a:solidFill>
                  <a:srgbClr val="FFFFFF"/>
                </a:solidFill>
                <a:latin typeface="Segoe UI" panose="020B0502040204020203" pitchFamily="34" charset="0"/>
              </a:rPr>
              <a:t>Cash Kicker </a:t>
            </a:r>
            <a:r>
              <a:rPr lang="ar-SA" sz="1200">
                <a:solidFill>
                  <a:srgbClr val="FFFFFF"/>
                </a:solidFill>
                <a:latin typeface="Segoe UI" panose="020B0502040204020203" pitchFamily="34" charset="0"/>
              </a:rPr>
              <a:t>على مبيعات الكاش فوق 50%.
• سلم عمولات تصاعدي يكافئ المندوب المحقق بنسبة 100%+.</a:t>
            </a:r>
            <a:endParaRPr lang="en-US" sz="1200">
              <a:solidFill>
                <a:srgbClr val="FFFFFF"/>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133313C9-6251-9B14-EAD7-0D8C3AF903CB}"/>
              </a:ext>
            </a:extLst>
          </p:cNvPr>
          <p:cNvSpPr/>
          <p:nvPr/>
        </p:nvSpPr>
        <p:spPr>
          <a:xfrm>
            <a:off x="4381500" y="1333500"/>
            <a:ext cx="3429000" cy="4699000"/>
          </a:xfrm>
          <a:prstGeom prst="roundRect">
            <a:avLst/>
          </a:prstGeom>
          <a:solidFill>
            <a:srgbClr val="1E293B"/>
          </a:solidFill>
          <a:ln w="19050">
            <a:solidFill>
              <a:srgbClr val="EA58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CD6B6AB-2B7B-3931-5A5A-7A0259B54750}"/>
              </a:ext>
            </a:extLst>
          </p:cNvPr>
          <p:cNvSpPr txBox="1"/>
          <p:nvPr/>
        </p:nvSpPr>
        <p:spPr>
          <a:xfrm>
            <a:off x="4533900" y="1485900"/>
            <a:ext cx="3124200" cy="323165"/>
          </a:xfrm>
          <a:prstGeom prst="rect">
            <a:avLst/>
          </a:prstGeom>
          <a:noFill/>
        </p:spPr>
        <p:txBody>
          <a:bodyPr vert="horz" rtlCol="0">
            <a:spAutoFit/>
          </a:bodyPr>
          <a:lstStyle/>
          <a:p>
            <a:pPr algn="r"/>
            <a:r>
              <a:rPr lang="ar-SA" sz="1500" b="1">
                <a:solidFill>
                  <a:srgbClr val="EA580C"/>
                </a:solidFill>
                <a:latin typeface="Segoe UI" panose="020B0502040204020203" pitchFamily="34" charset="0"/>
              </a:rPr>
              <a:t>كاونتر الدفع الذهبي (</a:t>
            </a:r>
            <a:r>
              <a:rPr lang="en-US" sz="1500" b="1">
                <a:solidFill>
                  <a:srgbClr val="EA580C"/>
                </a:solidFill>
                <a:latin typeface="Segoe UI" panose="020B0502040204020203" pitchFamily="34" charset="0"/>
              </a:rPr>
              <a:t>Impulse Buy)</a:t>
            </a:r>
          </a:p>
        </p:txBody>
      </p:sp>
      <p:sp>
        <p:nvSpPr>
          <p:cNvPr id="12" name="TextBox 11">
            <a:extLst>
              <a:ext uri="{FF2B5EF4-FFF2-40B4-BE49-F238E27FC236}">
                <a16:creationId xmlns:a16="http://schemas.microsoft.com/office/drawing/2014/main" id="{CA36A8EE-9265-54A3-7625-C76F33D727FD}"/>
              </a:ext>
            </a:extLst>
          </p:cNvPr>
          <p:cNvSpPr txBox="1"/>
          <p:nvPr/>
        </p:nvSpPr>
        <p:spPr>
          <a:xfrm>
            <a:off x="4533900" y="1993900"/>
            <a:ext cx="3124200" cy="1348446"/>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استاند أكريليك مضيء مدمج يحمل 6 كابلات و3 شواحن سريعة.
• يوضع بجانب درج الكاشير مباشرة لاقتناص قرار الشراء اللحظي.
• يمنح مجاناً مقابل إقرار حصرية عرض منتجات 2</a:t>
            </a:r>
            <a:r>
              <a:rPr lang="en-US" sz="1200">
                <a:solidFill>
                  <a:srgbClr val="FFFFFF"/>
                </a:solidFill>
                <a:latin typeface="Segoe UI" panose="020B0502040204020203" pitchFamily="34" charset="0"/>
              </a:rPr>
              <a:t>B </a:t>
            </a:r>
            <a:r>
              <a:rPr lang="ar-SA" sz="1200">
                <a:solidFill>
                  <a:srgbClr val="FFFFFF"/>
                </a:solidFill>
                <a:latin typeface="Segoe UI" panose="020B0502040204020203" pitchFamily="34" charset="0"/>
              </a:rPr>
              <a:t>لمدة 6 أشهر.</a:t>
            </a:r>
            <a:endParaRPr lang="en-US" sz="1200">
              <a:solidFill>
                <a:srgbClr val="FFFFFF"/>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F5386795-5B04-8E97-F7FF-9F036BB6FABB}"/>
              </a:ext>
            </a:extLst>
          </p:cNvPr>
          <p:cNvSpPr/>
          <p:nvPr/>
        </p:nvSpPr>
        <p:spPr>
          <a:xfrm>
            <a:off x="8128000" y="1333500"/>
            <a:ext cx="3429000" cy="4699000"/>
          </a:xfrm>
          <a:prstGeom prst="roundRect">
            <a:avLst/>
          </a:prstGeom>
          <a:solidFill>
            <a:srgbClr val="1E293B"/>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BEEBAF9-70BE-3640-7A51-8011E240F9BE}"/>
              </a:ext>
            </a:extLst>
          </p:cNvPr>
          <p:cNvSpPr txBox="1"/>
          <p:nvPr/>
        </p:nvSpPr>
        <p:spPr>
          <a:xfrm>
            <a:off x="8280400" y="1485900"/>
            <a:ext cx="3124200" cy="323165"/>
          </a:xfrm>
          <a:prstGeom prst="rect">
            <a:avLst/>
          </a:prstGeom>
          <a:noFill/>
        </p:spPr>
        <p:txBody>
          <a:bodyPr vert="horz" rtlCol="0">
            <a:spAutoFit/>
          </a:bodyPr>
          <a:lstStyle/>
          <a:p>
            <a:pPr algn="r"/>
            <a:r>
              <a:rPr lang="ar-SA" sz="1500" b="1">
                <a:solidFill>
                  <a:srgbClr val="22C55E"/>
                </a:solidFill>
                <a:latin typeface="Segoe UI" panose="020B0502040204020203" pitchFamily="34" charset="0"/>
              </a:rPr>
              <a:t>صيد المنافسين (</a:t>
            </a:r>
            <a:r>
              <a:rPr lang="en-US" sz="1500" b="1">
                <a:solidFill>
                  <a:srgbClr val="22C55E"/>
                </a:solidFill>
                <a:latin typeface="Segoe UI" panose="020B0502040204020203" pitchFamily="34" charset="0"/>
              </a:rPr>
              <a:t>Trade-in Offer)</a:t>
            </a:r>
          </a:p>
        </p:txBody>
      </p:sp>
      <p:sp>
        <p:nvSpPr>
          <p:cNvPr id="15" name="TextBox 14">
            <a:extLst>
              <a:ext uri="{FF2B5EF4-FFF2-40B4-BE49-F238E27FC236}">
                <a16:creationId xmlns:a16="http://schemas.microsoft.com/office/drawing/2014/main" id="{39F9CB0F-12EE-B80A-07CF-79E4308885F3}"/>
              </a:ext>
            </a:extLst>
          </p:cNvPr>
          <p:cNvSpPr txBox="1"/>
          <p:nvPr/>
        </p:nvSpPr>
        <p:spPr>
          <a:xfrm>
            <a:off x="8280400" y="1993900"/>
            <a:ext cx="3124200" cy="1348446"/>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استهداف محلات </a:t>
            </a:r>
            <a:r>
              <a:rPr lang="en-US" sz="1200">
                <a:solidFill>
                  <a:srgbClr val="FFFFFF"/>
                </a:solidFill>
                <a:latin typeface="Segoe UI" panose="020B0502040204020203" pitchFamily="34" charset="0"/>
              </a:rPr>
              <a:t>Joyroom </a:t>
            </a:r>
            <a:r>
              <a:rPr lang="ar-SA" sz="1200">
                <a:solidFill>
                  <a:srgbClr val="FFFFFF"/>
                </a:solidFill>
                <a:latin typeface="Segoe UI" panose="020B0502040204020203" pitchFamily="34" charset="0"/>
              </a:rPr>
              <a:t>و </a:t>
            </a:r>
            <a:r>
              <a:rPr lang="en-US" sz="1200">
                <a:solidFill>
                  <a:srgbClr val="FFFFFF"/>
                </a:solidFill>
                <a:latin typeface="Segoe UI" panose="020B0502040204020203" pitchFamily="34" charset="0"/>
              </a:rPr>
              <a:t>Oraimo </a:t>
            </a:r>
            <a:r>
              <a:rPr lang="ar-SA" sz="1200">
                <a:solidFill>
                  <a:srgbClr val="FFFFFF"/>
                </a:solidFill>
                <a:latin typeface="Segoe UI" panose="020B0502040204020203" pitchFamily="34" charset="0"/>
              </a:rPr>
              <a:t>و </a:t>
            </a:r>
            <a:r>
              <a:rPr lang="en-US" sz="1200">
                <a:solidFill>
                  <a:srgbClr val="FFFFFF"/>
                </a:solidFill>
                <a:latin typeface="Segoe UI" panose="020B0502040204020203" pitchFamily="34" charset="0"/>
              </a:rPr>
              <a:t>LDNIO </a:t>
            </a:r>
            <a:r>
              <a:rPr lang="ar-SA" sz="1200">
                <a:solidFill>
                  <a:srgbClr val="FFFFFF"/>
                </a:solidFill>
                <a:latin typeface="Segoe UI" panose="020B0502040204020203" pitchFamily="34" charset="0"/>
              </a:rPr>
              <a:t>بعروض استبدال مغرية.
• خصم كاش إضافي 3% على أول طلبية استبدال لعلامة منافسة.
• استبدال التالف المتراكم لدى التاجر وتقديم دعم تسويقي لصفحته.</a:t>
            </a:r>
            <a:endParaRPr lang="en-US" sz="1200">
              <a:solidFill>
                <a:srgbClr val="FFFFFF"/>
              </a:solidFill>
              <a:latin typeface="Segoe UI" panose="020B0502040204020203" pitchFamily="34" charset="0"/>
            </a:endParaRPr>
          </a:p>
        </p:txBody>
      </p:sp>
    </p:spTree>
    <p:extLst>
      <p:ext uri="{BB962C8B-B14F-4D97-AF65-F5344CB8AC3E}">
        <p14:creationId xmlns:p14="http://schemas.microsoft.com/office/powerpoint/2010/main" val="1983146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425EDB-4FAA-436F-71DD-42F803CDF2B9}"/>
              </a:ext>
            </a:extLst>
          </p:cNvPr>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597E468-D355-F1C1-2866-BE439D304160}"/>
              </a:ext>
            </a:extLst>
          </p:cNvPr>
          <p:cNvSpPr/>
          <p:nvPr/>
        </p:nvSpPr>
        <p:spPr>
          <a:xfrm>
            <a:off x="0" y="0"/>
            <a:ext cx="12192000" cy="76200"/>
          </a:xfrm>
          <a:prstGeom prst="rect">
            <a:avLst/>
          </a:prstGeom>
          <a:solidFill>
            <a:srgbClr val="EA580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D520D86-34B8-61C8-3BD5-7BF8463364BB}"/>
              </a:ext>
            </a:extLst>
          </p:cNvPr>
          <p:cNvSpPr txBox="1"/>
          <p:nvPr/>
        </p:nvSpPr>
        <p:spPr>
          <a:xfrm>
            <a:off x="635000" y="228600"/>
            <a:ext cx="10922000" cy="261610"/>
          </a:xfrm>
          <a:prstGeom prst="rect">
            <a:avLst/>
          </a:prstGeom>
          <a:noFill/>
        </p:spPr>
        <p:txBody>
          <a:bodyPr vert="horz" rtlCol="0">
            <a:spAutoFit/>
          </a:bodyPr>
          <a:lstStyle/>
          <a:p>
            <a:pPr algn="r"/>
            <a:r>
              <a:rPr lang="ar-SA" sz="1100" b="1">
                <a:solidFill>
                  <a:srgbClr val="EA580C"/>
                </a:solidFill>
                <a:latin typeface="Segoe UI" panose="020B0502040204020203" pitchFamily="34" charset="0"/>
              </a:rPr>
              <a:t>شركة 2</a:t>
            </a:r>
            <a:r>
              <a:rPr lang="en-US" sz="1100" b="1">
                <a:solidFill>
                  <a:srgbClr val="EA580C"/>
                </a:solidFill>
                <a:latin typeface="Segoe UI" panose="020B0502040204020203" pitchFamily="34" charset="0"/>
              </a:rPr>
              <a:t>B — </a:t>
            </a:r>
            <a:r>
              <a:rPr lang="ar-SA" sz="1100" b="1">
                <a:solidFill>
                  <a:srgbClr val="EA580C"/>
                </a:solidFill>
                <a:latin typeface="Segoe UI" panose="020B0502040204020203" pitchFamily="34" charset="0"/>
              </a:rPr>
              <a:t>قطاع إكسسوارات الموبايل واللابتوب | </a:t>
            </a:r>
            <a:r>
              <a:rPr lang="en-US" sz="1100" b="1">
                <a:solidFill>
                  <a:srgbClr val="EA580C"/>
                </a:solidFill>
                <a:latin typeface="Segoe UI" panose="020B0502040204020203" pitchFamily="34" charset="0"/>
              </a:rPr>
              <a:t>Master Commercial Strategy 2027</a:t>
            </a:r>
          </a:p>
        </p:txBody>
      </p:sp>
      <p:sp>
        <p:nvSpPr>
          <p:cNvPr id="5" name="TextBox 4">
            <a:extLst>
              <a:ext uri="{FF2B5EF4-FFF2-40B4-BE49-F238E27FC236}">
                <a16:creationId xmlns:a16="http://schemas.microsoft.com/office/drawing/2014/main" id="{8DB0EE62-7FFD-A70C-1BE3-06B989455F26}"/>
              </a:ext>
            </a:extLst>
          </p:cNvPr>
          <p:cNvSpPr txBox="1"/>
          <p:nvPr/>
        </p:nvSpPr>
        <p:spPr>
          <a:xfrm>
            <a:off x="635000" y="533400"/>
            <a:ext cx="10922000" cy="430887"/>
          </a:xfrm>
          <a:prstGeom prst="rect">
            <a:avLst/>
          </a:prstGeom>
          <a:noFill/>
        </p:spPr>
        <p:txBody>
          <a:bodyPr vert="horz" rtlCol="0">
            <a:spAutoFit/>
          </a:bodyPr>
          <a:lstStyle/>
          <a:p>
            <a:pPr algn="r"/>
            <a:r>
              <a:rPr lang="ar-SA" sz="2200" b="1">
                <a:solidFill>
                  <a:srgbClr val="FFFFFF"/>
                </a:solidFill>
                <a:latin typeface="Segoe UI" panose="020B0502040204020203" pitchFamily="34" charset="0"/>
              </a:rPr>
              <a:t>طقوس الإدارة اليومية وصفقات الجامعات </a:t>
            </a:r>
            <a:r>
              <a:rPr lang="en-US" sz="2200" b="1">
                <a:solidFill>
                  <a:srgbClr val="FFFFFF"/>
                </a:solidFill>
                <a:latin typeface="Segoe UI" panose="020B0502040204020203" pitchFamily="34" charset="0"/>
              </a:rPr>
              <a:t>B2B (</a:t>
            </a:r>
            <a:r>
              <a:rPr lang="ar-SA" sz="2200" b="1">
                <a:solidFill>
                  <a:srgbClr val="FFFFFF"/>
                </a:solidFill>
                <a:latin typeface="Segoe UI" panose="020B0502040204020203" pitchFamily="34" charset="0"/>
              </a:rPr>
              <a:t>الأسلحة 6 و 7)</a:t>
            </a:r>
            <a:endParaRPr lang="en-US" sz="2200" b="1">
              <a:solidFill>
                <a:srgbClr val="FFFFFF"/>
              </a:solidFill>
              <a:latin typeface="Segoe UI" panose="020B0502040204020203" pitchFamily="34" charset="0"/>
            </a:endParaRPr>
          </a:p>
        </p:txBody>
      </p:sp>
      <p:sp>
        <p:nvSpPr>
          <p:cNvPr id="6" name="TextBox 5">
            <a:extLst>
              <a:ext uri="{FF2B5EF4-FFF2-40B4-BE49-F238E27FC236}">
                <a16:creationId xmlns:a16="http://schemas.microsoft.com/office/drawing/2014/main" id="{C6C601AD-9398-F4AC-EB40-9E45A64824EB}"/>
              </a:ext>
            </a:extLst>
          </p:cNvPr>
          <p:cNvSpPr txBox="1"/>
          <p:nvPr/>
        </p:nvSpPr>
        <p:spPr>
          <a:xfrm>
            <a:off x="635000" y="6413500"/>
            <a:ext cx="10922000" cy="246221"/>
          </a:xfrm>
          <a:prstGeom prst="rect">
            <a:avLst/>
          </a:prstGeom>
          <a:noFill/>
        </p:spPr>
        <p:txBody>
          <a:bodyPr vert="horz" rtlCol="0">
            <a:spAutoFit/>
          </a:bodyPr>
          <a:lstStyle/>
          <a:p>
            <a:r>
              <a:rPr lang="en-US" sz="1000">
                <a:solidFill>
                  <a:srgbClr val="94A3B8"/>
                </a:solidFill>
                <a:latin typeface="Segoe UI" panose="020B0502040204020203" pitchFamily="34" charset="0"/>
              </a:rPr>
              <a:t>2B Territory Strategy | Giza &amp; Upper Egypt</a:t>
            </a:r>
          </a:p>
        </p:txBody>
      </p:sp>
      <p:sp>
        <p:nvSpPr>
          <p:cNvPr id="7" name="Rectangle: Rounded Corners 6">
            <a:extLst>
              <a:ext uri="{FF2B5EF4-FFF2-40B4-BE49-F238E27FC236}">
                <a16:creationId xmlns:a16="http://schemas.microsoft.com/office/drawing/2014/main" id="{18B3A820-03C1-70B1-7BF9-000AC6F1805E}"/>
              </a:ext>
            </a:extLst>
          </p:cNvPr>
          <p:cNvSpPr/>
          <p:nvPr/>
        </p:nvSpPr>
        <p:spPr>
          <a:xfrm>
            <a:off x="635000" y="1333500"/>
            <a:ext cx="5270500" cy="4699000"/>
          </a:xfrm>
          <a:prstGeom prst="roundRect">
            <a:avLst/>
          </a:prstGeom>
          <a:solidFill>
            <a:srgbClr val="1E293B"/>
          </a:solidFill>
          <a:ln w="19050">
            <a:solidFill>
              <a:srgbClr val="EA58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9D7201A-92E5-734F-AF82-B7F2D2DCBD1A}"/>
              </a:ext>
            </a:extLst>
          </p:cNvPr>
          <p:cNvSpPr txBox="1"/>
          <p:nvPr/>
        </p:nvSpPr>
        <p:spPr>
          <a:xfrm>
            <a:off x="787400" y="1485900"/>
            <a:ext cx="4965700" cy="323165"/>
          </a:xfrm>
          <a:prstGeom prst="rect">
            <a:avLst/>
          </a:prstGeom>
          <a:noFill/>
        </p:spPr>
        <p:txBody>
          <a:bodyPr vert="horz" rtlCol="0">
            <a:spAutoFit/>
          </a:bodyPr>
          <a:lstStyle/>
          <a:p>
            <a:pPr algn="r"/>
            <a:r>
              <a:rPr lang="ar-SA" sz="1500" b="1">
                <a:solidFill>
                  <a:srgbClr val="EA580C"/>
                </a:solidFill>
                <a:latin typeface="Segoe UI" panose="020B0502040204020203" pitchFamily="34" charset="0"/>
              </a:rPr>
              <a:t>طقوس الإدارة اليومية والانضباط (</a:t>
            </a:r>
            <a:r>
              <a:rPr lang="en-US" sz="1500" b="1">
                <a:solidFill>
                  <a:srgbClr val="EA580C"/>
                </a:solidFill>
                <a:latin typeface="Segoe UI" panose="020B0502040204020203" pitchFamily="34" charset="0"/>
              </a:rPr>
              <a:t>Daily Rhythm)</a:t>
            </a:r>
          </a:p>
        </p:txBody>
      </p:sp>
      <p:sp>
        <p:nvSpPr>
          <p:cNvPr id="9" name="TextBox 8">
            <a:extLst>
              <a:ext uri="{FF2B5EF4-FFF2-40B4-BE49-F238E27FC236}">
                <a16:creationId xmlns:a16="http://schemas.microsoft.com/office/drawing/2014/main" id="{4D62D02B-D88D-55D7-11E9-80D366C07E13}"/>
              </a:ext>
            </a:extLst>
          </p:cNvPr>
          <p:cNvSpPr txBox="1"/>
          <p:nvPr/>
        </p:nvSpPr>
        <p:spPr>
          <a:xfrm>
            <a:off x="787400" y="1993900"/>
            <a:ext cx="4965700" cy="711349"/>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لقاء الصباح السريع (09:30 ص): مكالمة 10 دقائق لتدقيق خط سير اليوم وحل المشاكل.
• العمل الميداني: تنفيذ 8-10 زيارات فعلية واستبدال التالف وتحصيل النقدية.
• تقفيل اليوم المالي (06:00 م): إرسال شيت التقرير اليومي وتوريد الكاش بالبنك فوراً.</a:t>
            </a:r>
            <a:endParaRPr lang="en-US" sz="1200">
              <a:solidFill>
                <a:srgbClr val="FFFFFF"/>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4ECBDE1A-2DBA-E62B-A1FF-9EAC245C729B}"/>
              </a:ext>
            </a:extLst>
          </p:cNvPr>
          <p:cNvSpPr/>
          <p:nvPr/>
        </p:nvSpPr>
        <p:spPr>
          <a:xfrm>
            <a:off x="6286500" y="1333500"/>
            <a:ext cx="5270500" cy="4699000"/>
          </a:xfrm>
          <a:prstGeom prst="roundRect">
            <a:avLst/>
          </a:prstGeom>
          <a:solidFill>
            <a:srgbClr val="1E293B"/>
          </a:solidFill>
          <a:ln w="1905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D6278D0-6850-02B1-B801-BE2DD285A070}"/>
              </a:ext>
            </a:extLst>
          </p:cNvPr>
          <p:cNvSpPr txBox="1"/>
          <p:nvPr/>
        </p:nvSpPr>
        <p:spPr>
          <a:xfrm>
            <a:off x="6438900" y="1485900"/>
            <a:ext cx="4965700" cy="323165"/>
          </a:xfrm>
          <a:prstGeom prst="rect">
            <a:avLst/>
          </a:prstGeom>
          <a:noFill/>
        </p:spPr>
        <p:txBody>
          <a:bodyPr vert="horz" rtlCol="0">
            <a:spAutoFit/>
          </a:bodyPr>
          <a:lstStyle/>
          <a:p>
            <a:pPr algn="r"/>
            <a:r>
              <a:rPr lang="ar-SA" sz="1500" b="1">
                <a:solidFill>
                  <a:srgbClr val="38BDF8"/>
                </a:solidFill>
                <a:latin typeface="Segoe UI" panose="020B0502040204020203" pitchFamily="34" charset="0"/>
              </a:rPr>
              <a:t>كتيب صفقات الجامعات ومعارض اللابتوب بالجيزة (</a:t>
            </a:r>
            <a:r>
              <a:rPr lang="en-US" sz="1500" b="1">
                <a:solidFill>
                  <a:srgbClr val="38BDF8"/>
                </a:solidFill>
                <a:latin typeface="Segoe UI" panose="020B0502040204020203" pitchFamily="34" charset="0"/>
              </a:rPr>
              <a:t>Campus B2B)</a:t>
            </a:r>
          </a:p>
        </p:txBody>
      </p:sp>
      <p:sp>
        <p:nvSpPr>
          <p:cNvPr id="12" name="TextBox 11">
            <a:extLst>
              <a:ext uri="{FF2B5EF4-FFF2-40B4-BE49-F238E27FC236}">
                <a16:creationId xmlns:a16="http://schemas.microsoft.com/office/drawing/2014/main" id="{9D2D59D7-F498-6528-91A2-14BE820431DB}"/>
              </a:ext>
            </a:extLst>
          </p:cNvPr>
          <p:cNvSpPr txBox="1"/>
          <p:nvPr/>
        </p:nvSpPr>
        <p:spPr>
          <a:xfrm>
            <a:off x="6438900" y="1993900"/>
            <a:ext cx="4965700" cy="711349"/>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حزمة الطالب الذكي: (شنطة لابتوب 2</a:t>
            </a:r>
            <a:r>
              <a:rPr lang="en-US" sz="1200">
                <a:solidFill>
                  <a:srgbClr val="FFFFFF"/>
                </a:solidFill>
                <a:latin typeface="Segoe UI" panose="020B0502040204020203" pitchFamily="34" charset="0"/>
              </a:rPr>
              <a:t>B + </a:t>
            </a:r>
            <a:r>
              <a:rPr lang="ar-SA" sz="1200">
                <a:solidFill>
                  <a:srgbClr val="FFFFFF"/>
                </a:solidFill>
                <a:latin typeface="Segoe UI" panose="020B0502040204020203" pitchFamily="34" charset="0"/>
              </a:rPr>
              <a:t>ماوس وايرلس + موزع </a:t>
            </a:r>
            <a:r>
              <a:rPr lang="en-US" sz="1200">
                <a:solidFill>
                  <a:srgbClr val="FFFFFF"/>
                </a:solidFill>
                <a:latin typeface="Segoe UI" panose="020B0502040204020203" pitchFamily="34" charset="0"/>
              </a:rPr>
              <a:t>Type-C Hub).
• </a:t>
            </a:r>
            <a:r>
              <a:rPr lang="ar-SA" sz="1200">
                <a:solidFill>
                  <a:srgbClr val="FFFFFF"/>
                </a:solidFill>
                <a:latin typeface="Segoe UI" panose="020B0502040204020203" pitchFamily="34" charset="0"/>
              </a:rPr>
              <a:t>استهداف مكتبات ومعارض بين السرايات ومحيط جامعة القاهرة وجامعات 6 أكتوبر و </a:t>
            </a:r>
            <a:r>
              <a:rPr lang="en-US" sz="1200">
                <a:solidFill>
                  <a:srgbClr val="FFFFFF"/>
                </a:solidFill>
                <a:latin typeface="Segoe UI" panose="020B0502040204020203" pitchFamily="34" charset="0"/>
              </a:rPr>
              <a:t>MUST.
• </a:t>
            </a:r>
            <a:r>
              <a:rPr lang="ar-SA" sz="1200">
                <a:solidFill>
                  <a:srgbClr val="FFFFFF"/>
                </a:solidFill>
                <a:latin typeface="Segoe UI" panose="020B0502040204020203" pitchFamily="34" charset="0"/>
              </a:rPr>
              <a:t>عقود توريد مباشرة لاتحادات الطلاب ورعاية الشباب لمعارض ومؤتمرات الكليات.</a:t>
            </a:r>
            <a:endParaRPr lang="en-US" sz="1200">
              <a:solidFill>
                <a:srgbClr val="FFFFFF"/>
              </a:solidFill>
              <a:latin typeface="Segoe UI" panose="020B0502040204020203" pitchFamily="34" charset="0"/>
            </a:endParaRPr>
          </a:p>
        </p:txBody>
      </p:sp>
    </p:spTree>
    <p:extLst>
      <p:ext uri="{BB962C8B-B14F-4D97-AF65-F5344CB8AC3E}">
        <p14:creationId xmlns:p14="http://schemas.microsoft.com/office/powerpoint/2010/main" val="243491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64716E-4376-0D53-0813-8E735E8B90A1}"/>
              </a:ext>
            </a:extLst>
          </p:cNvPr>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FD3DF20-3BE2-1DCA-B27D-409607C0489D}"/>
              </a:ext>
            </a:extLst>
          </p:cNvPr>
          <p:cNvSpPr/>
          <p:nvPr/>
        </p:nvSpPr>
        <p:spPr>
          <a:xfrm>
            <a:off x="0" y="0"/>
            <a:ext cx="12192000" cy="76200"/>
          </a:xfrm>
          <a:prstGeom prst="rect">
            <a:avLst/>
          </a:prstGeom>
          <a:solidFill>
            <a:srgbClr val="EA580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F2ABB06-AE3D-3B1A-63CF-5A1CA51325CE}"/>
              </a:ext>
            </a:extLst>
          </p:cNvPr>
          <p:cNvSpPr txBox="1"/>
          <p:nvPr/>
        </p:nvSpPr>
        <p:spPr>
          <a:xfrm>
            <a:off x="635000" y="228600"/>
            <a:ext cx="10922000" cy="261610"/>
          </a:xfrm>
          <a:prstGeom prst="rect">
            <a:avLst/>
          </a:prstGeom>
          <a:noFill/>
        </p:spPr>
        <p:txBody>
          <a:bodyPr vert="horz" rtlCol="0">
            <a:spAutoFit/>
          </a:bodyPr>
          <a:lstStyle/>
          <a:p>
            <a:pPr algn="r"/>
            <a:r>
              <a:rPr lang="ar-SA" sz="1100" b="1">
                <a:solidFill>
                  <a:srgbClr val="EA580C"/>
                </a:solidFill>
                <a:latin typeface="Segoe UI" panose="020B0502040204020203" pitchFamily="34" charset="0"/>
              </a:rPr>
              <a:t>شركة 2</a:t>
            </a:r>
            <a:r>
              <a:rPr lang="en-US" sz="1100" b="1">
                <a:solidFill>
                  <a:srgbClr val="EA580C"/>
                </a:solidFill>
                <a:latin typeface="Segoe UI" panose="020B0502040204020203" pitchFamily="34" charset="0"/>
              </a:rPr>
              <a:t>B — </a:t>
            </a:r>
            <a:r>
              <a:rPr lang="ar-SA" sz="1100" b="1">
                <a:solidFill>
                  <a:srgbClr val="EA580C"/>
                </a:solidFill>
                <a:latin typeface="Segoe UI" panose="020B0502040204020203" pitchFamily="34" charset="0"/>
              </a:rPr>
              <a:t>قطاع إكسسوارات الموبايل واللابتوب | </a:t>
            </a:r>
            <a:r>
              <a:rPr lang="en-US" sz="1100" b="1">
                <a:solidFill>
                  <a:srgbClr val="EA580C"/>
                </a:solidFill>
                <a:latin typeface="Segoe UI" panose="020B0502040204020203" pitchFamily="34" charset="0"/>
              </a:rPr>
              <a:t>Master Commercial Strategy 2027</a:t>
            </a:r>
          </a:p>
        </p:txBody>
      </p:sp>
      <p:sp>
        <p:nvSpPr>
          <p:cNvPr id="5" name="TextBox 4">
            <a:extLst>
              <a:ext uri="{FF2B5EF4-FFF2-40B4-BE49-F238E27FC236}">
                <a16:creationId xmlns:a16="http://schemas.microsoft.com/office/drawing/2014/main" id="{B6014D2F-AD07-6CE2-2F70-FEB37E1FE648}"/>
              </a:ext>
            </a:extLst>
          </p:cNvPr>
          <p:cNvSpPr txBox="1"/>
          <p:nvPr/>
        </p:nvSpPr>
        <p:spPr>
          <a:xfrm>
            <a:off x="635000" y="533400"/>
            <a:ext cx="10922000" cy="430887"/>
          </a:xfrm>
          <a:prstGeom prst="rect">
            <a:avLst/>
          </a:prstGeom>
          <a:noFill/>
        </p:spPr>
        <p:txBody>
          <a:bodyPr vert="horz" rtlCol="0">
            <a:spAutoFit/>
          </a:bodyPr>
          <a:lstStyle/>
          <a:p>
            <a:pPr algn="r"/>
            <a:r>
              <a:rPr lang="ar-SA" sz="2200" b="1">
                <a:solidFill>
                  <a:srgbClr val="FFFFFF"/>
                </a:solidFill>
                <a:latin typeface="Segoe UI" panose="020B0502040204020203" pitchFamily="34" charset="0"/>
              </a:rPr>
              <a:t>الميثاق الختامي والتعهد القيادي لعام 2027 لقطاع الجيزة</a:t>
            </a:r>
            <a:endParaRPr lang="en-US" sz="2200" b="1">
              <a:solidFill>
                <a:srgbClr val="FFFFFF"/>
              </a:solidFill>
              <a:latin typeface="Segoe UI" panose="020B0502040204020203" pitchFamily="34" charset="0"/>
            </a:endParaRPr>
          </a:p>
        </p:txBody>
      </p:sp>
      <p:sp>
        <p:nvSpPr>
          <p:cNvPr id="6" name="TextBox 5">
            <a:extLst>
              <a:ext uri="{FF2B5EF4-FFF2-40B4-BE49-F238E27FC236}">
                <a16:creationId xmlns:a16="http://schemas.microsoft.com/office/drawing/2014/main" id="{F04E40F0-2D69-3C47-9138-9522E4454689}"/>
              </a:ext>
            </a:extLst>
          </p:cNvPr>
          <p:cNvSpPr txBox="1"/>
          <p:nvPr/>
        </p:nvSpPr>
        <p:spPr>
          <a:xfrm>
            <a:off x="635000" y="6413500"/>
            <a:ext cx="10922000" cy="246221"/>
          </a:xfrm>
          <a:prstGeom prst="rect">
            <a:avLst/>
          </a:prstGeom>
          <a:noFill/>
        </p:spPr>
        <p:txBody>
          <a:bodyPr vert="horz" rtlCol="0">
            <a:spAutoFit/>
          </a:bodyPr>
          <a:lstStyle/>
          <a:p>
            <a:r>
              <a:rPr lang="en-US" sz="1000">
                <a:solidFill>
                  <a:srgbClr val="94A3B8"/>
                </a:solidFill>
                <a:latin typeface="Segoe UI" panose="020B0502040204020203" pitchFamily="34" charset="0"/>
              </a:rPr>
              <a:t>2B Territory Strategy | Giza &amp; Upper Egypt</a:t>
            </a:r>
          </a:p>
        </p:txBody>
      </p:sp>
      <p:sp>
        <p:nvSpPr>
          <p:cNvPr id="7" name="Rectangle: Rounded Corners 6">
            <a:extLst>
              <a:ext uri="{FF2B5EF4-FFF2-40B4-BE49-F238E27FC236}">
                <a16:creationId xmlns:a16="http://schemas.microsoft.com/office/drawing/2014/main" id="{F6280556-2AAB-E8D7-78CD-77113A8D0D82}"/>
              </a:ext>
            </a:extLst>
          </p:cNvPr>
          <p:cNvSpPr/>
          <p:nvPr/>
        </p:nvSpPr>
        <p:spPr>
          <a:xfrm>
            <a:off x="635000" y="1333500"/>
            <a:ext cx="3429000" cy="4699000"/>
          </a:xfrm>
          <a:prstGeom prst="roundRect">
            <a:avLst/>
          </a:prstGeom>
          <a:solidFill>
            <a:srgbClr val="1E293B"/>
          </a:solidFill>
          <a:ln w="19050">
            <a:solidFill>
              <a:srgbClr val="EA58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2A21439-607A-5DF9-D5C2-10CE8F4BAA5C}"/>
              </a:ext>
            </a:extLst>
          </p:cNvPr>
          <p:cNvSpPr txBox="1"/>
          <p:nvPr/>
        </p:nvSpPr>
        <p:spPr>
          <a:xfrm>
            <a:off x="787400" y="1485900"/>
            <a:ext cx="3124200" cy="323165"/>
          </a:xfrm>
          <a:prstGeom prst="rect">
            <a:avLst/>
          </a:prstGeom>
          <a:noFill/>
        </p:spPr>
        <p:txBody>
          <a:bodyPr vert="horz" rtlCol="0">
            <a:spAutoFit/>
          </a:bodyPr>
          <a:lstStyle/>
          <a:p>
            <a:pPr algn="r"/>
            <a:r>
              <a:rPr lang="ar-SA" sz="1500" b="1">
                <a:solidFill>
                  <a:srgbClr val="EA580C"/>
                </a:solidFill>
                <a:latin typeface="Segoe UI" panose="020B0502040204020203" pitchFamily="34" charset="0"/>
              </a:rPr>
              <a:t>1. الانضباط والسيولة</a:t>
            </a:r>
            <a:endParaRPr lang="en-US" sz="1500" b="1">
              <a:solidFill>
                <a:srgbClr val="EA580C"/>
              </a:solidFill>
              <a:latin typeface="Segoe UI" panose="020B0502040204020203" pitchFamily="34" charset="0"/>
            </a:endParaRPr>
          </a:p>
        </p:txBody>
      </p:sp>
      <p:sp>
        <p:nvSpPr>
          <p:cNvPr id="9" name="TextBox 8">
            <a:extLst>
              <a:ext uri="{FF2B5EF4-FFF2-40B4-BE49-F238E27FC236}">
                <a16:creationId xmlns:a16="http://schemas.microsoft.com/office/drawing/2014/main" id="{DC4450D8-B7B5-09C6-8CDE-095769425393}"/>
              </a:ext>
            </a:extLst>
          </p:cNvPr>
          <p:cNvSpPr txBox="1"/>
          <p:nvPr/>
        </p:nvSpPr>
        <p:spPr>
          <a:xfrm>
            <a:off x="787400" y="1993900"/>
            <a:ext cx="3124200" cy="711349"/>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تحقيق نسبة كاش لا تقل عن 50% دائماً.
• تصفير الديون المعدومة (0.0%).
• انضباط مواعيد التحصيل والسداد بنظام </a:t>
            </a:r>
            <a:r>
              <a:rPr lang="en-US" sz="1200">
                <a:solidFill>
                  <a:srgbClr val="FFFFFF"/>
                </a:solidFill>
                <a:latin typeface="Segoe UI" panose="020B0502040204020203" pitchFamily="34" charset="0"/>
              </a:rPr>
              <a:t>Stop-Supply.</a:t>
            </a:r>
          </a:p>
        </p:txBody>
      </p:sp>
      <p:sp>
        <p:nvSpPr>
          <p:cNvPr id="10" name="Rectangle: Rounded Corners 9">
            <a:extLst>
              <a:ext uri="{FF2B5EF4-FFF2-40B4-BE49-F238E27FC236}">
                <a16:creationId xmlns:a16="http://schemas.microsoft.com/office/drawing/2014/main" id="{1BC0EDA4-E6F4-E54B-AEF6-954F8499C6FD}"/>
              </a:ext>
            </a:extLst>
          </p:cNvPr>
          <p:cNvSpPr/>
          <p:nvPr/>
        </p:nvSpPr>
        <p:spPr>
          <a:xfrm>
            <a:off x="4381500" y="1333500"/>
            <a:ext cx="3429000" cy="4699000"/>
          </a:xfrm>
          <a:prstGeom prst="roundRect">
            <a:avLst/>
          </a:prstGeom>
          <a:solidFill>
            <a:srgbClr val="1E293B"/>
          </a:solidFill>
          <a:ln w="1905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0882FA7-0D91-D287-8000-CBD6C6D19FA5}"/>
              </a:ext>
            </a:extLst>
          </p:cNvPr>
          <p:cNvSpPr txBox="1"/>
          <p:nvPr/>
        </p:nvSpPr>
        <p:spPr>
          <a:xfrm>
            <a:off x="4533900" y="1485900"/>
            <a:ext cx="3124200" cy="323165"/>
          </a:xfrm>
          <a:prstGeom prst="rect">
            <a:avLst/>
          </a:prstGeom>
          <a:noFill/>
        </p:spPr>
        <p:txBody>
          <a:bodyPr vert="horz" rtlCol="0">
            <a:spAutoFit/>
          </a:bodyPr>
          <a:lstStyle/>
          <a:p>
            <a:pPr algn="r"/>
            <a:r>
              <a:rPr lang="ar-SA" sz="1500" b="1">
                <a:solidFill>
                  <a:srgbClr val="38BDF8"/>
                </a:solidFill>
                <a:latin typeface="Segoe UI" panose="020B0502040204020203" pitchFamily="34" charset="0"/>
              </a:rPr>
              <a:t>2. الريادة الميدانية</a:t>
            </a:r>
            <a:endParaRPr lang="en-US" sz="1500" b="1">
              <a:solidFill>
                <a:srgbClr val="38BDF8"/>
              </a:solidFill>
              <a:latin typeface="Segoe UI" panose="020B0502040204020203" pitchFamily="34" charset="0"/>
            </a:endParaRPr>
          </a:p>
        </p:txBody>
      </p:sp>
      <p:sp>
        <p:nvSpPr>
          <p:cNvPr id="12" name="TextBox 11">
            <a:extLst>
              <a:ext uri="{FF2B5EF4-FFF2-40B4-BE49-F238E27FC236}">
                <a16:creationId xmlns:a16="http://schemas.microsoft.com/office/drawing/2014/main" id="{D1C1B49B-B013-8BE0-C93A-08A4CD6F503D}"/>
              </a:ext>
            </a:extLst>
          </p:cNvPr>
          <p:cNvSpPr txBox="1"/>
          <p:nvPr/>
        </p:nvSpPr>
        <p:spPr>
          <a:xfrm>
            <a:off x="4533900" y="1993900"/>
            <a:ext cx="3124200" cy="711349"/>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جعل 2</a:t>
            </a:r>
            <a:r>
              <a:rPr lang="en-US" sz="1200">
                <a:solidFill>
                  <a:srgbClr val="FFFFFF"/>
                </a:solidFill>
                <a:latin typeface="Segoe UI" panose="020B0502040204020203" pitchFamily="34" charset="0"/>
              </a:rPr>
              <a:t>B </a:t>
            </a:r>
            <a:r>
              <a:rPr lang="ar-SA" sz="1200">
                <a:solidFill>
                  <a:srgbClr val="FFFFFF"/>
                </a:solidFill>
                <a:latin typeface="Segoe UI" panose="020B0502040204020203" pitchFamily="34" charset="0"/>
              </a:rPr>
              <a:t>الخيار الأول في محلات الجيزة الكبرى.
• الاستحواذ على كاونترات الدفع ومعارض الكمبيوتر بالدقي.
• تحقيق 36.8 مليون ج.م سنوياً لعام 2027.</a:t>
            </a:r>
            <a:endParaRPr lang="en-US" sz="1200">
              <a:solidFill>
                <a:srgbClr val="FFFFFF"/>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A2522FA7-B51F-59D9-ED38-DE09233DB7D4}"/>
              </a:ext>
            </a:extLst>
          </p:cNvPr>
          <p:cNvSpPr/>
          <p:nvPr/>
        </p:nvSpPr>
        <p:spPr>
          <a:xfrm>
            <a:off x="8128000" y="1333500"/>
            <a:ext cx="3429000" cy="4699000"/>
          </a:xfrm>
          <a:prstGeom prst="roundRect">
            <a:avLst/>
          </a:prstGeom>
          <a:solidFill>
            <a:srgbClr val="1E293B"/>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09D01A1-B837-45C6-CBDF-818752A78AAE}"/>
              </a:ext>
            </a:extLst>
          </p:cNvPr>
          <p:cNvSpPr txBox="1"/>
          <p:nvPr/>
        </p:nvSpPr>
        <p:spPr>
          <a:xfrm>
            <a:off x="8280400" y="1485900"/>
            <a:ext cx="3124200" cy="323165"/>
          </a:xfrm>
          <a:prstGeom prst="rect">
            <a:avLst/>
          </a:prstGeom>
          <a:noFill/>
        </p:spPr>
        <p:txBody>
          <a:bodyPr vert="horz" rtlCol="0">
            <a:spAutoFit/>
          </a:bodyPr>
          <a:lstStyle/>
          <a:p>
            <a:pPr algn="r"/>
            <a:r>
              <a:rPr lang="ar-SA" sz="1500" b="1">
                <a:solidFill>
                  <a:srgbClr val="22C55E"/>
                </a:solidFill>
                <a:latin typeface="Segoe UI" panose="020B0502040204020203" pitchFamily="34" charset="0"/>
              </a:rPr>
              <a:t>3. فريق قوي ومستدام</a:t>
            </a:r>
            <a:endParaRPr lang="en-US" sz="1500" b="1">
              <a:solidFill>
                <a:srgbClr val="22C55E"/>
              </a:solidFill>
              <a:latin typeface="Segoe UI" panose="020B0502040204020203" pitchFamily="34" charset="0"/>
            </a:endParaRPr>
          </a:p>
        </p:txBody>
      </p:sp>
      <p:sp>
        <p:nvSpPr>
          <p:cNvPr id="15" name="TextBox 14">
            <a:extLst>
              <a:ext uri="{FF2B5EF4-FFF2-40B4-BE49-F238E27FC236}">
                <a16:creationId xmlns:a16="http://schemas.microsoft.com/office/drawing/2014/main" id="{B4848FB8-89A0-7068-83B4-4095087946C7}"/>
              </a:ext>
            </a:extLst>
          </p:cNvPr>
          <p:cNvSpPr txBox="1"/>
          <p:nvPr/>
        </p:nvSpPr>
        <p:spPr>
          <a:xfrm>
            <a:off x="8280400" y="1993900"/>
            <a:ext cx="3124200" cy="1136080"/>
          </a:xfrm>
          <a:prstGeom prst="rect">
            <a:avLst/>
          </a:prstGeom>
          <a:noFill/>
        </p:spPr>
        <p:txBody>
          <a:bodyPr vert="horz" rtlCol="0">
            <a:spAutoFit/>
          </a:bodyPr>
          <a:lstStyle/>
          <a:p>
            <a:pPr algn="r">
              <a:lnSpc>
                <a:spcPct val="115000"/>
              </a:lnSpc>
            </a:pPr>
            <a:r>
              <a:rPr lang="ar-SA" sz="1200">
                <a:solidFill>
                  <a:srgbClr val="FFFFFF"/>
                </a:solidFill>
                <a:latin typeface="Segoe UI" panose="020B0502040204020203" pitchFamily="34" charset="0"/>
              </a:rPr>
              <a:t>• تطوير المندوبين الجدد وتحويلهم إلى كوادر مبيعات محترفة.
• بيئة عمل محفزة قائمة على المكافآت العادلة وبونص الكاش.
• تحقيق أعلى إنتاجية وأعلى أريا مبيعاً في شركة 2</a:t>
            </a:r>
            <a:r>
              <a:rPr lang="en-US" sz="1200">
                <a:solidFill>
                  <a:srgbClr val="FFFFFF"/>
                </a:solidFill>
                <a:latin typeface="Segoe UI" panose="020B0502040204020203" pitchFamily="34" charset="0"/>
              </a:rPr>
              <a:t>B.</a:t>
            </a:r>
          </a:p>
        </p:txBody>
      </p:sp>
    </p:spTree>
    <p:extLst>
      <p:ext uri="{BB962C8B-B14F-4D97-AF65-F5344CB8AC3E}">
        <p14:creationId xmlns:p14="http://schemas.microsoft.com/office/powerpoint/2010/main" val="29693059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2152</Words>
  <Application>Microsoft Office PowerPoint</Application>
  <PresentationFormat>Custom</PresentationFormat>
  <Paragraphs>128</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Abdallah Ahmed</dc:creator>
  <cp:lastModifiedBy>Abdallah Ahmed</cp:lastModifiedBy>
  <cp:revision>1</cp:revision>
  <dcterms:created xsi:type="dcterms:W3CDTF">2026-10-01T01:55:01Z</dcterms:created>
  <dcterms:modified xsi:type="dcterms:W3CDTF">2026-10-01T01:55:01Z</dcterms:modified>
</cp:coreProperties>
</file>