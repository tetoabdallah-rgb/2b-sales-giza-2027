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059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AEFEF8-D55B-478F-8C2D-D52386FE7F1C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4BA930-0EC2-4381-8CB1-EBB93E48B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018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/>
              <a:t>مساء الخير جميعاً. نعرض اليوم خطة التوسع الميدانية الشاملة لقطاع الجيزة الكبرى لعام 2027 وفق نظام التقييم الربع سنوي (الكوارتر)، حيث نستهدف 3.7 مليون ج.م لكل 3 شهور (بواقع 14.8 مليون سنوياً)، مع حماية تامة للسيولة وتوزيع متوازن للجهد الميداني.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BA930-0EC2-4381-8CB1-EBB93E48B32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294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/>
              <a:t>هذه الأرقام تعكس واقع السوق الفعلي ونظام التقييم الربع سنوي: تارجت الكوارتر 3.7 مليون، المعادل السنوي 14.8 مليون، مع ضبط تام لنسبة الكاش 50% وتدرج واقعي للمناديب 200 ألف شهرياً.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BA930-0EC2-4381-8CB1-EBB93E48B32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4500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/>
              <a:t>التوزيع يراعي القدرة الاستيعابية لمحلات التجزئة، ويجعل كبار الموزعين والجملة الكتلة الحجمية الأكبر بإشراف الاريا مانجر.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BA930-0EC2-4381-8CB1-EBB93E48B32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1113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/>
              <a:t>الـ 1.5 مليون الإضافية في الكوارتر تأتي من 4 محركات نمو قابلة للقياس الميداني اليومي.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BA930-0EC2-4381-8CB1-EBB93E48B32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16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/>
              <a:t>تتوزع شهور الكوارتر الثلاثة بتدرج مدروس لضمان اكتمال التارجت 3.7</a:t>
            </a:r>
            <a:r>
              <a:rPr lang="en-US"/>
              <a:t>M </a:t>
            </a:r>
            <a:r>
              <a:rPr lang="ar-SA"/>
              <a:t>بسلاسة تامة.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BA930-0EC2-4381-8CB1-EBB93E48B32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611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/>
              <a:t>المبيعات السنوية موزعة بدقة على فصول السنة الأربعة وفق مواسم التكنولوجيا في مصر.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BA930-0EC2-4381-8CB1-EBB93E48B32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6680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/>
              <a:t>التكامل بين إكسسوارات الموبايل وإكسسوارات اللابتوب يضمن تدفقات يومية وأرباحاً متنامية.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BA930-0EC2-4381-8CB1-EBB93E48B32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683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/>
              <a:t>حماية أموال الشركة تسبق زيادة المبيعات؛ الالتزام بالائتمان هو معيار تقييم المندوب والمدير.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BA930-0EC2-4381-8CB1-EBB93E48B32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5304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/>
              <a:t>كسر أقوى اعتراض لدى تجار الجيزة وبناء ولاء تجاري طويل المدى.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BA930-0EC2-4381-8CB1-EBB93E48B32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153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/>
              <a:t>أدوات هجومية لتحفيز الفريق الميداني والاستحواذ على أرفف محلات فيصل والهرم.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BA930-0EC2-4381-8CB1-EBB93E48B32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7001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/>
              <a:t>الانضباط التشغيلي اليومي واقتحام أكبر كتلة طلابية وتقنية في مصر.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BA930-0EC2-4381-8CB1-EBB93E48B32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6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/>
              <a:t>الالتزام بتحقيق المستهدفات وحماية أموال الشركة وبناء فريق بيعي قوي لعلامة 2</a:t>
            </a:r>
            <a:r>
              <a:rPr lang="en-US"/>
              <a:t>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4BA930-0EC2-4381-8CB1-EBB93E48B32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203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8D6CC-E538-79E3-0940-3D6693E980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2551A1-7C5D-567C-AACC-D8641D48BF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9E60B-7E5E-7994-6DAC-EC8424933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7ED8-9780-4134-9083-E9A93434B21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C1FA7-FB4D-5C3A-FA42-370899E5F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D2DE-05D6-0CE9-8CC3-36612A20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7DA6C-FD43-4993-B8B1-CD02C792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434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8A2A6-6802-23AC-E5B3-49F781A54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A9B6A-165D-E65C-33C4-99037DC47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D5DF5-9C09-B95B-8C86-F870B8268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7ED8-9780-4134-9083-E9A93434B21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B004D7-F443-6BC1-0BDE-06925487B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65C0D-DD94-9649-6D0A-AF793467A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7DA6C-FD43-4993-B8B1-CD02C792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76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491F9-34A5-E711-97BE-5E47E52B9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08445A-7F98-51D9-80C0-94BB751CF6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EFD458-FC40-293B-A019-7FA902340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7ED8-9780-4134-9083-E9A93434B21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938511-6628-9CCE-260D-843CCCF09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B68FAE-1EA0-18C8-928D-EC8B4B9FC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7DA6C-FD43-4993-B8B1-CD02C792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910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8C333-B467-0829-A6CC-C0DF62C85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90857-8D8F-B924-167F-135412F76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73984D-9CB0-0434-09A5-819FF3878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A36C90-92ED-99E1-3D88-CEB6E7317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7ED8-9780-4134-9083-E9A93434B21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0E271-A1AD-CF21-D2D2-74EB1AB5F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4D157A-322A-DA30-4D73-BD212833B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7DA6C-FD43-4993-B8B1-CD02C792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025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CB9E6-2E7C-C126-7E34-17C9C8853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7C852C-88F0-8431-A746-283DF57B00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5EB242-7F56-836B-0655-B83E452945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807004-09F2-B65F-8AAA-A61C82C543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2DC366-9C99-78B0-ACF8-DA82847ED9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9C3201-6E6B-045E-EF1C-6B8522B26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7ED8-9780-4134-9083-E9A93434B21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904007-666B-4C7E-F1FB-05F87937E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02BF5-5231-CF57-9B3A-ABE99F794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7DA6C-FD43-4993-B8B1-CD02C792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325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C3F-E5B1-F660-64C6-3486220B0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93851E-5E3B-110F-AC73-66A2347C7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7ED8-9780-4134-9083-E9A93434B21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43DB21-2CFB-9B04-0233-E8FCFF3CF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09BC12-F229-9033-150A-27E9C4585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7DA6C-FD43-4993-B8B1-CD02C792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892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ED8A75-F5BA-BE03-17F4-0D5C7B4D9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7ED8-9780-4134-9083-E9A93434B21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1FE671-90FA-A925-1547-08CD54B80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44330-EDB9-95D5-0BF6-19C02D6E5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7DA6C-FD43-4993-B8B1-CD02C792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23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B1143-EA55-F4D7-10A8-435CF4F84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CB39D-EEEE-3FC3-0CB1-288F7B0569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7431F5-EA20-FEF2-04A7-FB8D887E9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5C61CB-B8A2-0ABA-6A81-E80AE22D9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7ED8-9780-4134-9083-E9A93434B21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695223-5B51-4772-4947-FC4E04E16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9E30C-D3D3-ECCC-1F01-DFA46E2DB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7DA6C-FD43-4993-B8B1-CD02C792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586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D097A-F9C5-D4DB-8D57-C0BAE9035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EF5E2E-FD83-2D90-B689-4EA3E4AD8E7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0BBBA8-9E9F-45CF-AFFC-A21DA769DE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76349-EE7B-7470-5849-1E3FF668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7ED8-9780-4134-9083-E9A93434B21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F1510A-414E-182E-607C-498125868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98D545-9C44-BED2-29BF-1E08A55F6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7DA6C-FD43-4993-B8B1-CD02C792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365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CC2DF-6D16-B7FA-664C-AF59514A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93D754-DC8B-81E4-399D-86728C6EAA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94FF3A-9DEB-05AA-DC61-373FA1A3D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7ED8-9780-4134-9083-E9A93434B21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93231A-966C-89D7-9303-72C3281EA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36D101-4BCF-85DE-649F-6DF7EE48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7DA6C-FD43-4993-B8B1-CD02C792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1985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FDD038-E4D5-F394-40BC-E1ECE79D42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159211-955A-DCF5-1F5F-BDA3D47DE8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FEA508-00D4-4305-BC6E-54F7A375B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7ED8-9780-4134-9083-E9A93434B21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E0BFC-F339-FD0A-347B-6CB5519B9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6C0A0D-8D2B-BD66-67CC-0AE0C0DC1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B7DA6C-FD43-4993-B8B1-CD02C792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6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37F117-61D8-0DD9-8DC1-18BA93CD2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52976F-44E4-25D2-600F-35A1DF76B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DAEF9F-B698-3A6C-1FF0-AEB68BD52F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7ED8-9780-4134-9083-E9A93434B21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44F971-5903-269D-3C87-A8B6ED6074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03E21A-866E-59D7-B225-08A7396821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B7DA6C-FD43-4993-B8B1-CD02C792D9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554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8A3C26-486E-39F0-2CB9-5AA79BCEF50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19B1B1-F9E6-FC56-C192-EFCA9BD3495A}"/>
              </a:ext>
            </a:extLst>
          </p:cNvPr>
          <p:cNvSpPr/>
          <p:nvPr/>
        </p:nvSpPr>
        <p:spPr>
          <a:xfrm>
            <a:off x="0" y="0"/>
            <a:ext cx="254000" cy="6858000"/>
          </a:xfrm>
          <a:prstGeom prst="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E05E46-7122-A5A1-8BDD-23DCAA437A2F}"/>
              </a:ext>
            </a:extLst>
          </p:cNvPr>
          <p:cNvSpPr txBox="1"/>
          <p:nvPr/>
        </p:nvSpPr>
        <p:spPr>
          <a:xfrm>
            <a:off x="1016000" y="1651000"/>
            <a:ext cx="10160000" cy="10772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3200" b="1">
                <a:solidFill>
                  <a:srgbClr val="FFFFFF"/>
                </a:solidFill>
                <a:latin typeface="Segoe UI" panose="020B0502040204020203" pitchFamily="34" charset="0"/>
              </a:rPr>
              <a:t>استراتيجية مبيعات 2027 الكبرى
وخطة التوسع التجاري لمنطقة الجيزة (3.7</a:t>
            </a:r>
            <a:r>
              <a:rPr lang="en-US" sz="3200" b="1">
                <a:solidFill>
                  <a:srgbClr val="FFFFFF"/>
                </a:solidFill>
                <a:latin typeface="Segoe UI" panose="020B0502040204020203" pitchFamily="34" charset="0"/>
              </a:rPr>
              <a:t>M </a:t>
            </a:r>
            <a:r>
              <a:rPr lang="ar-SA" sz="3200" b="1">
                <a:solidFill>
                  <a:srgbClr val="FFFFFF"/>
                </a:solidFill>
                <a:latin typeface="Segoe UI" panose="020B0502040204020203" pitchFamily="34" charset="0"/>
              </a:rPr>
              <a:t>للكوارتر)</a:t>
            </a:r>
            <a:endParaRPr lang="en-US" sz="3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E4283-BE29-DBD6-BA1F-2C8365563229}"/>
              </a:ext>
            </a:extLst>
          </p:cNvPr>
          <p:cNvSpPr txBox="1"/>
          <p:nvPr/>
        </p:nvSpPr>
        <p:spPr>
          <a:xfrm>
            <a:off x="1016000" y="3302000"/>
            <a:ext cx="1016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b="1">
                <a:solidFill>
                  <a:srgbClr val="EA580C"/>
                </a:solidFill>
                <a:latin typeface="Segoe UI" panose="020B0502040204020203" pitchFamily="34" charset="0"/>
              </a:rPr>
              <a:t>شركة توبي (2</a:t>
            </a:r>
            <a:r>
              <a:rPr lang="en-US" b="1">
                <a:solidFill>
                  <a:srgbClr val="EA580C"/>
                </a:solidFill>
                <a:latin typeface="Segoe UI" panose="020B0502040204020203" pitchFamily="34" charset="0"/>
              </a:rPr>
              <a:t>B) — </a:t>
            </a:r>
            <a:r>
              <a:rPr lang="ar-SA" b="1">
                <a:solidFill>
                  <a:srgbClr val="EA580C"/>
                </a:solidFill>
                <a:latin typeface="Segoe UI" panose="020B0502040204020203" pitchFamily="34" charset="0"/>
              </a:rPr>
              <a:t>قطاع إكسسوارات الموبايل واللابتوب</a:t>
            </a:r>
            <a:endParaRPr lang="en-US" b="1">
              <a:solidFill>
                <a:srgbClr val="EA580C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D1AC1E-BC57-C7E7-3AD3-C102319215A3}"/>
              </a:ext>
            </a:extLst>
          </p:cNvPr>
          <p:cNvSpPr txBox="1"/>
          <p:nvPr/>
        </p:nvSpPr>
        <p:spPr>
          <a:xfrm>
            <a:off x="1016000" y="4572000"/>
            <a:ext cx="1016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400">
                <a:solidFill>
                  <a:srgbClr val="38BDF8"/>
                </a:solidFill>
                <a:latin typeface="Segoe UI" panose="020B0502040204020203" pitchFamily="34" charset="0"/>
              </a:rPr>
              <a:t>التارجت: 3.7</a:t>
            </a:r>
            <a:r>
              <a:rPr lang="en-US" sz="1400">
                <a:solidFill>
                  <a:srgbClr val="38BDF8"/>
                </a:solidFill>
                <a:latin typeface="Segoe UI" panose="020B0502040204020203" pitchFamily="34" charset="0"/>
              </a:rPr>
              <a:t>M </a:t>
            </a:r>
            <a:r>
              <a:rPr lang="ar-SA" sz="1400">
                <a:solidFill>
                  <a:srgbClr val="38BDF8"/>
                </a:solidFill>
                <a:latin typeface="Segoe UI" panose="020B0502040204020203" pitchFamily="34" charset="0"/>
              </a:rPr>
              <a:t>كل كوارتر (14.8 مليون ج.م سنوياً لعام 2027)
إعداد: عبدالله أحمد إبراهيم — مدير المنطقة البيعية (</a:t>
            </a:r>
            <a:r>
              <a:rPr lang="en-US" sz="1400">
                <a:solidFill>
                  <a:srgbClr val="38BDF8"/>
                </a:solidFill>
                <a:latin typeface="Segoe UI" panose="020B0502040204020203" pitchFamily="34" charset="0"/>
              </a:rPr>
              <a:t>Area Sales Manager)</a:t>
            </a:r>
          </a:p>
        </p:txBody>
      </p:sp>
    </p:spTree>
    <p:extLst>
      <p:ext uri="{BB962C8B-B14F-4D97-AF65-F5344CB8AC3E}">
        <p14:creationId xmlns:p14="http://schemas.microsoft.com/office/powerpoint/2010/main" val="1690525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D181EA6-7454-96A7-0C09-21DF75FE4B5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96AEE2-3F4D-4D25-B1B1-FD76FBE727B5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DEFF7B-3EF3-1AF9-074B-A4DFCDE3F95A}"/>
              </a:ext>
            </a:extLst>
          </p:cNvPr>
          <p:cNvSpPr txBox="1"/>
          <p:nvPr/>
        </p:nvSpPr>
        <p:spPr>
          <a:xfrm>
            <a:off x="635000" y="228600"/>
            <a:ext cx="1092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شركة 2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B — </a:t>
            </a:r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قطاع إكسسوارات الموبايل واللابتوب | 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Master Commercial Strategy 2027 (Quarterly Model)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355B4E-DE68-131A-0FFB-EDF734FBFBF0}"/>
              </a:ext>
            </a:extLst>
          </p:cNvPr>
          <p:cNvSpPr txBox="1"/>
          <p:nvPr/>
        </p:nvSpPr>
        <p:spPr>
          <a:xfrm>
            <a:off x="635000" y="533400"/>
            <a:ext cx="10922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2200" b="1">
                <a:solidFill>
                  <a:srgbClr val="FFFFFF"/>
                </a:solidFill>
                <a:latin typeface="Segoe UI" panose="020B0502040204020203" pitchFamily="34" charset="0"/>
              </a:rPr>
              <a:t>المؤشرات الرقمية الكبرى لاستراتيجية الجيزة 2027 (نظام الكوارتر)</a:t>
            </a:r>
            <a:endParaRPr lang="en-US" sz="2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423D27-96CD-1772-42FE-32D296E7A344}"/>
              </a:ext>
            </a:extLst>
          </p:cNvPr>
          <p:cNvSpPr txBox="1"/>
          <p:nvPr/>
        </p:nvSpPr>
        <p:spPr>
          <a:xfrm>
            <a:off x="635000" y="6413500"/>
            <a:ext cx="1092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94A3B8"/>
                </a:solidFill>
                <a:latin typeface="Segoe UI" panose="020B0502040204020203" pitchFamily="34" charset="0"/>
              </a:rPr>
              <a:t>2B Territory Strategy | Giza &amp; Upper Egypt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D8C3D02-391F-5964-4E4A-5FF1E40078E1}"/>
              </a:ext>
            </a:extLst>
          </p:cNvPr>
          <p:cNvSpPr/>
          <p:nvPr/>
        </p:nvSpPr>
        <p:spPr>
          <a:xfrm>
            <a:off x="635000" y="1333500"/>
            <a:ext cx="2540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948D3D-BE8D-CD60-BAEC-DDE16E11023E}"/>
              </a:ext>
            </a:extLst>
          </p:cNvPr>
          <p:cNvSpPr txBox="1"/>
          <p:nvPr/>
        </p:nvSpPr>
        <p:spPr>
          <a:xfrm>
            <a:off x="787400" y="1485900"/>
            <a:ext cx="2235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3,700,000 ج.م</a:t>
            </a:r>
            <a:endParaRPr lang="en-US" sz="1500" b="1">
              <a:solidFill>
                <a:srgbClr val="EA580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8D7024-B941-FAB1-DC55-9E46B8AE09A9}"/>
              </a:ext>
            </a:extLst>
          </p:cNvPr>
          <p:cNvSpPr txBox="1"/>
          <p:nvPr/>
        </p:nvSpPr>
        <p:spPr>
          <a:xfrm>
            <a:off x="787400" y="1993900"/>
            <a:ext cx="2235200" cy="134844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المستهدف الإجمالي للكوارتر (كل 3 شهور).
• 2.2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M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الأساس التاريخي + 1.5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M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التوسع.
• المعادل الشهري الاسترشادي: ~1.23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M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ج.م.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CF23576-60B2-86B7-BBD2-31D236629D09}"/>
              </a:ext>
            </a:extLst>
          </p:cNvPr>
          <p:cNvSpPr/>
          <p:nvPr/>
        </p:nvSpPr>
        <p:spPr>
          <a:xfrm>
            <a:off x="3429000" y="1333500"/>
            <a:ext cx="2540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D274A-11F0-920B-B035-16F76D88C24B}"/>
              </a:ext>
            </a:extLst>
          </p:cNvPr>
          <p:cNvSpPr txBox="1"/>
          <p:nvPr/>
        </p:nvSpPr>
        <p:spPr>
          <a:xfrm>
            <a:off x="3581400" y="1485900"/>
            <a:ext cx="2235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22C55E"/>
                </a:solidFill>
                <a:latin typeface="Segoe UI" panose="020B0502040204020203" pitchFamily="34" charset="0"/>
              </a:rPr>
              <a:t>14,800,000 ج.م</a:t>
            </a:r>
            <a:endParaRPr lang="en-US" sz="1500" b="1">
              <a:solidFill>
                <a:srgbClr val="22C55E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5509DB-E547-7BCF-7E36-1D1FB77F24E3}"/>
              </a:ext>
            </a:extLst>
          </p:cNvPr>
          <p:cNvSpPr txBox="1"/>
          <p:nvPr/>
        </p:nvSpPr>
        <p:spPr>
          <a:xfrm>
            <a:off x="3581400" y="1993900"/>
            <a:ext cx="2235200" cy="134844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المستهدف السنوي الواقعي لعام 2027 (4 كوارترات).
• نمو مدروس بنسبة +28% فوق الأساس.
• موزعة بدقة وفق مواسم السوق والجامعات.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9FBBC6-D9BA-0B6E-1600-A6343EFACA5B}"/>
              </a:ext>
            </a:extLst>
          </p:cNvPr>
          <p:cNvSpPr/>
          <p:nvPr/>
        </p:nvSpPr>
        <p:spPr>
          <a:xfrm>
            <a:off x="6223000" y="1333500"/>
            <a:ext cx="2540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6FC52B-FB67-2595-1856-CF2284319FB2}"/>
              </a:ext>
            </a:extLst>
          </p:cNvPr>
          <p:cNvSpPr txBox="1"/>
          <p:nvPr/>
        </p:nvSpPr>
        <p:spPr>
          <a:xfrm>
            <a:off x="6375400" y="1485900"/>
            <a:ext cx="2235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38BDF8"/>
                </a:solidFill>
                <a:latin typeface="Segoe UI" panose="020B0502040204020203" pitchFamily="34" charset="0"/>
              </a:rPr>
              <a:t>1,850,000 ج.م</a:t>
            </a:r>
            <a:endParaRPr lang="en-US" sz="15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3DC0F8-0747-492C-359A-969C745744B1}"/>
              </a:ext>
            </a:extLst>
          </p:cNvPr>
          <p:cNvSpPr txBox="1"/>
          <p:nvPr/>
        </p:nvSpPr>
        <p:spPr>
          <a:xfrm>
            <a:off x="6375400" y="1993900"/>
            <a:ext cx="2235200" cy="134844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مبيعات الكاش الفوري لكل كوارتر (50%+).
• خصم تعجيل دفع 2%-3% للتاجر الملتزم.
• فترة تحصيل الديون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DSO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لا تتجاوز 14-20 يوماً.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9239DC4-8101-DF20-20DA-0A1AA10DF1A3}"/>
              </a:ext>
            </a:extLst>
          </p:cNvPr>
          <p:cNvSpPr/>
          <p:nvPr/>
        </p:nvSpPr>
        <p:spPr>
          <a:xfrm>
            <a:off x="9017000" y="1333500"/>
            <a:ext cx="2540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3299B8-4ACF-68C9-AB4E-9081B72C8E36}"/>
              </a:ext>
            </a:extLst>
          </p:cNvPr>
          <p:cNvSpPr txBox="1"/>
          <p:nvPr/>
        </p:nvSpPr>
        <p:spPr>
          <a:xfrm>
            <a:off x="9169400" y="1485900"/>
            <a:ext cx="2235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600,000 ج.م</a:t>
            </a:r>
            <a:endParaRPr lang="en-US" sz="1500" b="1">
              <a:solidFill>
                <a:srgbClr val="EA580C"/>
              </a:solidFill>
              <a:latin typeface="Segoe UI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49CA77-406C-86B8-CF3A-1A5B991887CB}"/>
              </a:ext>
            </a:extLst>
          </p:cNvPr>
          <p:cNvSpPr txBox="1"/>
          <p:nvPr/>
        </p:nvSpPr>
        <p:spPr>
          <a:xfrm>
            <a:off x="9169400" y="1993900"/>
            <a:ext cx="2235200" cy="113608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تارجت المندوب في الكوارتر (200 ألف شهرياً).
• تدرج واقعي يحمي المندوب من الإحباط.
• التركيز على عملاء التجزئة وفتح منافذ جديدة.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8438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A529FC5-79F6-04E4-52CE-E7E9461D526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8C033D-6806-6753-48E0-AAB15B5F93C8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B1D8C-96F1-2EC8-E004-CCE212A8B7EC}"/>
              </a:ext>
            </a:extLst>
          </p:cNvPr>
          <p:cNvSpPr txBox="1"/>
          <p:nvPr/>
        </p:nvSpPr>
        <p:spPr>
          <a:xfrm>
            <a:off x="635000" y="228600"/>
            <a:ext cx="1092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شركة 2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B — </a:t>
            </a:r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قطاع إكسسوارات الموبايل واللابتوب | 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Master Commercial Strategy 2027 (Quarterly Model)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03FB69-5E87-20A3-CF6A-CBAE6587B5C9}"/>
              </a:ext>
            </a:extLst>
          </p:cNvPr>
          <p:cNvSpPr txBox="1"/>
          <p:nvPr/>
        </p:nvSpPr>
        <p:spPr>
          <a:xfrm>
            <a:off x="635000" y="533400"/>
            <a:ext cx="10922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2200" b="1">
                <a:solidFill>
                  <a:srgbClr val="FFFFFF"/>
                </a:solidFill>
                <a:latin typeface="Segoe UI" panose="020B0502040204020203" pitchFamily="34" charset="0"/>
              </a:rPr>
              <a:t>توزيع تارجت الكوارتر (3.7</a:t>
            </a:r>
            <a:r>
              <a:rPr lang="en-US" sz="2200" b="1">
                <a:solidFill>
                  <a:srgbClr val="FFFFFF"/>
                </a:solidFill>
                <a:latin typeface="Segoe UI" panose="020B0502040204020203" pitchFamily="34" charset="0"/>
              </a:rPr>
              <a:t>M) </a:t>
            </a:r>
            <a:r>
              <a:rPr lang="ar-SA" sz="2200" b="1">
                <a:solidFill>
                  <a:srgbClr val="FFFFFF"/>
                </a:solidFill>
                <a:latin typeface="Segoe UI" panose="020B0502040204020203" pitchFamily="34" charset="0"/>
              </a:rPr>
              <a:t>بين القنوات والفريق</a:t>
            </a:r>
            <a:endParaRPr lang="en-US" sz="2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63FC6C-F90D-736C-A156-A44B75B4485A}"/>
              </a:ext>
            </a:extLst>
          </p:cNvPr>
          <p:cNvSpPr txBox="1"/>
          <p:nvPr/>
        </p:nvSpPr>
        <p:spPr>
          <a:xfrm>
            <a:off x="635000" y="6413500"/>
            <a:ext cx="1092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94A3B8"/>
                </a:solidFill>
                <a:latin typeface="Segoe UI" panose="020B0502040204020203" pitchFamily="34" charset="0"/>
              </a:rPr>
              <a:t>2B Territory Strategy | Giza &amp; Upper Egypt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643D6B8-20B6-F3F9-56C9-9676BAE9BDE1}"/>
              </a:ext>
            </a:extLst>
          </p:cNvPr>
          <p:cNvSpPr/>
          <p:nvPr/>
        </p:nvSpPr>
        <p:spPr>
          <a:xfrm>
            <a:off x="6350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C7D450-8AC7-1522-9ECB-A7D4D984EC5E}"/>
              </a:ext>
            </a:extLst>
          </p:cNvPr>
          <p:cNvSpPr txBox="1"/>
          <p:nvPr/>
        </p:nvSpPr>
        <p:spPr>
          <a:xfrm>
            <a:off x="7874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الاريا مانجر (</a:t>
            </a:r>
            <a:r>
              <a:rPr lang="en-US" sz="1500" b="1">
                <a:solidFill>
                  <a:srgbClr val="EA580C"/>
                </a:solidFill>
                <a:latin typeface="Segoe UI" panose="020B0502040204020203" pitchFamily="34" charset="0"/>
              </a:rPr>
              <a:t>ASM)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A74C5E-AA25-FA75-FEF9-1636F61EE571}"/>
              </a:ext>
            </a:extLst>
          </p:cNvPr>
          <p:cNvSpPr txBox="1"/>
          <p:nvPr/>
        </p:nvSpPr>
        <p:spPr>
          <a:xfrm>
            <a:off x="787400" y="1993900"/>
            <a:ext cx="3124200" cy="7113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المستهدف: 2,500,000 ج.م في الكوارتر (67.5%).
• المعادل الشهري: ~833,000 ج.م شهرياً.
• كبار موزعي الجملة الخمسة والصفقات المؤسسية.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8BEF7E8-F306-505F-5BA4-CAE17E833F87}"/>
              </a:ext>
            </a:extLst>
          </p:cNvPr>
          <p:cNvSpPr/>
          <p:nvPr/>
        </p:nvSpPr>
        <p:spPr>
          <a:xfrm>
            <a:off x="43815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870B4D-C6A9-96D3-AA5C-17B531D7B8E8}"/>
              </a:ext>
            </a:extLst>
          </p:cNvPr>
          <p:cNvSpPr txBox="1"/>
          <p:nvPr/>
        </p:nvSpPr>
        <p:spPr>
          <a:xfrm>
            <a:off x="45339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38BDF8"/>
                </a:solidFill>
                <a:latin typeface="Segoe UI" panose="020B0502040204020203" pitchFamily="34" charset="0"/>
              </a:rPr>
              <a:t>مندوب 1 (</a:t>
            </a:r>
            <a:r>
              <a:rPr lang="en-US" sz="1500" b="1">
                <a:solidFill>
                  <a:srgbClr val="38BDF8"/>
                </a:solidFill>
                <a:latin typeface="Segoe UI" panose="020B0502040204020203" pitchFamily="34" charset="0"/>
              </a:rPr>
              <a:t>Zone 1 - </a:t>
            </a:r>
            <a:r>
              <a:rPr lang="ar-SA" sz="1500" b="1">
                <a:solidFill>
                  <a:srgbClr val="38BDF8"/>
                </a:solidFill>
                <a:latin typeface="Segoe UI" panose="020B0502040204020203" pitchFamily="34" charset="0"/>
              </a:rPr>
              <a:t>شمال الجيزة)</a:t>
            </a:r>
            <a:endParaRPr lang="en-US" sz="15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836F17-CCE5-D710-0B13-5A0C2055F59A}"/>
              </a:ext>
            </a:extLst>
          </p:cNvPr>
          <p:cNvSpPr txBox="1"/>
          <p:nvPr/>
        </p:nvSpPr>
        <p:spPr>
          <a:xfrm>
            <a:off x="4533900" y="1993900"/>
            <a:ext cx="3124200" cy="7113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المستهدف: 600,000 ج.م في الكوارتر (16.2%).
• المعادل الشهري: 200,000 ج.م شهرياً.
• معارض الدقي والمهندسين وتجزئة إمبابة والوراق.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533723E-FB9D-1826-5C85-CEE8010F0968}"/>
              </a:ext>
            </a:extLst>
          </p:cNvPr>
          <p:cNvSpPr/>
          <p:nvPr/>
        </p:nvSpPr>
        <p:spPr>
          <a:xfrm>
            <a:off x="81280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0B6FA5-CF77-C89C-F7E8-2BF069C678A1}"/>
              </a:ext>
            </a:extLst>
          </p:cNvPr>
          <p:cNvSpPr txBox="1"/>
          <p:nvPr/>
        </p:nvSpPr>
        <p:spPr>
          <a:xfrm>
            <a:off x="82804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22C55E"/>
                </a:solidFill>
                <a:latin typeface="Segoe UI" panose="020B0502040204020203" pitchFamily="34" charset="0"/>
              </a:rPr>
              <a:t>مندوب 2 (</a:t>
            </a:r>
            <a:r>
              <a:rPr lang="en-US" sz="1500" b="1">
                <a:solidFill>
                  <a:srgbClr val="22C55E"/>
                </a:solidFill>
                <a:latin typeface="Segoe UI" panose="020B0502040204020203" pitchFamily="34" charset="0"/>
              </a:rPr>
              <a:t>Zone 2 - </a:t>
            </a:r>
            <a:r>
              <a:rPr lang="ar-SA" sz="1500" b="1">
                <a:solidFill>
                  <a:srgbClr val="22C55E"/>
                </a:solidFill>
                <a:latin typeface="Segoe UI" panose="020B0502040204020203" pitchFamily="34" charset="0"/>
              </a:rPr>
              <a:t>جنوب الجيزة)</a:t>
            </a:r>
            <a:endParaRPr lang="en-US" sz="1500" b="1">
              <a:solidFill>
                <a:srgbClr val="22C55E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6930CD-5E69-0AEA-44B4-519B14FD672A}"/>
              </a:ext>
            </a:extLst>
          </p:cNvPr>
          <p:cNvSpPr txBox="1"/>
          <p:nvPr/>
        </p:nvSpPr>
        <p:spPr>
          <a:xfrm>
            <a:off x="8280400" y="1993900"/>
            <a:ext cx="3124200" cy="7113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المستهدف: 600,000 ج.م في الكوارتر (16.2%).
• المعادل الشهري: 200,000 ج.م شهرياً.
• محاور فيصل والهرم ومعارض 6 أكتوبر والشيخ زايد.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169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1539ED1-9FD4-7ADD-CFF4-6A89DD76262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2B31C7-5A52-90C8-CB83-194FAB3EF9FF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FAF110-2E37-E488-A49C-D4AC7FCD7E6D}"/>
              </a:ext>
            </a:extLst>
          </p:cNvPr>
          <p:cNvSpPr txBox="1"/>
          <p:nvPr/>
        </p:nvSpPr>
        <p:spPr>
          <a:xfrm>
            <a:off x="635000" y="228600"/>
            <a:ext cx="1092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شركة 2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B — </a:t>
            </a:r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قطاع إكسسوارات الموبايل واللابتوب | 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Master Commercial Strategy 2027 (Quarterly Model)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6E7432-CBB1-3E66-FC2A-F4DA470AD30C}"/>
              </a:ext>
            </a:extLst>
          </p:cNvPr>
          <p:cNvSpPr txBox="1"/>
          <p:nvPr/>
        </p:nvSpPr>
        <p:spPr>
          <a:xfrm>
            <a:off x="635000" y="533400"/>
            <a:ext cx="10922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2200" b="1">
                <a:solidFill>
                  <a:srgbClr val="FFFFFF"/>
                </a:solidFill>
                <a:latin typeface="Segoe UI" panose="020B0502040204020203" pitchFamily="34" charset="0"/>
              </a:rPr>
              <a:t>جسر الإيرادات: تفكيك الـ 1.5 مليون ج.م التوسعية في الكوارتر</a:t>
            </a:r>
            <a:endParaRPr lang="en-US" sz="2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A88609-3CBD-9398-630F-B6AE7AB21056}"/>
              </a:ext>
            </a:extLst>
          </p:cNvPr>
          <p:cNvSpPr txBox="1"/>
          <p:nvPr/>
        </p:nvSpPr>
        <p:spPr>
          <a:xfrm>
            <a:off x="635000" y="6413500"/>
            <a:ext cx="1092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94A3B8"/>
                </a:solidFill>
                <a:latin typeface="Segoe UI" panose="020B0502040204020203" pitchFamily="34" charset="0"/>
              </a:rPr>
              <a:t>2B Territory Strategy | Giza &amp; Upper Egypt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25D85E7-277B-5E01-40CE-AD31D0AE0707}"/>
              </a:ext>
            </a:extLst>
          </p:cNvPr>
          <p:cNvSpPr/>
          <p:nvPr/>
        </p:nvSpPr>
        <p:spPr>
          <a:xfrm>
            <a:off x="635000" y="1333500"/>
            <a:ext cx="2540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5E20C-2D79-1B2F-F516-77E613513B6F}"/>
              </a:ext>
            </a:extLst>
          </p:cNvPr>
          <p:cNvSpPr txBox="1"/>
          <p:nvPr/>
        </p:nvSpPr>
        <p:spPr>
          <a:xfrm>
            <a:off x="787400" y="1485900"/>
            <a:ext cx="2235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500" b="1">
                <a:solidFill>
                  <a:srgbClr val="EA580C"/>
                </a:solidFill>
                <a:latin typeface="Segoe UI" panose="020B0502040204020203" pitchFamily="34" charset="0"/>
              </a:rPr>
              <a:t>+600K </a:t>
            </a:r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ج.م (كبار الموزعين)</a:t>
            </a:r>
            <a:endParaRPr lang="en-US" sz="1500" b="1">
              <a:solidFill>
                <a:srgbClr val="EA580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B54FA5-68C7-F5D7-6E7D-91F1FB6C1045}"/>
              </a:ext>
            </a:extLst>
          </p:cNvPr>
          <p:cNvSpPr txBox="1"/>
          <p:nvPr/>
        </p:nvSpPr>
        <p:spPr>
          <a:xfrm>
            <a:off x="787400" y="1993900"/>
            <a:ext cx="2235200" cy="134844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عقود توريد مع 5 موزعين كبار في الجيزة وأكتوبر.
• سحب 120 ألف لكل موزع في الكوارتر (40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K/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شهرياً).
• حافز ربع سنوي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Rebate 2%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مرتبط بالانضباط.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020710E-FC89-827C-D057-23A56E2ED826}"/>
              </a:ext>
            </a:extLst>
          </p:cNvPr>
          <p:cNvSpPr/>
          <p:nvPr/>
        </p:nvSpPr>
        <p:spPr>
          <a:xfrm>
            <a:off x="3429000" y="1333500"/>
            <a:ext cx="2540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8ACC44-245F-1629-436B-868AFA8543F1}"/>
              </a:ext>
            </a:extLst>
          </p:cNvPr>
          <p:cNvSpPr txBox="1"/>
          <p:nvPr/>
        </p:nvSpPr>
        <p:spPr>
          <a:xfrm>
            <a:off x="3581400" y="1485900"/>
            <a:ext cx="2235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500" b="1">
                <a:solidFill>
                  <a:srgbClr val="38BDF8"/>
                </a:solidFill>
                <a:latin typeface="Segoe UI" panose="020B0502040204020203" pitchFamily="34" charset="0"/>
              </a:rPr>
              <a:t>+400K </a:t>
            </a:r>
            <a:r>
              <a:rPr lang="ar-SA" sz="1500" b="1">
                <a:solidFill>
                  <a:srgbClr val="38BDF8"/>
                </a:solidFill>
                <a:latin typeface="Segoe UI" panose="020B0502040204020203" pitchFamily="34" charset="0"/>
              </a:rPr>
              <a:t>ج.م (باقات اللابتوب)</a:t>
            </a:r>
            <a:endParaRPr lang="en-US" sz="15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F8505A-8E14-CF98-2432-5DCE9E8D1525}"/>
              </a:ext>
            </a:extLst>
          </p:cNvPr>
          <p:cNvSpPr txBox="1"/>
          <p:nvPr/>
        </p:nvSpPr>
        <p:spPr>
          <a:xfrm>
            <a:off x="3581400" y="1993900"/>
            <a:ext cx="2235200" cy="134844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حزم: حقيبة 2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B +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ماوس لاسلكي + موزع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Type-C.
•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التعاقد مع محيط جامعة القاهرة و 6 أكتوبر.
• اقتناص مواسم الامتحانات وبداية الفصول الدراسية.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DC1794-2812-C4B5-B007-B9EB83AA8FFD}"/>
              </a:ext>
            </a:extLst>
          </p:cNvPr>
          <p:cNvSpPr/>
          <p:nvPr/>
        </p:nvSpPr>
        <p:spPr>
          <a:xfrm>
            <a:off x="6223000" y="1333500"/>
            <a:ext cx="2540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995A93-3F34-B904-2522-413B2D271FDB}"/>
              </a:ext>
            </a:extLst>
          </p:cNvPr>
          <p:cNvSpPr txBox="1"/>
          <p:nvPr/>
        </p:nvSpPr>
        <p:spPr>
          <a:xfrm>
            <a:off x="6375400" y="1485900"/>
            <a:ext cx="2235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500" b="1">
                <a:solidFill>
                  <a:srgbClr val="22C55E"/>
                </a:solidFill>
                <a:latin typeface="Segoe UI" panose="020B0502040204020203" pitchFamily="34" charset="0"/>
              </a:rPr>
              <a:t>+300K </a:t>
            </a:r>
            <a:r>
              <a:rPr lang="ar-SA" sz="1500" b="1">
                <a:solidFill>
                  <a:srgbClr val="22C55E"/>
                </a:solidFill>
                <a:latin typeface="Segoe UI" panose="020B0502040204020203" pitchFamily="34" charset="0"/>
              </a:rPr>
              <a:t>ج.م (فتح منافذ جديدة)</a:t>
            </a:r>
            <a:endParaRPr lang="en-US" sz="1500" b="1">
              <a:solidFill>
                <a:srgbClr val="22C55E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86AE43-7A97-AB38-5854-9868DF879CC5}"/>
              </a:ext>
            </a:extLst>
          </p:cNvPr>
          <p:cNvSpPr txBox="1"/>
          <p:nvPr/>
        </p:nvSpPr>
        <p:spPr>
          <a:xfrm>
            <a:off x="6375400" y="1993900"/>
            <a:ext cx="2235200" cy="134844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فتح 30-40 محل تجزئة جديد خلال الكوارتر.
• فاتورة افتتاحية 8-10 آلاف ج.م كاش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COD.
•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تركيب وحدات عرض كاونتر واستندات 2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B.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6761CC-B70C-704D-CE66-F09B5300FE54}"/>
              </a:ext>
            </a:extLst>
          </p:cNvPr>
          <p:cNvSpPr/>
          <p:nvPr/>
        </p:nvSpPr>
        <p:spPr>
          <a:xfrm>
            <a:off x="9017000" y="1333500"/>
            <a:ext cx="2540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814667-A852-9462-8B30-EAE7894452BF}"/>
              </a:ext>
            </a:extLst>
          </p:cNvPr>
          <p:cNvSpPr txBox="1"/>
          <p:nvPr/>
        </p:nvSpPr>
        <p:spPr>
          <a:xfrm>
            <a:off x="9169400" y="1485900"/>
            <a:ext cx="2235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500" b="1">
                <a:solidFill>
                  <a:srgbClr val="EA580C"/>
                </a:solidFill>
                <a:latin typeface="Segoe UI" panose="020B0502040204020203" pitchFamily="34" charset="0"/>
              </a:rPr>
              <a:t>+200K </a:t>
            </a:r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ج.م (البيع المتقاطع)</a:t>
            </a:r>
            <a:endParaRPr lang="en-US" sz="1500" b="1">
              <a:solidFill>
                <a:srgbClr val="EA580C"/>
              </a:solidFill>
              <a:latin typeface="Segoe UI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7EEA75-D4F1-9A06-0ED5-8A28F3177538}"/>
              </a:ext>
            </a:extLst>
          </p:cNvPr>
          <p:cNvSpPr txBox="1"/>
          <p:nvPr/>
        </p:nvSpPr>
        <p:spPr>
          <a:xfrm>
            <a:off x="9169400" y="1993900"/>
            <a:ext cx="2235200" cy="92371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ربط شواحن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GaN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السريعة بكابلاتها المعتمدة.
• رفع متوسط فاتورة الزيارة بنسبة 25%.
• تنشيط الشراء الاندفاعي عند نقاط البيع.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528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096969-BB15-2FE1-C8D2-3C586397D96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5D4BB1-8EDA-E61C-221D-FFED069C9A75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D60A74-0141-BB61-9265-6F39C15DB9DA}"/>
              </a:ext>
            </a:extLst>
          </p:cNvPr>
          <p:cNvSpPr txBox="1"/>
          <p:nvPr/>
        </p:nvSpPr>
        <p:spPr>
          <a:xfrm>
            <a:off x="635000" y="228600"/>
            <a:ext cx="1092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شركة 2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B — </a:t>
            </a:r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قطاع إكسسوارات الموبايل واللابتوب | 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Master Commercial Strategy 2027 (Quarterly Model)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35B970-6C37-6C1C-33BD-E6BBB27D43AC}"/>
              </a:ext>
            </a:extLst>
          </p:cNvPr>
          <p:cNvSpPr txBox="1"/>
          <p:nvPr/>
        </p:nvSpPr>
        <p:spPr>
          <a:xfrm>
            <a:off x="635000" y="533400"/>
            <a:ext cx="10922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2200" b="1">
                <a:solidFill>
                  <a:srgbClr val="FFFFFF"/>
                </a:solidFill>
                <a:latin typeface="Segoe UI" panose="020B0502040204020203" pitchFamily="34" charset="0"/>
              </a:rPr>
              <a:t>المسار التشغيلي لدورة الـ 90 يوماً (كوارتر التوسع)</a:t>
            </a:r>
            <a:endParaRPr lang="en-US" sz="2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811E31-864D-75C6-5710-CC911424182E}"/>
              </a:ext>
            </a:extLst>
          </p:cNvPr>
          <p:cNvSpPr txBox="1"/>
          <p:nvPr/>
        </p:nvSpPr>
        <p:spPr>
          <a:xfrm>
            <a:off x="635000" y="6413500"/>
            <a:ext cx="1092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94A3B8"/>
                </a:solidFill>
                <a:latin typeface="Segoe UI" panose="020B0502040204020203" pitchFamily="34" charset="0"/>
              </a:rPr>
              <a:t>2B Territory Strategy | Giza &amp; Upper Egypt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A5B8AFE-08C7-2BE6-9EDA-703D65490C66}"/>
              </a:ext>
            </a:extLst>
          </p:cNvPr>
          <p:cNvSpPr/>
          <p:nvPr/>
        </p:nvSpPr>
        <p:spPr>
          <a:xfrm>
            <a:off x="6350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69308A-9844-559F-6188-75D7EAEF0903}"/>
              </a:ext>
            </a:extLst>
          </p:cNvPr>
          <p:cNvSpPr txBox="1"/>
          <p:nvPr/>
        </p:nvSpPr>
        <p:spPr>
          <a:xfrm>
            <a:off x="7874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الشهر 1 (التأسيس والمسح)</a:t>
            </a:r>
            <a:endParaRPr lang="en-US" sz="1500" b="1">
              <a:solidFill>
                <a:srgbClr val="EA580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F081CE-7CF5-6D4F-BB8C-9610272BB3DF}"/>
              </a:ext>
            </a:extLst>
          </p:cNvPr>
          <p:cNvSpPr txBox="1"/>
          <p:nvPr/>
        </p:nvSpPr>
        <p:spPr>
          <a:xfrm>
            <a:off x="787400" y="1993900"/>
            <a:ext cx="3124200" cy="7113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المستهدف: 1,000,000 ج.م.
• مسح 100% من خطوط السير وتأهيل المناديب.
• فتح عملاء كاش جدد وتوقيع عقود الجملة.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CDC43A4-1D0C-E509-C5F8-8DA12427E1BD}"/>
              </a:ext>
            </a:extLst>
          </p:cNvPr>
          <p:cNvSpPr/>
          <p:nvPr/>
        </p:nvSpPr>
        <p:spPr>
          <a:xfrm>
            <a:off x="43815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DEBC31-8CE0-F44B-74AD-7BF438AEF8BA}"/>
              </a:ext>
            </a:extLst>
          </p:cNvPr>
          <p:cNvSpPr txBox="1"/>
          <p:nvPr/>
        </p:nvSpPr>
        <p:spPr>
          <a:xfrm>
            <a:off x="45339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38BDF8"/>
                </a:solidFill>
                <a:latin typeface="Segoe UI" panose="020B0502040204020203" pitchFamily="34" charset="0"/>
              </a:rPr>
              <a:t>الشهر 2 (التوسع والربط)</a:t>
            </a:r>
            <a:endParaRPr lang="en-US" sz="15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455351-7E10-2B76-F77D-90E5F938C33C}"/>
              </a:ext>
            </a:extLst>
          </p:cNvPr>
          <p:cNvSpPr txBox="1"/>
          <p:nvPr/>
        </p:nvSpPr>
        <p:spPr>
          <a:xfrm>
            <a:off x="4533900" y="1993900"/>
            <a:ext cx="3124200" cy="7113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المستهدف: 1,300,000 ج.م.
• إطلاق حزم اللابتوب وتركيب 20 ستاند مضيء.
• تدوير طلبيات التجزئة وتفعيل حافز الكاش 3%.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51E5F5-50D8-7913-0CB0-7486164456CC}"/>
              </a:ext>
            </a:extLst>
          </p:cNvPr>
          <p:cNvSpPr/>
          <p:nvPr/>
        </p:nvSpPr>
        <p:spPr>
          <a:xfrm>
            <a:off x="81280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43C32B-A590-49F5-0882-E925BA59E12D}"/>
              </a:ext>
            </a:extLst>
          </p:cNvPr>
          <p:cNvSpPr txBox="1"/>
          <p:nvPr/>
        </p:nvSpPr>
        <p:spPr>
          <a:xfrm>
            <a:off x="82804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22C55E"/>
                </a:solidFill>
                <a:latin typeface="Segoe UI" panose="020B0502040204020203" pitchFamily="34" charset="0"/>
              </a:rPr>
              <a:t>الشهر 3 (الذروة والإغلاق)</a:t>
            </a:r>
            <a:endParaRPr lang="en-US" sz="1500" b="1">
              <a:solidFill>
                <a:srgbClr val="22C55E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9E1D03-7011-8EF5-DE84-B57C83682AC9}"/>
              </a:ext>
            </a:extLst>
          </p:cNvPr>
          <p:cNvSpPr txBox="1"/>
          <p:nvPr/>
        </p:nvSpPr>
        <p:spPr>
          <a:xfrm>
            <a:off x="8280400" y="1993900"/>
            <a:ext cx="3124200" cy="7113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المستهدف: 1,400,000 ج.م.
• اكتمال تارجت الكوارتر (3.7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M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بالكامل).
• استقرار نسبة الكاش 50%+ وصفر ديون متأخرة.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2816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623BFA-D652-B5D1-1A61-608A5C75855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B8B45B-682C-928C-9B1C-26B2906155FF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84AF2B-2321-7AD6-7042-806187B8B925}"/>
              </a:ext>
            </a:extLst>
          </p:cNvPr>
          <p:cNvSpPr txBox="1"/>
          <p:nvPr/>
        </p:nvSpPr>
        <p:spPr>
          <a:xfrm>
            <a:off x="635000" y="228600"/>
            <a:ext cx="1092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شركة 2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B — </a:t>
            </a:r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قطاع إكسسوارات الموبايل واللابتوب | 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Master Commercial Strategy 2027 (Quarterly Model)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A887CD-2784-A7CE-2940-FD8ADF219C2F}"/>
              </a:ext>
            </a:extLst>
          </p:cNvPr>
          <p:cNvSpPr txBox="1"/>
          <p:nvPr/>
        </p:nvSpPr>
        <p:spPr>
          <a:xfrm>
            <a:off x="635000" y="533400"/>
            <a:ext cx="10922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2200" b="1">
                <a:solidFill>
                  <a:srgbClr val="FFFFFF"/>
                </a:solidFill>
                <a:latin typeface="Segoe UI" panose="020B0502040204020203" pitchFamily="34" charset="0"/>
              </a:rPr>
              <a:t>التوزيع الربع سنوي لكوارترات عام 2027 (14,800,000 ج.م)</a:t>
            </a:r>
            <a:endParaRPr lang="en-US" sz="2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17A2EB-066F-C32E-CF2B-2B9CCCB900C6}"/>
              </a:ext>
            </a:extLst>
          </p:cNvPr>
          <p:cNvSpPr txBox="1"/>
          <p:nvPr/>
        </p:nvSpPr>
        <p:spPr>
          <a:xfrm>
            <a:off x="635000" y="6413500"/>
            <a:ext cx="1092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94A3B8"/>
                </a:solidFill>
                <a:latin typeface="Segoe UI" panose="020B0502040204020203" pitchFamily="34" charset="0"/>
              </a:rPr>
              <a:t>2B Territory Strategy | Giza &amp; Upper Egypt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69E4C88-604B-E54D-CAFC-2FB6C80179CB}"/>
              </a:ext>
            </a:extLst>
          </p:cNvPr>
          <p:cNvSpPr/>
          <p:nvPr/>
        </p:nvSpPr>
        <p:spPr>
          <a:xfrm>
            <a:off x="635000" y="1333500"/>
            <a:ext cx="2540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C1DD11-2B69-1D9C-CBE9-08EDCCF7F6D4}"/>
              </a:ext>
            </a:extLst>
          </p:cNvPr>
          <p:cNvSpPr txBox="1"/>
          <p:nvPr/>
        </p:nvSpPr>
        <p:spPr>
          <a:xfrm>
            <a:off x="787400" y="1485900"/>
            <a:ext cx="2235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500" b="1">
                <a:solidFill>
                  <a:srgbClr val="38BDF8"/>
                </a:solidFill>
                <a:latin typeface="Segoe UI" panose="020B0502040204020203" pitchFamily="34" charset="0"/>
              </a:rPr>
              <a:t>Q1: 3,400,000 </a:t>
            </a:r>
            <a:r>
              <a:rPr lang="ar-SA" sz="1500" b="1">
                <a:solidFill>
                  <a:srgbClr val="38BDF8"/>
                </a:solidFill>
                <a:latin typeface="Segoe UI" panose="020B0502040204020203" pitchFamily="34" charset="0"/>
              </a:rPr>
              <a:t>ج.م</a:t>
            </a:r>
            <a:endParaRPr lang="en-US" sz="15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FDEC27-2F8B-BF0D-38E3-6D13EE40F4E8}"/>
              </a:ext>
            </a:extLst>
          </p:cNvPr>
          <p:cNvSpPr txBox="1"/>
          <p:nvPr/>
        </p:nvSpPr>
        <p:spPr>
          <a:xfrm>
            <a:off x="787400" y="1993900"/>
            <a:ext cx="2235200" cy="113608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الربع الأول (يناير - مارس) | 23%.
• تأسيس دورة المبيعات بعد إجازات نصف العام.
• حزم بداية الفصل الدراسي الثاني ومسح المحاور.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F18E79B-716D-C8D5-E43C-CC082CE137C3}"/>
              </a:ext>
            </a:extLst>
          </p:cNvPr>
          <p:cNvSpPr/>
          <p:nvPr/>
        </p:nvSpPr>
        <p:spPr>
          <a:xfrm>
            <a:off x="3429000" y="1333500"/>
            <a:ext cx="2540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C55D70-A504-FF3D-EA86-7FB887B2A41D}"/>
              </a:ext>
            </a:extLst>
          </p:cNvPr>
          <p:cNvSpPr txBox="1"/>
          <p:nvPr/>
        </p:nvSpPr>
        <p:spPr>
          <a:xfrm>
            <a:off x="3581400" y="1485900"/>
            <a:ext cx="2235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500" b="1">
                <a:solidFill>
                  <a:srgbClr val="22C55E"/>
                </a:solidFill>
                <a:latin typeface="Segoe UI" panose="020B0502040204020203" pitchFamily="34" charset="0"/>
              </a:rPr>
              <a:t>Q2: 3,700,000 </a:t>
            </a:r>
            <a:r>
              <a:rPr lang="ar-SA" sz="1500" b="1">
                <a:solidFill>
                  <a:srgbClr val="22C55E"/>
                </a:solidFill>
                <a:latin typeface="Segoe UI" panose="020B0502040204020203" pitchFamily="34" charset="0"/>
              </a:rPr>
              <a:t>ج.م</a:t>
            </a:r>
            <a:endParaRPr lang="en-US" sz="1500" b="1">
              <a:solidFill>
                <a:srgbClr val="22C55E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71CA12-1896-796A-A738-D3C73531415C}"/>
              </a:ext>
            </a:extLst>
          </p:cNvPr>
          <p:cNvSpPr txBox="1"/>
          <p:nvPr/>
        </p:nvSpPr>
        <p:spPr>
          <a:xfrm>
            <a:off x="3581400" y="1993900"/>
            <a:ext cx="2235200" cy="113608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الربع الثاني (أبريل - يونيو) | 25%.
• موسم شهر رمضان المبارك وعيدي الفطر والأضحى.
• شواحن السيارات، الباوربانك، وسماعات الترفيه.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5D45F7-C49A-D194-4DE0-12FC9D64377A}"/>
              </a:ext>
            </a:extLst>
          </p:cNvPr>
          <p:cNvSpPr/>
          <p:nvPr/>
        </p:nvSpPr>
        <p:spPr>
          <a:xfrm>
            <a:off x="6223000" y="1333500"/>
            <a:ext cx="2540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30376E-3847-7230-0779-F77CC5EA7429}"/>
              </a:ext>
            </a:extLst>
          </p:cNvPr>
          <p:cNvSpPr txBox="1"/>
          <p:nvPr/>
        </p:nvSpPr>
        <p:spPr>
          <a:xfrm>
            <a:off x="6375400" y="1485900"/>
            <a:ext cx="2235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500" b="1">
                <a:solidFill>
                  <a:srgbClr val="EA580C"/>
                </a:solidFill>
                <a:latin typeface="Segoe UI" panose="020B0502040204020203" pitchFamily="34" charset="0"/>
              </a:rPr>
              <a:t>Q3: 4,000,000 </a:t>
            </a:r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ج.م</a:t>
            </a:r>
            <a:endParaRPr lang="en-US" sz="1500" b="1">
              <a:solidFill>
                <a:srgbClr val="EA580C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94E4DC-10FA-F744-943D-9A33B81D13FF}"/>
              </a:ext>
            </a:extLst>
          </p:cNvPr>
          <p:cNvSpPr txBox="1"/>
          <p:nvPr/>
        </p:nvSpPr>
        <p:spPr>
          <a:xfrm>
            <a:off x="6375400" y="1993900"/>
            <a:ext cx="2235200" cy="113608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الربع الثالث (يوليو - سبتمبر) | 27%.
• ذروة موسم العودة للمدارس والجامعات (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Back to School).
•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حزم اللابتوب، الشواحن السريعة، وأكسسوارات الطلبة.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B75F1D8-5E31-1FE7-90E4-1990FFDCEC64}"/>
              </a:ext>
            </a:extLst>
          </p:cNvPr>
          <p:cNvSpPr/>
          <p:nvPr/>
        </p:nvSpPr>
        <p:spPr>
          <a:xfrm>
            <a:off x="9017000" y="1333500"/>
            <a:ext cx="2540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C7EF47-C1E4-5DE5-E9D2-F0374B42038E}"/>
              </a:ext>
            </a:extLst>
          </p:cNvPr>
          <p:cNvSpPr txBox="1"/>
          <p:nvPr/>
        </p:nvSpPr>
        <p:spPr>
          <a:xfrm>
            <a:off x="9169400" y="1485900"/>
            <a:ext cx="2235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500" b="1">
                <a:solidFill>
                  <a:srgbClr val="EA580C"/>
                </a:solidFill>
                <a:latin typeface="Segoe UI" panose="020B0502040204020203" pitchFamily="34" charset="0"/>
              </a:rPr>
              <a:t>Q4: 3,700,000 </a:t>
            </a:r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ج.م</a:t>
            </a:r>
            <a:endParaRPr lang="en-US" sz="1500" b="1">
              <a:solidFill>
                <a:srgbClr val="EA580C"/>
              </a:solidFill>
              <a:latin typeface="Segoe UI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C0D670-2441-BB50-A5A7-6EB8C9258A47}"/>
              </a:ext>
            </a:extLst>
          </p:cNvPr>
          <p:cNvSpPr txBox="1"/>
          <p:nvPr/>
        </p:nvSpPr>
        <p:spPr>
          <a:xfrm>
            <a:off x="9169400" y="1993900"/>
            <a:ext cx="2235200" cy="113608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الربع الرابع (أكتوبر - ديسمبر) | 25%.
• عروض الجمعة البيضاء وإغلاق الحصص السنوية.
• تصفية حسابات كبار الموزعين والتحصيل النهائي.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364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1B99D4-9334-1402-21E4-0350C077FF7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ABDF40-4B59-EAD3-1B5E-C439CA13E3B7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DEAE0-325B-3554-33A1-1EFAA6B598C6}"/>
              </a:ext>
            </a:extLst>
          </p:cNvPr>
          <p:cNvSpPr txBox="1"/>
          <p:nvPr/>
        </p:nvSpPr>
        <p:spPr>
          <a:xfrm>
            <a:off x="635000" y="228600"/>
            <a:ext cx="1092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شركة 2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B — </a:t>
            </a:r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قطاع إكسسوارات الموبايل واللابتوب | 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Master Commercial Strategy 2027 (Quarterly Model)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F2E116-E49F-6B52-1309-7A81BEFAAD8C}"/>
              </a:ext>
            </a:extLst>
          </p:cNvPr>
          <p:cNvSpPr txBox="1"/>
          <p:nvPr/>
        </p:nvSpPr>
        <p:spPr>
          <a:xfrm>
            <a:off x="635000" y="533400"/>
            <a:ext cx="10922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2200" b="1">
                <a:solidFill>
                  <a:srgbClr val="FFFFFF"/>
                </a:solidFill>
                <a:latin typeface="Segoe UI" panose="020B0502040204020203" pitchFamily="34" charset="0"/>
              </a:rPr>
              <a:t>محفظة المنتجات الاستراتيجية بدون أسعار افتراضية</a:t>
            </a:r>
            <a:endParaRPr lang="en-US" sz="2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B6B03D-E42C-A570-DD9D-B297588CC57B}"/>
              </a:ext>
            </a:extLst>
          </p:cNvPr>
          <p:cNvSpPr txBox="1"/>
          <p:nvPr/>
        </p:nvSpPr>
        <p:spPr>
          <a:xfrm>
            <a:off x="635000" y="6413500"/>
            <a:ext cx="1092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94A3B8"/>
                </a:solidFill>
                <a:latin typeface="Segoe UI" panose="020B0502040204020203" pitchFamily="34" charset="0"/>
              </a:rPr>
              <a:t>2B Territory Strategy | Giza &amp; Upper Egypt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3B5569B-28EE-E489-5796-0094F3744ADB}"/>
              </a:ext>
            </a:extLst>
          </p:cNvPr>
          <p:cNvSpPr/>
          <p:nvPr/>
        </p:nvSpPr>
        <p:spPr>
          <a:xfrm>
            <a:off x="635000" y="1333500"/>
            <a:ext cx="52705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2333D2-F905-DDE2-5D14-6F5B9F3DD5C2}"/>
              </a:ext>
            </a:extLst>
          </p:cNvPr>
          <p:cNvSpPr txBox="1"/>
          <p:nvPr/>
        </p:nvSpPr>
        <p:spPr>
          <a:xfrm>
            <a:off x="787400" y="1485900"/>
            <a:ext cx="49657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قطاع إكسسوارات الموبايل (عالي الدوران والسيولة)</a:t>
            </a:r>
            <a:endParaRPr lang="en-US" sz="1500" b="1">
              <a:solidFill>
                <a:srgbClr val="EA580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EF5695-4767-E02E-A2FB-5BFABAF0294A}"/>
              </a:ext>
            </a:extLst>
          </p:cNvPr>
          <p:cNvSpPr txBox="1"/>
          <p:nvPr/>
        </p:nvSpPr>
        <p:spPr>
          <a:xfrm>
            <a:off x="787400" y="1993900"/>
            <a:ext cx="4965700" cy="113608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كابلات الشحن السريع (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Type-C / PD / Lightning)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بمختلف الأطوال.
• رؤوس الشواحن السريعة ومحولات السيارات المعتمدة.
• بنوك الطاقة (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Power Banks)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بسعات 10,000 و 20,000 و 30,000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mAh.
•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سماعات الأذن السلكية وسماعات البلوتوث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TWS.
•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الدور الميداني: سيولة كاش يومية سريعة وحجز مساحة العرض في المحل.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8040E0-5E72-F468-D0EE-54B101E5DAE0}"/>
              </a:ext>
            </a:extLst>
          </p:cNvPr>
          <p:cNvSpPr/>
          <p:nvPr/>
        </p:nvSpPr>
        <p:spPr>
          <a:xfrm>
            <a:off x="6286500" y="1333500"/>
            <a:ext cx="52705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4907BB-8B2F-558F-12A5-C37F17C82236}"/>
              </a:ext>
            </a:extLst>
          </p:cNvPr>
          <p:cNvSpPr txBox="1"/>
          <p:nvPr/>
        </p:nvSpPr>
        <p:spPr>
          <a:xfrm>
            <a:off x="6438900" y="1485900"/>
            <a:ext cx="49657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38BDF8"/>
                </a:solidFill>
                <a:latin typeface="Segoe UI" panose="020B0502040204020203" pitchFamily="34" charset="0"/>
              </a:rPr>
              <a:t>قطاع إكسسوارات اللابتوب والصفقات (عالي القيمة)</a:t>
            </a:r>
            <a:endParaRPr lang="en-US" sz="15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215173-D0DD-B659-3D1F-536F25D8A497}"/>
              </a:ext>
            </a:extLst>
          </p:cNvPr>
          <p:cNvSpPr txBox="1"/>
          <p:nvPr/>
        </p:nvSpPr>
        <p:spPr>
          <a:xfrm>
            <a:off x="6438900" y="1993900"/>
            <a:ext cx="4965700" cy="113608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حقائب اللابتوب المبطنة المقاومة للصدمات والمياه (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Backpacks &amp; Sleeves).
•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موزعات المنافذ المتعددة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Type-C Multiport Hubs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للابتوب والماك بوك.
• إكسسوارات الكمبيوتر: ماوسات سلكية ولاسلكية، كيبوردات، وماوس باد.
• صفقات التوريد لمعارض ومكتبات محيط الجامعات والشركات.
• الدور الميداني: رفع متوسط قيمة الفاتورة وتحقيق هوامش ربحية متميزة.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3094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CF5073-AB41-C82B-0193-73F2258BB4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371319-1A42-8F75-BC49-30E0498FBB10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65D4E6-B833-D362-2356-282C34CAE77D}"/>
              </a:ext>
            </a:extLst>
          </p:cNvPr>
          <p:cNvSpPr txBox="1"/>
          <p:nvPr/>
        </p:nvSpPr>
        <p:spPr>
          <a:xfrm>
            <a:off x="635000" y="228600"/>
            <a:ext cx="1092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شركة 2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B — </a:t>
            </a:r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قطاع إكسسوارات الموبايل واللابتوب | 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Master Commercial Strategy 2027 (Quarterly Model)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58A842-1459-4457-B00A-5C9C346A2872}"/>
              </a:ext>
            </a:extLst>
          </p:cNvPr>
          <p:cNvSpPr txBox="1"/>
          <p:nvPr/>
        </p:nvSpPr>
        <p:spPr>
          <a:xfrm>
            <a:off x="635000" y="533400"/>
            <a:ext cx="10922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2200" b="1">
                <a:solidFill>
                  <a:srgbClr val="FFFFFF"/>
                </a:solidFill>
                <a:latin typeface="Segoe UI" panose="020B0502040204020203" pitchFamily="34" charset="0"/>
              </a:rPr>
              <a:t>حوكمة السيولة وإدارة الائتمان المنضبط (</a:t>
            </a:r>
            <a:r>
              <a:rPr lang="en-US" sz="2200" b="1">
                <a:solidFill>
                  <a:srgbClr val="FFFFFF"/>
                </a:solidFill>
                <a:latin typeface="Segoe UI" panose="020B0502040204020203" pitchFamily="34" charset="0"/>
              </a:rPr>
              <a:t>Credit Control)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95AFA5-817C-D44D-54F9-8C5075A08186}"/>
              </a:ext>
            </a:extLst>
          </p:cNvPr>
          <p:cNvSpPr txBox="1"/>
          <p:nvPr/>
        </p:nvSpPr>
        <p:spPr>
          <a:xfrm>
            <a:off x="635000" y="6413500"/>
            <a:ext cx="1092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94A3B8"/>
                </a:solidFill>
                <a:latin typeface="Segoe UI" panose="020B0502040204020203" pitchFamily="34" charset="0"/>
              </a:rPr>
              <a:t>2B Territory Strategy | Giza &amp; Upper Egypt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B909DA2-ACF7-6AC1-E4F1-80A1EDDB3B4E}"/>
              </a:ext>
            </a:extLst>
          </p:cNvPr>
          <p:cNvSpPr/>
          <p:nvPr/>
        </p:nvSpPr>
        <p:spPr>
          <a:xfrm>
            <a:off x="6350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149C82-6725-CEB0-5964-6482553B79B7}"/>
              </a:ext>
            </a:extLst>
          </p:cNvPr>
          <p:cNvSpPr txBox="1"/>
          <p:nvPr/>
        </p:nvSpPr>
        <p:spPr>
          <a:xfrm>
            <a:off x="7874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قاعدة الكاش أولاً للعملاء الجدد</a:t>
            </a:r>
            <a:endParaRPr lang="en-US" sz="1500" b="1">
              <a:solidFill>
                <a:srgbClr val="EA580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B13050-6BC7-608D-DF59-ABF669D8381B}"/>
              </a:ext>
            </a:extLst>
          </p:cNvPr>
          <p:cNvSpPr txBox="1"/>
          <p:nvPr/>
        </p:nvSpPr>
        <p:spPr>
          <a:xfrm>
            <a:off x="787400" y="1993900"/>
            <a:ext cx="3124200" cy="7113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أي محل جديد يتعامل كاش فوري 100% لأول فاتورتين.
• إثبات جدية العميل واستقراره المالي قبل فتح الحساب.
• منح خصم الكاش الفوري (2% - 3%) كحافز تشجيعي.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0DC8494-7C4D-F4D3-B72C-4C05AC1C5F2D}"/>
              </a:ext>
            </a:extLst>
          </p:cNvPr>
          <p:cNvSpPr/>
          <p:nvPr/>
        </p:nvSpPr>
        <p:spPr>
          <a:xfrm>
            <a:off x="43815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322B73-DCB4-2AFB-9523-61CC73078E30}"/>
              </a:ext>
            </a:extLst>
          </p:cNvPr>
          <p:cNvSpPr txBox="1"/>
          <p:nvPr/>
        </p:nvSpPr>
        <p:spPr>
          <a:xfrm>
            <a:off x="45339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38BDF8"/>
                </a:solidFill>
                <a:latin typeface="Segoe UI" panose="020B0502040204020203" pitchFamily="34" charset="0"/>
              </a:rPr>
              <a:t>سقف الائتمان المنضبط للتجزئة</a:t>
            </a:r>
            <a:endParaRPr lang="en-US" sz="15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6DE1DA-12BE-4942-78A3-4FC801F7AA66}"/>
              </a:ext>
            </a:extLst>
          </p:cNvPr>
          <p:cNvSpPr txBox="1"/>
          <p:nvPr/>
        </p:nvSpPr>
        <p:spPr>
          <a:xfrm>
            <a:off x="4533900" y="1993900"/>
            <a:ext cx="3124200" cy="92371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سقف ائتماني محدد بين 10,000 إلى 15,000 ج.م للمحل.
• مهلة سداد لا تتجاوز 10 إلى 14 يوماً كحد أقصى.
• تطبيق نظام (فاتورة تسد فاتورة) لعدم تراكم المديونية.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AEBCF4B-702F-98DC-5402-1F0B063394D9}"/>
              </a:ext>
            </a:extLst>
          </p:cNvPr>
          <p:cNvSpPr/>
          <p:nvPr/>
        </p:nvSpPr>
        <p:spPr>
          <a:xfrm>
            <a:off x="81280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AD31C0-8534-F9A9-C2FE-0266125AA2D8}"/>
              </a:ext>
            </a:extLst>
          </p:cNvPr>
          <p:cNvSpPr txBox="1"/>
          <p:nvPr/>
        </p:nvSpPr>
        <p:spPr>
          <a:xfrm>
            <a:off x="82804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22C55E"/>
                </a:solidFill>
                <a:latin typeface="Segoe UI" panose="020B0502040204020203" pitchFamily="34" charset="0"/>
              </a:rPr>
              <a:t>قاعدة الوقف الصارم </a:t>
            </a:r>
            <a:r>
              <a:rPr lang="en-US" sz="1500" b="1">
                <a:solidFill>
                  <a:srgbClr val="22C55E"/>
                </a:solidFill>
                <a:latin typeface="Segoe UI" panose="020B0502040204020203" pitchFamily="34" charset="0"/>
              </a:rPr>
              <a:t>Stop-Supply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18388D-CA2C-DC14-51A5-F1E5772F0797}"/>
              </a:ext>
            </a:extLst>
          </p:cNvPr>
          <p:cNvSpPr txBox="1"/>
          <p:nvPr/>
        </p:nvSpPr>
        <p:spPr>
          <a:xfrm>
            <a:off x="8280400" y="1993900"/>
            <a:ext cx="3124200" cy="7113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تجميد فوري لتوريدات أي عميل يتأخر أكثر من 7 أيام.
• حظر إصدار فواتير جديدة آلياً على النظام حتى تمام السداد.
• نسبة ديون معدومة مستهدفة 0.0% في كامل قطاع الجيزة.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6326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AB2087-5B77-115A-2E9D-1B667C3EF0D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67B553-2674-FB1F-132C-80AAEF95EAC5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1070D7-4F49-FA51-32FC-70CD6DABFC31}"/>
              </a:ext>
            </a:extLst>
          </p:cNvPr>
          <p:cNvSpPr txBox="1"/>
          <p:nvPr/>
        </p:nvSpPr>
        <p:spPr>
          <a:xfrm>
            <a:off x="635000" y="228600"/>
            <a:ext cx="1092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شركة 2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B — </a:t>
            </a:r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قطاع إكسسوارات الموبايل واللابتوب | 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Master Commercial Strategy 2027 (Quarterly Model)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85C3F-5779-F90D-DDEC-ED62BE240822}"/>
              </a:ext>
            </a:extLst>
          </p:cNvPr>
          <p:cNvSpPr txBox="1"/>
          <p:nvPr/>
        </p:nvSpPr>
        <p:spPr>
          <a:xfrm>
            <a:off x="635000" y="533400"/>
            <a:ext cx="10922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2200" b="1">
                <a:solidFill>
                  <a:srgbClr val="FFFFFF"/>
                </a:solidFill>
                <a:latin typeface="Segoe UI" panose="020B0502040204020203" pitchFamily="34" charset="0"/>
              </a:rPr>
              <a:t>بروتوكول الاستبدال الفوري للتالف ونادي ولاء التاجر (الأسلحة 1 و 2)</a:t>
            </a:r>
            <a:endParaRPr lang="en-US" sz="2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63E759-F812-7FC3-678D-EFA660B9AB30}"/>
              </a:ext>
            </a:extLst>
          </p:cNvPr>
          <p:cNvSpPr txBox="1"/>
          <p:nvPr/>
        </p:nvSpPr>
        <p:spPr>
          <a:xfrm>
            <a:off x="635000" y="6413500"/>
            <a:ext cx="1092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94A3B8"/>
                </a:solidFill>
                <a:latin typeface="Segoe UI" panose="020B0502040204020203" pitchFamily="34" charset="0"/>
              </a:rPr>
              <a:t>2B Territory Strategy | Giza &amp; Upper Egypt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A0101A-D4B5-EC90-C3B5-C52E4E42ED97}"/>
              </a:ext>
            </a:extLst>
          </p:cNvPr>
          <p:cNvSpPr/>
          <p:nvPr/>
        </p:nvSpPr>
        <p:spPr>
          <a:xfrm>
            <a:off x="6350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46075B-8544-4145-C51A-4C30AB3F0F0C}"/>
              </a:ext>
            </a:extLst>
          </p:cNvPr>
          <p:cNvSpPr txBox="1"/>
          <p:nvPr/>
        </p:nvSpPr>
        <p:spPr>
          <a:xfrm>
            <a:off x="7874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22C55E"/>
                </a:solidFill>
                <a:latin typeface="Segoe UI" panose="020B0502040204020203" pitchFamily="34" charset="0"/>
              </a:rPr>
              <a:t>استبدال فوري بلحظتها (</a:t>
            </a:r>
            <a:r>
              <a:rPr lang="en-US" sz="1500" b="1">
                <a:solidFill>
                  <a:srgbClr val="22C55E"/>
                </a:solidFill>
                <a:latin typeface="Segoe UI" panose="020B0502040204020203" pitchFamily="34" charset="0"/>
              </a:rPr>
              <a:t>RMA)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3B6B99-6098-12D2-6353-A96603DE33E4}"/>
              </a:ext>
            </a:extLst>
          </p:cNvPr>
          <p:cNvSpPr txBox="1"/>
          <p:nvPr/>
        </p:nvSpPr>
        <p:spPr>
          <a:xfrm>
            <a:off x="787400" y="1993900"/>
            <a:ext cx="3124200" cy="113608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عهدة بضاعة عائمة (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Swap Stock)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بقيمة 2,500 ج.م مع كل مندوب.
• استبدال القطعة المعيبة للتاجر فوراً خلال الزيارة في ثوانٍ.
• إزالة أكبر حاجز تردد لدى التاجر وتفضيل 2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B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على المنافسين.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D3CEA8B-4DE7-ADB3-9CE9-3F7D29E47FE2}"/>
              </a:ext>
            </a:extLst>
          </p:cNvPr>
          <p:cNvSpPr/>
          <p:nvPr/>
        </p:nvSpPr>
        <p:spPr>
          <a:xfrm>
            <a:off x="43815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7AD3BC-F3EB-599E-9372-324A3DD039BD}"/>
              </a:ext>
            </a:extLst>
          </p:cNvPr>
          <p:cNvSpPr txBox="1"/>
          <p:nvPr/>
        </p:nvSpPr>
        <p:spPr>
          <a:xfrm>
            <a:off x="45339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نادي ولاء التاجر الفضي والذهبي</a:t>
            </a:r>
            <a:endParaRPr lang="en-US" sz="1500" b="1">
              <a:solidFill>
                <a:srgbClr val="EA580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0F7E8E-E777-7AC4-98BD-FD25795D827E}"/>
              </a:ext>
            </a:extLst>
          </p:cNvPr>
          <p:cNvSpPr txBox="1"/>
          <p:nvPr/>
        </p:nvSpPr>
        <p:spPr>
          <a:xfrm>
            <a:off x="4533900" y="1993900"/>
            <a:ext cx="3124200" cy="134844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شريحة فضية (&amp;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ge;10K):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بونص بضاعة 300 ج.م + استاند كاونتر.
• شريحة ذهبية (&amp;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ge;20K):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بونص 800 ج.م + هدايا عينية وتيشيرتات.
• شريحة بلاتينية (&amp;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ge;35K):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بونص 1,500 ج.م + يافطة مضيئة للمحل.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2173DA-27EB-CC4F-0688-DD64774C7345}"/>
              </a:ext>
            </a:extLst>
          </p:cNvPr>
          <p:cNvSpPr/>
          <p:nvPr/>
        </p:nvSpPr>
        <p:spPr>
          <a:xfrm>
            <a:off x="81280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9A21A8-3882-A083-B282-96E278832061}"/>
              </a:ext>
            </a:extLst>
          </p:cNvPr>
          <p:cNvSpPr txBox="1"/>
          <p:nvPr/>
        </p:nvSpPr>
        <p:spPr>
          <a:xfrm>
            <a:off x="82804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38BDF8"/>
                </a:solidFill>
                <a:latin typeface="Segoe UI" panose="020B0502040204020203" pitchFamily="34" charset="0"/>
              </a:rPr>
              <a:t>انعكاسه على المبيعات</a:t>
            </a:r>
            <a:endParaRPr lang="en-US" sz="15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9507BA-C389-3A10-B5AB-F481D212AB90}"/>
              </a:ext>
            </a:extLst>
          </p:cNvPr>
          <p:cNvSpPr txBox="1"/>
          <p:nvPr/>
        </p:nvSpPr>
        <p:spPr>
          <a:xfrm>
            <a:off x="8280400" y="1993900"/>
            <a:ext cx="3124200" cy="92371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تحويل بائع المحل إلى سفير لعلامة 2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B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يوصي بها للزبون.
• ضمان انتظام سداد الفواتير للحصول على بونص نهاية الشهر.
• حماية الحصة السوقية من دخول أي علامات منافسة جديدة.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4978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062D41-3F7A-5D04-DC6D-85B4912502D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59AEA5-39A0-68C5-24DA-4D83D68D5FA0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D44014-700D-D447-779E-C511A7E276B3}"/>
              </a:ext>
            </a:extLst>
          </p:cNvPr>
          <p:cNvSpPr txBox="1"/>
          <p:nvPr/>
        </p:nvSpPr>
        <p:spPr>
          <a:xfrm>
            <a:off x="635000" y="228600"/>
            <a:ext cx="1092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شركة 2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B — </a:t>
            </a:r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قطاع إكسسوارات الموبايل واللابتوب | 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Master Commercial Strategy 2027 (Quarterly Model)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C4AEAF-A896-9DA2-6766-F31E73B623E6}"/>
              </a:ext>
            </a:extLst>
          </p:cNvPr>
          <p:cNvSpPr txBox="1"/>
          <p:nvPr/>
        </p:nvSpPr>
        <p:spPr>
          <a:xfrm>
            <a:off x="635000" y="533400"/>
            <a:ext cx="10922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2200" b="1">
                <a:solidFill>
                  <a:srgbClr val="FFFFFF"/>
                </a:solidFill>
                <a:latin typeface="Segoe UI" panose="020B0502040204020203" pitchFamily="34" charset="0"/>
              </a:rPr>
              <a:t>حوافز المندوبين وكاونتر الدفع وصيد المنافسين (الأسلحة 3 و 4 و 5)</a:t>
            </a:r>
            <a:endParaRPr lang="en-US" sz="2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E3CA2C-3AFD-7607-EBAD-7B506A6B683C}"/>
              </a:ext>
            </a:extLst>
          </p:cNvPr>
          <p:cNvSpPr txBox="1"/>
          <p:nvPr/>
        </p:nvSpPr>
        <p:spPr>
          <a:xfrm>
            <a:off x="635000" y="6413500"/>
            <a:ext cx="1092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94A3B8"/>
                </a:solidFill>
                <a:latin typeface="Segoe UI" panose="020B0502040204020203" pitchFamily="34" charset="0"/>
              </a:rPr>
              <a:t>2B Territory Strategy | Giza &amp; Upper Egypt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3230A6F-264E-2D78-2D45-868E35DC5577}"/>
              </a:ext>
            </a:extLst>
          </p:cNvPr>
          <p:cNvSpPr/>
          <p:nvPr/>
        </p:nvSpPr>
        <p:spPr>
          <a:xfrm>
            <a:off x="6350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CE8A9D-1D6F-97B1-E634-86D5AFAC3B05}"/>
              </a:ext>
            </a:extLst>
          </p:cNvPr>
          <p:cNvSpPr txBox="1"/>
          <p:nvPr/>
        </p:nvSpPr>
        <p:spPr>
          <a:xfrm>
            <a:off x="7874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38BDF8"/>
                </a:solidFill>
                <a:latin typeface="Segoe UI" panose="020B0502040204020203" pitchFamily="34" charset="0"/>
              </a:rPr>
              <a:t>حوافز المندوبين الفورية (</a:t>
            </a:r>
            <a:r>
              <a:rPr lang="en-US" sz="1500" b="1">
                <a:solidFill>
                  <a:srgbClr val="38BDF8"/>
                </a:solidFill>
                <a:latin typeface="Segoe UI" panose="020B0502040204020203" pitchFamily="34" charset="0"/>
              </a:rPr>
              <a:t>Bounty)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F0201F-31F5-003A-93F0-3DA399840AFC}"/>
              </a:ext>
            </a:extLst>
          </p:cNvPr>
          <p:cNvSpPr txBox="1"/>
          <p:nvPr/>
        </p:nvSpPr>
        <p:spPr>
          <a:xfrm>
            <a:off x="787400" y="1993900"/>
            <a:ext cx="3124200" cy="134844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مكافأة 50-100 ج.م عن كل محل جديد كاش &amp;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ge; 3,000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ج.م.
• عمولة إضافية 0.5%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Cash Kicker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على مبيعات الكاش فوق 50%.
• سلم عمولات تصاعدي يكافئ المندوب المحقق بنسبة 100%+.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0DF77E-144B-E816-C12F-639FDE571E25}"/>
              </a:ext>
            </a:extLst>
          </p:cNvPr>
          <p:cNvSpPr/>
          <p:nvPr/>
        </p:nvSpPr>
        <p:spPr>
          <a:xfrm>
            <a:off x="43815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C538F2-0EAE-774B-ED53-649E88977C70}"/>
              </a:ext>
            </a:extLst>
          </p:cNvPr>
          <p:cNvSpPr txBox="1"/>
          <p:nvPr/>
        </p:nvSpPr>
        <p:spPr>
          <a:xfrm>
            <a:off x="45339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كاونتر الدفع الذهبي (</a:t>
            </a:r>
            <a:r>
              <a:rPr lang="en-US" sz="1500" b="1">
                <a:solidFill>
                  <a:srgbClr val="EA580C"/>
                </a:solidFill>
                <a:latin typeface="Segoe UI" panose="020B0502040204020203" pitchFamily="34" charset="0"/>
              </a:rPr>
              <a:t>Impulse Buy)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6AD9D6-26DB-53FA-0770-586993A30A9A}"/>
              </a:ext>
            </a:extLst>
          </p:cNvPr>
          <p:cNvSpPr txBox="1"/>
          <p:nvPr/>
        </p:nvSpPr>
        <p:spPr>
          <a:xfrm>
            <a:off x="4533900" y="1993900"/>
            <a:ext cx="3124200" cy="134844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استاند أكريليك مضيء مدمج يحمل 6 كابلات و3 شواحن سريعة.
• يوضع بجانب درج الكاشير مباشرة لاقتناص قرار الشراء اللحظي.
• يمنح مجاناً مقابل إقرار حصرية عرض منتجات 2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B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لمدة 6 أشهر.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FD50EA-47D6-5678-9F04-CF25241E6D30}"/>
              </a:ext>
            </a:extLst>
          </p:cNvPr>
          <p:cNvSpPr/>
          <p:nvPr/>
        </p:nvSpPr>
        <p:spPr>
          <a:xfrm>
            <a:off x="81280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72532C-8783-5E16-3AED-98A46B041FD8}"/>
              </a:ext>
            </a:extLst>
          </p:cNvPr>
          <p:cNvSpPr txBox="1"/>
          <p:nvPr/>
        </p:nvSpPr>
        <p:spPr>
          <a:xfrm>
            <a:off x="82804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22C55E"/>
                </a:solidFill>
                <a:latin typeface="Segoe UI" panose="020B0502040204020203" pitchFamily="34" charset="0"/>
              </a:rPr>
              <a:t>صيد المنافسين (</a:t>
            </a:r>
            <a:r>
              <a:rPr lang="en-US" sz="1500" b="1">
                <a:solidFill>
                  <a:srgbClr val="22C55E"/>
                </a:solidFill>
                <a:latin typeface="Segoe UI" panose="020B0502040204020203" pitchFamily="34" charset="0"/>
              </a:rPr>
              <a:t>Trade-in Offer)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78CF30-1255-3665-4237-CA43C10A037D}"/>
              </a:ext>
            </a:extLst>
          </p:cNvPr>
          <p:cNvSpPr txBox="1"/>
          <p:nvPr/>
        </p:nvSpPr>
        <p:spPr>
          <a:xfrm>
            <a:off x="8280400" y="1993900"/>
            <a:ext cx="3124200" cy="134844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استهداف محلات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Joyroom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و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Oraimo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و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LDNIO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بعروض استبدال مغرية.
• خصم كاش إضافي 3% على أول طلبية استبدال لعلامة منافسة.
• استبدال التالف المتراكم لدى التاجر وتقديم دعم تسويقي لصفحته.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03547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47D922-7BAA-002A-C48C-DF8CC6FEB4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72657D-F1CC-3BDC-0D96-407AB6493142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79004E-06F5-6D44-337D-754CEC53548D}"/>
              </a:ext>
            </a:extLst>
          </p:cNvPr>
          <p:cNvSpPr txBox="1"/>
          <p:nvPr/>
        </p:nvSpPr>
        <p:spPr>
          <a:xfrm>
            <a:off x="635000" y="228600"/>
            <a:ext cx="1092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شركة 2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B — </a:t>
            </a:r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قطاع إكسسوارات الموبايل واللابتوب | 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Master Commercial Strategy 2027 (Quarterly Model)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EF7917-997F-18CA-F27E-B87D5650BFD9}"/>
              </a:ext>
            </a:extLst>
          </p:cNvPr>
          <p:cNvSpPr txBox="1"/>
          <p:nvPr/>
        </p:nvSpPr>
        <p:spPr>
          <a:xfrm>
            <a:off x="635000" y="533400"/>
            <a:ext cx="10922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2200" b="1">
                <a:solidFill>
                  <a:srgbClr val="FFFFFF"/>
                </a:solidFill>
                <a:latin typeface="Segoe UI" panose="020B0502040204020203" pitchFamily="34" charset="0"/>
              </a:rPr>
              <a:t>طقوس الإدارة اليومية وصفقات الجامعات </a:t>
            </a:r>
            <a:r>
              <a:rPr lang="en-US" sz="2200" b="1">
                <a:solidFill>
                  <a:srgbClr val="FFFFFF"/>
                </a:solidFill>
                <a:latin typeface="Segoe UI" panose="020B0502040204020203" pitchFamily="34" charset="0"/>
              </a:rPr>
              <a:t>B2B (</a:t>
            </a:r>
            <a:r>
              <a:rPr lang="ar-SA" sz="2200" b="1">
                <a:solidFill>
                  <a:srgbClr val="FFFFFF"/>
                </a:solidFill>
                <a:latin typeface="Segoe UI" panose="020B0502040204020203" pitchFamily="34" charset="0"/>
              </a:rPr>
              <a:t>الأسلحة 6 و 7)</a:t>
            </a:r>
            <a:endParaRPr lang="en-US" sz="2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AC9ECC-6792-9C69-B80C-F601A9C7AB35}"/>
              </a:ext>
            </a:extLst>
          </p:cNvPr>
          <p:cNvSpPr txBox="1"/>
          <p:nvPr/>
        </p:nvSpPr>
        <p:spPr>
          <a:xfrm>
            <a:off x="635000" y="6413500"/>
            <a:ext cx="1092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94A3B8"/>
                </a:solidFill>
                <a:latin typeface="Segoe UI" panose="020B0502040204020203" pitchFamily="34" charset="0"/>
              </a:rPr>
              <a:t>2B Territory Strategy | Giza &amp; Upper Egypt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0CDE495-32C7-079B-82EC-F6D0DD4767B6}"/>
              </a:ext>
            </a:extLst>
          </p:cNvPr>
          <p:cNvSpPr/>
          <p:nvPr/>
        </p:nvSpPr>
        <p:spPr>
          <a:xfrm>
            <a:off x="635000" y="1333500"/>
            <a:ext cx="52705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07431A-F4EE-99B1-F158-43D41F1D8B18}"/>
              </a:ext>
            </a:extLst>
          </p:cNvPr>
          <p:cNvSpPr txBox="1"/>
          <p:nvPr/>
        </p:nvSpPr>
        <p:spPr>
          <a:xfrm>
            <a:off x="787400" y="1485900"/>
            <a:ext cx="49657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طقوس الإدارة اليومية والانضباط (</a:t>
            </a:r>
            <a:r>
              <a:rPr lang="en-US" sz="1500" b="1">
                <a:solidFill>
                  <a:srgbClr val="EA580C"/>
                </a:solidFill>
                <a:latin typeface="Segoe UI" panose="020B0502040204020203" pitchFamily="34" charset="0"/>
              </a:rPr>
              <a:t>Daily Rhythm)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15DCD0-DE00-7936-46D1-5B581C62B5ED}"/>
              </a:ext>
            </a:extLst>
          </p:cNvPr>
          <p:cNvSpPr txBox="1"/>
          <p:nvPr/>
        </p:nvSpPr>
        <p:spPr>
          <a:xfrm>
            <a:off x="787400" y="1993900"/>
            <a:ext cx="4965700" cy="7113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لقاء الصباح السريع (09:30 ص): مكالمة 10 دقائق لتدقيق خط سير اليوم وحل المشاكل.
• العمل الميداني: تنفيذ 8-10 زيارات فعلية واستبدال التالف وتحصيل النقدية.
• تقفيل اليوم المالي (06:00 م): إرسال شيت التقرير اليومي وتوريد الكاش بالبنك فوراً.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738A1FC-BE34-E89E-0AC0-FF8C2E900FD8}"/>
              </a:ext>
            </a:extLst>
          </p:cNvPr>
          <p:cNvSpPr/>
          <p:nvPr/>
        </p:nvSpPr>
        <p:spPr>
          <a:xfrm>
            <a:off x="6286500" y="1333500"/>
            <a:ext cx="52705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1785FA-4379-03A8-6435-68DCD36C6601}"/>
              </a:ext>
            </a:extLst>
          </p:cNvPr>
          <p:cNvSpPr txBox="1"/>
          <p:nvPr/>
        </p:nvSpPr>
        <p:spPr>
          <a:xfrm>
            <a:off x="6438900" y="1485900"/>
            <a:ext cx="49657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38BDF8"/>
                </a:solidFill>
                <a:latin typeface="Segoe UI" panose="020B0502040204020203" pitchFamily="34" charset="0"/>
              </a:rPr>
              <a:t>كتيب صفقات الجامعات ومعارض اللابتوب بالجيزة (</a:t>
            </a:r>
            <a:r>
              <a:rPr lang="en-US" sz="1500" b="1">
                <a:solidFill>
                  <a:srgbClr val="38BDF8"/>
                </a:solidFill>
                <a:latin typeface="Segoe UI" panose="020B0502040204020203" pitchFamily="34" charset="0"/>
              </a:rPr>
              <a:t>Campus B2B)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5BC5D7-DB16-02E1-940B-C244A4884972}"/>
              </a:ext>
            </a:extLst>
          </p:cNvPr>
          <p:cNvSpPr txBox="1"/>
          <p:nvPr/>
        </p:nvSpPr>
        <p:spPr>
          <a:xfrm>
            <a:off x="6438900" y="1993900"/>
            <a:ext cx="4965700" cy="7113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حزمة الطالب الذكي: (شنطة لابتوب 2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B +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ماوس وايرلس + موزع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Type-C Hub).
•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استهداف مكتبات ومعارض بين السرايات ومحيط جامعة القاهرة وجامعات 6 أكتوبر و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MUST.
•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عقود توريد مباشرة لاتحادات الطلاب ورعاية الشباب لمعارض ومؤتمرات الكليات.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918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B5FBED-2EC5-BE62-8BD2-9407E0590DD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ECEAEB-AEA4-8989-91EB-ED088691F2E1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EA580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FF97EE-7179-C77C-EA01-7624D4106B22}"/>
              </a:ext>
            </a:extLst>
          </p:cNvPr>
          <p:cNvSpPr txBox="1"/>
          <p:nvPr/>
        </p:nvSpPr>
        <p:spPr>
          <a:xfrm>
            <a:off x="635000" y="228600"/>
            <a:ext cx="1092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شركة 2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B — </a:t>
            </a:r>
            <a:r>
              <a:rPr lang="ar-SA" sz="1100" b="1">
                <a:solidFill>
                  <a:srgbClr val="EA580C"/>
                </a:solidFill>
                <a:latin typeface="Segoe UI" panose="020B0502040204020203" pitchFamily="34" charset="0"/>
              </a:rPr>
              <a:t>قطاع إكسسوارات الموبايل واللابتوب | </a:t>
            </a:r>
            <a:r>
              <a:rPr lang="en-US" sz="1100" b="1">
                <a:solidFill>
                  <a:srgbClr val="EA580C"/>
                </a:solidFill>
                <a:latin typeface="Segoe UI" panose="020B0502040204020203" pitchFamily="34" charset="0"/>
              </a:rPr>
              <a:t>Master Commercial Strategy 2027 (Quarterly Model)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6DCA37-D2B7-98B2-9589-9C94B99B19D5}"/>
              </a:ext>
            </a:extLst>
          </p:cNvPr>
          <p:cNvSpPr txBox="1"/>
          <p:nvPr/>
        </p:nvSpPr>
        <p:spPr>
          <a:xfrm>
            <a:off x="635000" y="533400"/>
            <a:ext cx="10922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2200" b="1">
                <a:solidFill>
                  <a:srgbClr val="FFFFFF"/>
                </a:solidFill>
                <a:latin typeface="Segoe UI" panose="020B0502040204020203" pitchFamily="34" charset="0"/>
              </a:rPr>
              <a:t>الميثاق الختامي والتعهد القيادي لعام 2027 لقطاع الجيزة</a:t>
            </a:r>
            <a:endParaRPr lang="en-US" sz="2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6F2170-0506-3816-9381-F0DB6347FC5C}"/>
              </a:ext>
            </a:extLst>
          </p:cNvPr>
          <p:cNvSpPr txBox="1"/>
          <p:nvPr/>
        </p:nvSpPr>
        <p:spPr>
          <a:xfrm>
            <a:off x="635000" y="6413500"/>
            <a:ext cx="1092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94A3B8"/>
                </a:solidFill>
                <a:latin typeface="Segoe UI" panose="020B0502040204020203" pitchFamily="34" charset="0"/>
              </a:rPr>
              <a:t>2B Territory Strategy | Giza &amp; Upper Egypt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E597154-AAD3-1F6F-D4DF-994B285F163B}"/>
              </a:ext>
            </a:extLst>
          </p:cNvPr>
          <p:cNvSpPr/>
          <p:nvPr/>
        </p:nvSpPr>
        <p:spPr>
          <a:xfrm>
            <a:off x="6350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9928E0-5B0B-3AE5-3205-6AD0FAEA61C6}"/>
              </a:ext>
            </a:extLst>
          </p:cNvPr>
          <p:cNvSpPr txBox="1"/>
          <p:nvPr/>
        </p:nvSpPr>
        <p:spPr>
          <a:xfrm>
            <a:off x="7874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EA580C"/>
                </a:solidFill>
                <a:latin typeface="Segoe UI" panose="020B0502040204020203" pitchFamily="34" charset="0"/>
              </a:rPr>
              <a:t>1. الانضباط والسيولة</a:t>
            </a:r>
            <a:endParaRPr lang="en-US" sz="1500" b="1">
              <a:solidFill>
                <a:srgbClr val="EA580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27CEF5-ADF5-DDB2-9C6D-F766D3DC144D}"/>
              </a:ext>
            </a:extLst>
          </p:cNvPr>
          <p:cNvSpPr txBox="1"/>
          <p:nvPr/>
        </p:nvSpPr>
        <p:spPr>
          <a:xfrm>
            <a:off x="787400" y="1993900"/>
            <a:ext cx="3124200" cy="7113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تحقيق نسبة كاش لا تقل عن 50% دائماً.
• تصفير الديون المعدومة (0.0%).
• انضباط مواعيد التحصيل والسداد بنظام 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Stop-Supply.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7A93E0F-020F-95E8-C2DB-F485EAB03518}"/>
              </a:ext>
            </a:extLst>
          </p:cNvPr>
          <p:cNvSpPr/>
          <p:nvPr/>
        </p:nvSpPr>
        <p:spPr>
          <a:xfrm>
            <a:off x="43815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34FD91-43F4-BFAA-F683-E37C6C8554DC}"/>
              </a:ext>
            </a:extLst>
          </p:cNvPr>
          <p:cNvSpPr txBox="1"/>
          <p:nvPr/>
        </p:nvSpPr>
        <p:spPr>
          <a:xfrm>
            <a:off x="45339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38BDF8"/>
                </a:solidFill>
                <a:latin typeface="Segoe UI" panose="020B0502040204020203" pitchFamily="34" charset="0"/>
              </a:rPr>
              <a:t>2. الريادة الميدانية</a:t>
            </a:r>
            <a:endParaRPr lang="en-US" sz="1500" b="1">
              <a:solidFill>
                <a:srgbClr val="38BDF8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35E77F-3ED6-432A-C18C-DBCBEFA82F9B}"/>
              </a:ext>
            </a:extLst>
          </p:cNvPr>
          <p:cNvSpPr txBox="1"/>
          <p:nvPr/>
        </p:nvSpPr>
        <p:spPr>
          <a:xfrm>
            <a:off x="4533900" y="1993900"/>
            <a:ext cx="3124200" cy="71134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جعل 2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B </a:t>
            </a: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الخيار الأول في محلات الجيزة الكبرى.
• الاستحواذ على كاونترات الدفع ومعارض الكمبيوتر بالدقي.
• تحقيق 36.8 مليون ج.م سنوياً لعام 2027.</a:t>
            </a:r>
            <a:endParaRPr lang="en-US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6C7E4D7-F16D-894A-4B87-BECE021944F5}"/>
              </a:ext>
            </a:extLst>
          </p:cNvPr>
          <p:cNvSpPr/>
          <p:nvPr/>
        </p:nvSpPr>
        <p:spPr>
          <a:xfrm>
            <a:off x="8128000" y="1333500"/>
            <a:ext cx="3429000" cy="4699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9BA9F5-C878-B3F7-DC66-A5591B8DF273}"/>
              </a:ext>
            </a:extLst>
          </p:cNvPr>
          <p:cNvSpPr txBox="1"/>
          <p:nvPr/>
        </p:nvSpPr>
        <p:spPr>
          <a:xfrm>
            <a:off x="8280400" y="1485900"/>
            <a:ext cx="3124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ar-SA" sz="1500" b="1">
                <a:solidFill>
                  <a:srgbClr val="22C55E"/>
                </a:solidFill>
                <a:latin typeface="Segoe UI" panose="020B0502040204020203" pitchFamily="34" charset="0"/>
              </a:rPr>
              <a:t>3. فريق قوي ومستدام</a:t>
            </a:r>
            <a:endParaRPr lang="en-US" sz="1500" b="1">
              <a:solidFill>
                <a:srgbClr val="22C55E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69FB18-516D-965C-5AF6-B32BE3E90411}"/>
              </a:ext>
            </a:extLst>
          </p:cNvPr>
          <p:cNvSpPr txBox="1"/>
          <p:nvPr/>
        </p:nvSpPr>
        <p:spPr>
          <a:xfrm>
            <a:off x="8280400" y="1993900"/>
            <a:ext cx="3124200" cy="113608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>
              <a:lnSpc>
                <a:spcPct val="115000"/>
              </a:lnSpc>
            </a:pPr>
            <a:r>
              <a:rPr lang="ar-SA" sz="1200">
                <a:solidFill>
                  <a:srgbClr val="FFFFFF"/>
                </a:solidFill>
                <a:latin typeface="Segoe UI" panose="020B0502040204020203" pitchFamily="34" charset="0"/>
              </a:rPr>
              <a:t>• تطوير المندوبين الجدد وتحويلهم إلى كوادر مبيعات محترفة.
• بيئة عمل محفزة قائمة على المكافآت العادلة وبونص الكاش.
• تحقيق أعلى إنتاجية وأعلى أريا مبيعاً في شركة 2</a:t>
            </a:r>
            <a:r>
              <a:rPr lang="en-US" sz="1200">
                <a:solidFill>
                  <a:srgbClr val="FFFFFF"/>
                </a:solidFill>
                <a:latin typeface="Segoe UI" panose="020B0502040204020203" pitchFamily="34" charset="0"/>
              </a:rPr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3868921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2144</Words>
  <Application>Microsoft Office PowerPoint</Application>
  <PresentationFormat>Custom</PresentationFormat>
  <Paragraphs>128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Abdallah Ahmed</dc:creator>
  <cp:lastModifiedBy>Abdallah Ahmed</cp:lastModifiedBy>
  <cp:revision>1</cp:revision>
  <dcterms:created xsi:type="dcterms:W3CDTF">2026-10-01T02:01:40Z</dcterms:created>
  <dcterms:modified xsi:type="dcterms:W3CDTF">2026-10-01T02:01:40Z</dcterms:modified>
</cp:coreProperties>
</file>